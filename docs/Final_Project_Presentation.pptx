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9144000" cy="5143500" type="screen16x9"/>
  <p:notesSz cx="6858000" cy="9144000"/>
  <p:embeddedFontLst>
    <p:embeddedFont>
      <p:font typeface="Merriweather" panose="00000500000000000000" pitchFamily="2" charset="0"/>
      <p:regular r:id="rId57"/>
      <p:bold r:id="rId58"/>
      <p:italic r:id="rId59"/>
      <p:boldItalic r:id="rId60"/>
    </p:embeddedFont>
    <p:embeddedFont>
      <p:font typeface="Roboto" panose="02000000000000000000" pitchFamily="2"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68" d="100"/>
          <a:sy n="168" d="100"/>
        </p:scale>
        <p:origin x="298"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7.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6f9b103f6a_0_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6f9b103f6a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6f9b103f6a_0_3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6f9b103f6a_0_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7892846fe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7892846fe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7888083efb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7888083efb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7892846fee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7892846fee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7892846fee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7892846fee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7892846fee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7892846fee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7892846fee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7892846fee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7888083efb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7888083efb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7892846fee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7892846fee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7892846fee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7892846fee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7892846fee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7892846fee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7892846fee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7892846fee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7892846fee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7892846fee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7892846fee_0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7892846fee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7892846fee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7892846fee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7892846fee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7892846fee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7892846fee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7892846fee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7892846fee_0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7892846fee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7892846fee_0_1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7892846fee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7892846fee_0_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7892846fee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7892846fee_0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7892846fee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7892846fee_0_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7892846fee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7892846fee_0_1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7892846fee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7892846fee_0_1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7892846fee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7888083efb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7888083ef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7892846fee_0_2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7892846fee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7892846fee_0_2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7892846fee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7892846fee_0_2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7892846fee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7892846fee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7892846fee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7892846fee_0_2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7892846fee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7892846fee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7892846fee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7892846fee_0_2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7892846fee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7892846fee_0_2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7892846fee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7892846fee_0_2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7892846fee_0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7892846fee_0_2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7892846fee_0_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7892846fee_0_2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37892846fee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7892846fee_0_2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37892846fee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7892846fee_0_2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37892846fee_0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7892846fee_0_3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7892846fee_0_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7892846fee_0_3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7892846fee_0_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7892846fee_0_3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37892846fee_0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7888083efb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37888083efb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7892846fee_0_3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37892846fee_0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7892846fee_0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37892846fee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7888083efb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37888083efb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7892846fee_0_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37892846fee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7888083efb_0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37888083efb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37892846fee_0_3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37892846fee_0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7892846fee_0_3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37892846fee_0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7888083efb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37888083efb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7892846fee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7892846fee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37892846fee_0_3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37892846fee_0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p:nvPr/>
        </p:nvSpPr>
        <p:spPr>
          <a:xfrm>
            <a:off x="311700" y="190850"/>
            <a:ext cx="8520600" cy="662100"/>
          </a:xfrm>
          <a:prstGeom prst="rect">
            <a:avLst/>
          </a:prstGeom>
          <a:noFill/>
          <a:ln>
            <a:noFill/>
          </a:ln>
        </p:spPr>
        <p:txBody>
          <a:bodyPr spcFirstLastPara="1" wrap="square" lIns="91425" tIns="91425" rIns="91425" bIns="91425" anchor="t" anchorCtr="0">
            <a:normAutofit/>
          </a:bodyPr>
          <a:lstStyle/>
          <a:p>
            <a:pPr marL="0" lvl="0" indent="0" algn="ctr" rtl="0">
              <a:lnSpc>
                <a:spcPct val="130000"/>
              </a:lnSpc>
              <a:spcBef>
                <a:spcPts val="0"/>
              </a:spcBef>
              <a:spcAft>
                <a:spcPts val="0"/>
              </a:spcAft>
              <a:buNone/>
            </a:pPr>
            <a:r>
              <a:rPr lang="en" sz="2700" b="1">
                <a:solidFill>
                  <a:srgbClr val="FFFFFF"/>
                </a:solidFill>
                <a:latin typeface="Times New Roman"/>
                <a:ea typeface="Times New Roman"/>
                <a:cs typeface="Times New Roman"/>
                <a:sym typeface="Times New Roman"/>
              </a:rPr>
              <a:t>Telecom Customer Churn Prediction</a:t>
            </a:r>
            <a:endParaRPr sz="2700" b="1">
              <a:solidFill>
                <a:srgbClr val="FFFFFF"/>
              </a:solidFill>
              <a:latin typeface="Merriweather"/>
              <a:ea typeface="Merriweather"/>
              <a:cs typeface="Merriweather"/>
              <a:sym typeface="Merriweather"/>
            </a:endParaRPr>
          </a:p>
        </p:txBody>
      </p:sp>
      <p:sp>
        <p:nvSpPr>
          <p:cNvPr id="65" name="Google Shape;65;p13"/>
          <p:cNvSpPr txBox="1"/>
          <p:nvPr/>
        </p:nvSpPr>
        <p:spPr>
          <a:xfrm>
            <a:off x="272275" y="3659125"/>
            <a:ext cx="8520600" cy="1248000"/>
          </a:xfrm>
          <a:prstGeom prst="rect">
            <a:avLst/>
          </a:prstGeom>
          <a:noFill/>
          <a:ln>
            <a:noFill/>
          </a:ln>
        </p:spPr>
        <p:txBody>
          <a:bodyPr spcFirstLastPara="1" wrap="square" lIns="91425" tIns="91425" rIns="91425" bIns="91425" anchor="t" anchorCtr="0">
            <a:noAutofit/>
          </a:bodyPr>
          <a:lstStyle/>
          <a:p>
            <a:pPr marL="0" lvl="0" indent="0" algn="ctr" rtl="0">
              <a:lnSpc>
                <a:spcPct val="130000"/>
              </a:lnSpc>
              <a:spcBef>
                <a:spcPts val="0"/>
              </a:spcBef>
              <a:spcAft>
                <a:spcPts val="0"/>
              </a:spcAft>
              <a:buNone/>
            </a:pPr>
            <a:r>
              <a:rPr lang="en" sz="1200">
                <a:solidFill>
                  <a:schemeClr val="lt1"/>
                </a:solidFill>
                <a:highlight>
                  <a:schemeClr val="dk1"/>
                </a:highlight>
                <a:latin typeface="Roboto"/>
                <a:ea typeface="Roboto"/>
                <a:cs typeface="Roboto"/>
                <a:sym typeface="Roboto"/>
              </a:rPr>
              <a:t>Final Project Presentation</a:t>
            </a:r>
            <a:endParaRPr sz="1200">
              <a:solidFill>
                <a:schemeClr val="lt1"/>
              </a:solidFill>
              <a:highlight>
                <a:schemeClr val="dk1"/>
              </a:highlight>
              <a:latin typeface="Roboto"/>
              <a:ea typeface="Roboto"/>
              <a:cs typeface="Roboto"/>
              <a:sym typeface="Roboto"/>
            </a:endParaRPr>
          </a:p>
          <a:p>
            <a:pPr marL="0" lvl="0" indent="0" algn="ctr" rtl="0">
              <a:lnSpc>
                <a:spcPct val="95000"/>
              </a:lnSpc>
              <a:spcBef>
                <a:spcPts val="1200"/>
              </a:spcBef>
              <a:spcAft>
                <a:spcPts val="0"/>
              </a:spcAft>
              <a:buNone/>
            </a:pPr>
            <a:r>
              <a:rPr lang="en" sz="1200">
                <a:solidFill>
                  <a:srgbClr val="B7B7B7"/>
                </a:solidFill>
                <a:latin typeface="Times New Roman"/>
                <a:ea typeface="Times New Roman"/>
                <a:cs typeface="Times New Roman"/>
                <a:sym typeface="Times New Roman"/>
              </a:rPr>
              <a:t>Group number 2 </a:t>
            </a:r>
            <a:endParaRPr sz="1200">
              <a:solidFill>
                <a:srgbClr val="B7B7B7"/>
              </a:solidFill>
              <a:latin typeface="Times New Roman"/>
              <a:ea typeface="Times New Roman"/>
              <a:cs typeface="Times New Roman"/>
              <a:sym typeface="Times New Roman"/>
            </a:endParaRPr>
          </a:p>
          <a:p>
            <a:pPr marL="0" lvl="0" indent="0" algn="ctr" rtl="0">
              <a:lnSpc>
                <a:spcPct val="115000"/>
              </a:lnSpc>
              <a:spcBef>
                <a:spcPts val="1200"/>
              </a:spcBef>
              <a:spcAft>
                <a:spcPts val="0"/>
              </a:spcAft>
              <a:buNone/>
            </a:pPr>
            <a:r>
              <a:rPr lang="en" sz="1200">
                <a:solidFill>
                  <a:schemeClr val="lt1"/>
                </a:solidFill>
                <a:latin typeface="Times New Roman"/>
                <a:ea typeface="Times New Roman"/>
                <a:cs typeface="Times New Roman"/>
                <a:sym typeface="Times New Roman"/>
              </a:rPr>
              <a:t>Lernik Avetisyan, Jesus Mora-Manzo, Odelia Manu, Arek Jaghlasian, Heidi Mina-Iraheta, Andrew Shin</a:t>
            </a:r>
            <a:endParaRPr sz="1200">
              <a:solidFill>
                <a:schemeClr val="lt1"/>
              </a:solidFill>
              <a:latin typeface="Times New Roman"/>
              <a:ea typeface="Times New Roman"/>
              <a:cs typeface="Times New Roman"/>
              <a:sym typeface="Times New Roman"/>
            </a:endParaRPr>
          </a:p>
          <a:p>
            <a:pPr marL="0" lvl="0" indent="0" algn="ctr" rtl="0">
              <a:lnSpc>
                <a:spcPct val="130000"/>
              </a:lnSpc>
              <a:spcBef>
                <a:spcPts val="1200"/>
              </a:spcBef>
              <a:spcAft>
                <a:spcPts val="0"/>
              </a:spcAft>
              <a:buNone/>
            </a:pPr>
            <a:endParaRPr sz="1200">
              <a:solidFill>
                <a:srgbClr val="273540"/>
              </a:solidFill>
              <a:highlight>
                <a:srgbClr val="FFFFFF"/>
              </a:highlight>
              <a:latin typeface="Roboto"/>
              <a:ea typeface="Roboto"/>
              <a:cs typeface="Roboto"/>
              <a:sym typeface="Roboto"/>
            </a:endParaRPr>
          </a:p>
        </p:txBody>
      </p:sp>
      <p:pic>
        <p:nvPicPr>
          <p:cNvPr id="66" name="Google Shape;66;p13" title="CSUNS.svg.png"/>
          <p:cNvPicPr preferRelativeResize="0"/>
          <p:nvPr/>
        </p:nvPicPr>
        <p:blipFill>
          <a:blip r:embed="rId3">
            <a:alphaModFix/>
          </a:blip>
          <a:stretch>
            <a:fillRect/>
          </a:stretch>
        </p:blipFill>
        <p:spPr>
          <a:xfrm>
            <a:off x="3146324" y="852950"/>
            <a:ext cx="2772507" cy="2737851"/>
          </a:xfrm>
          <a:prstGeom prst="rect">
            <a:avLst/>
          </a:prstGeom>
          <a:noFill/>
          <a:ln>
            <a:noFill/>
          </a:ln>
        </p:spPr>
      </p:pic>
      <p:sp>
        <p:nvSpPr>
          <p:cNvPr id="67" name="Google Shape;6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311725" y="500925"/>
            <a:ext cx="8520600" cy="623700"/>
          </a:xfrm>
          <a:prstGeom prst="rect">
            <a:avLst/>
          </a:prstGeom>
        </p:spPr>
        <p:txBody>
          <a:bodyPr spcFirstLastPara="1" wrap="square" lIns="91425" tIns="91425" rIns="91425" bIns="91425" anchor="ctr" anchorCtr="0">
            <a:normAutofit/>
          </a:bodyPr>
          <a:lstStyle/>
          <a:p>
            <a:pPr marL="0" lvl="0" indent="0" algn="ctr" rtl="0">
              <a:lnSpc>
                <a:spcPct val="115000"/>
              </a:lnSpc>
              <a:spcBef>
                <a:spcPts val="0"/>
              </a:spcBef>
              <a:spcAft>
                <a:spcPts val="0"/>
              </a:spcAft>
              <a:buNone/>
            </a:pPr>
            <a:r>
              <a:rPr lang="en" sz="1900" b="1">
                <a:solidFill>
                  <a:schemeClr val="accent2"/>
                </a:solidFill>
                <a:latin typeface="Times New Roman"/>
                <a:ea typeface="Times New Roman"/>
                <a:cs typeface="Times New Roman"/>
                <a:sym typeface="Times New Roman"/>
              </a:rPr>
              <a:t>Table of Content</a:t>
            </a:r>
            <a:endParaRPr sz="1900" b="1">
              <a:solidFill>
                <a:schemeClr val="accent2"/>
              </a:solidFill>
              <a:latin typeface="Times New Roman"/>
              <a:ea typeface="Times New Roman"/>
              <a:cs typeface="Times New Roman"/>
              <a:sym typeface="Times New Roman"/>
            </a:endParaRPr>
          </a:p>
        </p:txBody>
      </p:sp>
      <p:sp>
        <p:nvSpPr>
          <p:cNvPr id="73" name="Google Shape;7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2"/>
                </a:solidFill>
              </a:rPr>
              <a:t>2</a:t>
            </a:fld>
            <a:endParaRPr>
              <a:solidFill>
                <a:schemeClr val="dk2"/>
              </a:solidFill>
            </a:endParaRPr>
          </a:p>
        </p:txBody>
      </p:sp>
      <p:sp>
        <p:nvSpPr>
          <p:cNvPr id="74" name="Google Shape;74;p14"/>
          <p:cNvSpPr txBox="1"/>
          <p:nvPr/>
        </p:nvSpPr>
        <p:spPr>
          <a:xfrm>
            <a:off x="311700" y="1275775"/>
            <a:ext cx="8520600" cy="3776700"/>
          </a:xfrm>
          <a:prstGeom prst="rect">
            <a:avLst/>
          </a:prstGeom>
          <a:noFill/>
          <a:ln>
            <a:noFill/>
          </a:ln>
        </p:spPr>
        <p:txBody>
          <a:bodyPr spcFirstLastPara="1" wrap="square" lIns="91425" tIns="91425" rIns="91425" bIns="91425" anchor="t" anchorCtr="0">
            <a:noAutofit/>
          </a:bodyPr>
          <a:lstStyle/>
          <a:p>
            <a:pPr marL="457200" lvl="0" indent="-323850" algn="l" rtl="0">
              <a:lnSpc>
                <a:spcPct val="200000"/>
              </a:lnSpc>
              <a:spcBef>
                <a:spcPts val="1200"/>
              </a:spcBef>
              <a:spcAft>
                <a:spcPts val="0"/>
              </a:spcAft>
              <a:buClr>
                <a:srgbClr val="626B73"/>
              </a:buClr>
              <a:buSzPts val="1500"/>
              <a:buFont typeface="Times New Roman"/>
              <a:buChar char="●"/>
            </a:pPr>
            <a:r>
              <a:rPr lang="en" sz="1500">
                <a:solidFill>
                  <a:srgbClr val="626B73"/>
                </a:solidFill>
                <a:latin typeface="Times New Roman"/>
                <a:ea typeface="Times New Roman"/>
                <a:cs typeface="Times New Roman"/>
                <a:sym typeface="Times New Roman"/>
              </a:rPr>
              <a:t>Section 1: Brief Overview</a:t>
            </a:r>
            <a:endParaRPr sz="1500">
              <a:solidFill>
                <a:srgbClr val="626B73"/>
              </a:solidFill>
              <a:latin typeface="Times New Roman"/>
              <a:ea typeface="Times New Roman"/>
              <a:cs typeface="Times New Roman"/>
              <a:sym typeface="Times New Roman"/>
            </a:endParaRPr>
          </a:p>
          <a:p>
            <a:pPr marL="457200" lvl="0" indent="-323850" algn="l" rtl="0">
              <a:lnSpc>
                <a:spcPct val="200000"/>
              </a:lnSpc>
              <a:spcBef>
                <a:spcPts val="0"/>
              </a:spcBef>
              <a:spcAft>
                <a:spcPts val="0"/>
              </a:spcAft>
              <a:buClr>
                <a:srgbClr val="626B73"/>
              </a:buClr>
              <a:buSzPts val="1500"/>
              <a:buFont typeface="Times New Roman"/>
              <a:buChar char="●"/>
            </a:pPr>
            <a:r>
              <a:rPr lang="en" sz="1500">
                <a:solidFill>
                  <a:srgbClr val="626B73"/>
                </a:solidFill>
                <a:latin typeface="Times New Roman"/>
                <a:ea typeface="Times New Roman"/>
                <a:cs typeface="Times New Roman"/>
                <a:sym typeface="Times New Roman"/>
              </a:rPr>
              <a:t>Section 2: Detailed Analysis of Data Cleaning</a:t>
            </a:r>
            <a:endParaRPr sz="1500">
              <a:solidFill>
                <a:srgbClr val="626B73"/>
              </a:solidFill>
              <a:latin typeface="Times New Roman"/>
              <a:ea typeface="Times New Roman"/>
              <a:cs typeface="Times New Roman"/>
              <a:sym typeface="Times New Roman"/>
            </a:endParaRPr>
          </a:p>
          <a:p>
            <a:pPr marL="457200" lvl="0" indent="-323850" algn="l" rtl="0">
              <a:lnSpc>
                <a:spcPct val="200000"/>
              </a:lnSpc>
              <a:spcBef>
                <a:spcPts val="0"/>
              </a:spcBef>
              <a:spcAft>
                <a:spcPts val="0"/>
              </a:spcAft>
              <a:buClr>
                <a:srgbClr val="626B73"/>
              </a:buClr>
              <a:buSzPts val="1500"/>
              <a:buFont typeface="Times New Roman"/>
              <a:buChar char="●"/>
            </a:pPr>
            <a:r>
              <a:rPr lang="en" sz="1500">
                <a:solidFill>
                  <a:srgbClr val="626B73"/>
                </a:solidFill>
                <a:latin typeface="Times New Roman"/>
                <a:ea typeface="Times New Roman"/>
                <a:cs typeface="Times New Roman"/>
                <a:sym typeface="Times New Roman"/>
              </a:rPr>
              <a:t>Section 3: Feature Engineering (32 variables)</a:t>
            </a:r>
            <a:endParaRPr sz="1500">
              <a:solidFill>
                <a:srgbClr val="626B73"/>
              </a:solidFill>
              <a:latin typeface="Times New Roman"/>
              <a:ea typeface="Times New Roman"/>
              <a:cs typeface="Times New Roman"/>
              <a:sym typeface="Times New Roman"/>
            </a:endParaRPr>
          </a:p>
          <a:p>
            <a:pPr marL="457200" lvl="0" indent="-323850" algn="l" rtl="0">
              <a:lnSpc>
                <a:spcPct val="200000"/>
              </a:lnSpc>
              <a:spcBef>
                <a:spcPts val="0"/>
              </a:spcBef>
              <a:spcAft>
                <a:spcPts val="0"/>
              </a:spcAft>
              <a:buClr>
                <a:srgbClr val="626B73"/>
              </a:buClr>
              <a:buSzPts val="1500"/>
              <a:buFont typeface="Times New Roman"/>
              <a:buChar char="●"/>
            </a:pPr>
            <a:r>
              <a:rPr lang="en" sz="1500">
                <a:solidFill>
                  <a:srgbClr val="626B73"/>
                </a:solidFill>
                <a:latin typeface="Times New Roman"/>
                <a:ea typeface="Times New Roman"/>
                <a:cs typeface="Times New Roman"/>
                <a:sym typeface="Times New Roman"/>
              </a:rPr>
              <a:t>Section 4: Modeling (LR, RF, HGB)</a:t>
            </a:r>
            <a:endParaRPr sz="1500">
              <a:solidFill>
                <a:srgbClr val="626B73"/>
              </a:solidFill>
              <a:latin typeface="Times New Roman"/>
              <a:ea typeface="Times New Roman"/>
              <a:cs typeface="Times New Roman"/>
              <a:sym typeface="Times New Roman"/>
            </a:endParaRPr>
          </a:p>
          <a:p>
            <a:pPr marL="457200" lvl="0" indent="-323850" algn="l" rtl="0">
              <a:lnSpc>
                <a:spcPct val="200000"/>
              </a:lnSpc>
              <a:spcBef>
                <a:spcPts val="0"/>
              </a:spcBef>
              <a:spcAft>
                <a:spcPts val="0"/>
              </a:spcAft>
              <a:buClr>
                <a:srgbClr val="626B73"/>
              </a:buClr>
              <a:buSzPts val="1500"/>
              <a:buFont typeface="Times New Roman"/>
              <a:buChar char="●"/>
            </a:pPr>
            <a:r>
              <a:rPr lang="en" sz="1500">
                <a:solidFill>
                  <a:srgbClr val="626B73"/>
                </a:solidFill>
                <a:latin typeface="Times New Roman"/>
                <a:ea typeface="Times New Roman"/>
                <a:cs typeface="Times New Roman"/>
                <a:sym typeface="Times New Roman"/>
              </a:rPr>
              <a:t>Section 5: Evaluation &amp; Reporting</a:t>
            </a:r>
            <a:endParaRPr sz="1500">
              <a:solidFill>
                <a:srgbClr val="626B73"/>
              </a:solidFill>
              <a:latin typeface="Times New Roman"/>
              <a:ea typeface="Times New Roman"/>
              <a:cs typeface="Times New Roman"/>
              <a:sym typeface="Times New Roman"/>
            </a:endParaRPr>
          </a:p>
          <a:p>
            <a:pPr marL="457200" lvl="0" indent="-323850" algn="l" rtl="0">
              <a:lnSpc>
                <a:spcPct val="200000"/>
              </a:lnSpc>
              <a:spcBef>
                <a:spcPts val="0"/>
              </a:spcBef>
              <a:spcAft>
                <a:spcPts val="0"/>
              </a:spcAft>
              <a:buClr>
                <a:srgbClr val="626B73"/>
              </a:buClr>
              <a:buSzPts val="1500"/>
              <a:buFont typeface="Times New Roman"/>
              <a:buChar char="●"/>
            </a:pPr>
            <a:r>
              <a:rPr lang="en" sz="1500">
                <a:solidFill>
                  <a:srgbClr val="626B73"/>
                </a:solidFill>
                <a:latin typeface="Times New Roman"/>
                <a:ea typeface="Times New Roman"/>
                <a:cs typeface="Times New Roman"/>
                <a:sym typeface="Times New Roman"/>
              </a:rPr>
              <a:t>Section 6: Discussion</a:t>
            </a:r>
            <a:endParaRPr sz="1500">
              <a:solidFill>
                <a:srgbClr val="626B73"/>
              </a:solidFill>
              <a:latin typeface="Times New Roman"/>
              <a:ea typeface="Times New Roman"/>
              <a:cs typeface="Times New Roman"/>
              <a:sym typeface="Times New Roman"/>
            </a:endParaRPr>
          </a:p>
          <a:p>
            <a:pPr marL="457200" lvl="0" indent="-323850" algn="l" rtl="0">
              <a:lnSpc>
                <a:spcPct val="200000"/>
              </a:lnSpc>
              <a:spcBef>
                <a:spcPts val="0"/>
              </a:spcBef>
              <a:spcAft>
                <a:spcPts val="0"/>
              </a:spcAft>
              <a:buClr>
                <a:srgbClr val="626B73"/>
              </a:buClr>
              <a:buSzPts val="1500"/>
              <a:buFont typeface="Times New Roman"/>
              <a:buChar char="●"/>
            </a:pPr>
            <a:r>
              <a:rPr lang="en" sz="1500">
                <a:solidFill>
                  <a:srgbClr val="626B73"/>
                </a:solidFill>
                <a:latin typeface="Times New Roman"/>
                <a:ea typeface="Times New Roman"/>
                <a:cs typeface="Times New Roman"/>
                <a:sym typeface="Times New Roman"/>
              </a:rPr>
              <a:t>Section 7: Demo</a:t>
            </a:r>
            <a:endParaRPr sz="1500">
              <a:solidFill>
                <a:srgbClr val="626B73"/>
              </a:solidFill>
              <a:latin typeface="Times New Roman"/>
              <a:ea typeface="Times New Roman"/>
              <a:cs typeface="Times New Roman"/>
              <a:sym typeface="Times New Roman"/>
            </a:endParaRPr>
          </a:p>
          <a:p>
            <a:pPr marL="457200" lvl="0" indent="-323850" algn="l" rtl="0">
              <a:lnSpc>
                <a:spcPct val="200000"/>
              </a:lnSpc>
              <a:spcBef>
                <a:spcPts val="0"/>
              </a:spcBef>
              <a:spcAft>
                <a:spcPts val="0"/>
              </a:spcAft>
              <a:buClr>
                <a:srgbClr val="626B73"/>
              </a:buClr>
              <a:buSzPts val="1500"/>
              <a:buFont typeface="Times New Roman"/>
              <a:buChar char="●"/>
            </a:pPr>
            <a:r>
              <a:rPr lang="en" sz="1500">
                <a:solidFill>
                  <a:srgbClr val="626B73"/>
                </a:solidFill>
                <a:latin typeface="Times New Roman"/>
                <a:ea typeface="Times New Roman"/>
                <a:cs typeface="Times New Roman"/>
                <a:sym typeface="Times New Roman"/>
              </a:rPr>
              <a:t>Section 8: Conclusion</a:t>
            </a:r>
            <a:endParaRPr sz="1500">
              <a:solidFill>
                <a:srgbClr val="626B73"/>
              </a:solidFill>
              <a:latin typeface="Times New Roman"/>
              <a:ea typeface="Times New Roman"/>
              <a:cs typeface="Times New Roman"/>
              <a:sym typeface="Times New Roman"/>
            </a:endParaRPr>
          </a:p>
        </p:txBody>
      </p:sp>
    </p:spTree>
  </p:cSld>
  <p:clrMapOvr>
    <a:masterClrMapping/>
  </p:clrMapOvr>
  <p:transition spd="med">
    <p:fade thruBlk="1"/>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78"/>
        <p:cNvGrpSpPr/>
        <p:nvPr/>
      </p:nvGrpSpPr>
      <p:grpSpPr>
        <a:xfrm>
          <a:off x="0" y="0"/>
          <a:ext cx="0" cy="0"/>
          <a:chOff x="0" y="0"/>
          <a:chExt cx="0" cy="0"/>
        </a:xfrm>
      </p:grpSpPr>
      <p:sp>
        <p:nvSpPr>
          <p:cNvPr id="79" name="Google Shape;79;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sp>
        <p:nvSpPr>
          <p:cNvPr id="80" name="Google Shape;80;p15"/>
          <p:cNvSpPr txBox="1">
            <a:spLocks noGrp="1"/>
          </p:cNvSpPr>
          <p:nvPr>
            <p:ph type="title"/>
          </p:nvPr>
        </p:nvSpPr>
        <p:spPr>
          <a:xfrm>
            <a:off x="304300" y="198625"/>
            <a:ext cx="3706500" cy="25089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ctr" rtl="0">
              <a:lnSpc>
                <a:spcPct val="100000"/>
              </a:lnSpc>
              <a:spcBef>
                <a:spcPts val="0"/>
              </a:spcBef>
              <a:spcAft>
                <a:spcPts val="0"/>
              </a:spcAft>
              <a:buNone/>
            </a:pPr>
            <a:r>
              <a:rPr lang="en" sz="1900" b="1">
                <a:latin typeface="Times New Roman"/>
                <a:ea typeface="Times New Roman"/>
                <a:cs typeface="Times New Roman"/>
                <a:sym typeface="Times New Roman"/>
              </a:rPr>
              <a:t>Section 1: Brief Overview</a:t>
            </a:r>
            <a:endParaRPr sz="19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457200" lvl="0" indent="-304800" algn="l" rtl="0">
              <a:lnSpc>
                <a:spcPct val="100000"/>
              </a:lnSpc>
              <a:spcBef>
                <a:spcPts val="1200"/>
              </a:spcBef>
              <a:spcAft>
                <a:spcPts val="0"/>
              </a:spcAft>
              <a:buSzPts val="1200"/>
              <a:buFont typeface="Times New Roman"/>
              <a:buChar char="●"/>
            </a:pPr>
            <a:r>
              <a:rPr lang="en" sz="1200" b="1">
                <a:latin typeface="Times New Roman"/>
                <a:ea typeface="Times New Roman"/>
                <a:cs typeface="Times New Roman"/>
                <a:sym typeface="Times New Roman"/>
              </a:rPr>
              <a:t>Project background and business objective (churn prediction, success criteria).</a:t>
            </a:r>
            <a:endParaRPr sz="1200" b="1">
              <a:latin typeface="Times New Roman"/>
              <a:ea typeface="Times New Roman"/>
              <a:cs typeface="Times New Roman"/>
              <a:sym typeface="Times New Roman"/>
            </a:endParaRPr>
          </a:p>
        </p:txBody>
      </p:sp>
      <p:sp>
        <p:nvSpPr>
          <p:cNvPr id="81" name="Google Shape;81;p15"/>
          <p:cNvSpPr txBox="1">
            <a:spLocks noGrp="1"/>
          </p:cNvSpPr>
          <p:nvPr>
            <p:ph type="body" idx="1"/>
          </p:nvPr>
        </p:nvSpPr>
        <p:spPr>
          <a:xfrm>
            <a:off x="4308925" y="0"/>
            <a:ext cx="4835100" cy="51435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None/>
            </a:pPr>
            <a:r>
              <a:rPr lang="en" sz="1100" b="1" dirty="0">
                <a:solidFill>
                  <a:srgbClr val="000000"/>
                </a:solidFill>
                <a:latin typeface="Times New Roman"/>
                <a:ea typeface="Times New Roman"/>
                <a:cs typeface="Times New Roman"/>
                <a:sym typeface="Times New Roman"/>
              </a:rPr>
              <a:t>Project Background</a:t>
            </a:r>
            <a:endParaRPr sz="1100" b="1" dirty="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100" dirty="0">
                <a:solidFill>
                  <a:srgbClr val="000000"/>
                </a:solidFill>
                <a:latin typeface="Times New Roman"/>
                <a:ea typeface="Times New Roman"/>
                <a:cs typeface="Times New Roman"/>
                <a:sym typeface="Times New Roman"/>
              </a:rPr>
              <a:t>Customer churn is one of the most critical challenges in the telecom industry. Churn happens when a customer leaves the company, and each lost customer represents lost revenue and additional costs to acquire a replacement. Predicting churn early allows the company to take action, such as offering promotions, personalized support, or contract adjustments to retain valuable customers.</a:t>
            </a:r>
            <a:endParaRPr sz="1100" dirty="0">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100" b="1" dirty="0">
                <a:solidFill>
                  <a:srgbClr val="000000"/>
                </a:solidFill>
                <a:latin typeface="Times New Roman"/>
                <a:ea typeface="Times New Roman"/>
                <a:cs typeface="Times New Roman"/>
                <a:sym typeface="Times New Roman"/>
              </a:rPr>
              <a:t>Business Objective</a:t>
            </a:r>
            <a:endParaRPr sz="1100" b="1" dirty="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100" dirty="0">
                <a:solidFill>
                  <a:srgbClr val="000000"/>
                </a:solidFill>
                <a:latin typeface="Times New Roman"/>
                <a:ea typeface="Times New Roman"/>
                <a:cs typeface="Times New Roman"/>
                <a:sym typeface="Times New Roman"/>
              </a:rPr>
              <a:t>Our main objective was to build a machine learning system that predicts which customers are most likely to churn. From a </a:t>
            </a:r>
            <a:r>
              <a:rPr lang="en" sz="1100" b="1" dirty="0">
                <a:solidFill>
                  <a:srgbClr val="000000"/>
                </a:solidFill>
                <a:latin typeface="Times New Roman"/>
                <a:ea typeface="Times New Roman"/>
                <a:cs typeface="Times New Roman"/>
                <a:sym typeface="Times New Roman"/>
              </a:rPr>
              <a:t>business success perspective</a:t>
            </a:r>
            <a:r>
              <a:rPr lang="en" sz="1100" dirty="0">
                <a:solidFill>
                  <a:srgbClr val="000000"/>
                </a:solidFill>
                <a:latin typeface="Times New Roman"/>
                <a:ea typeface="Times New Roman"/>
                <a:cs typeface="Times New Roman"/>
                <a:sym typeface="Times New Roman"/>
              </a:rPr>
              <a:t>, we defined two criteria:</a:t>
            </a:r>
            <a:endParaRPr sz="1100" dirty="0">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Arial"/>
              <a:buChar char="●"/>
            </a:pPr>
            <a:r>
              <a:rPr lang="en" sz="1100" b="1" dirty="0">
                <a:solidFill>
                  <a:srgbClr val="000000"/>
                </a:solidFill>
                <a:latin typeface="Times New Roman"/>
                <a:ea typeface="Times New Roman"/>
                <a:cs typeface="Times New Roman"/>
                <a:sym typeface="Times New Roman"/>
              </a:rPr>
              <a:t>Accuracy ≥ 85%</a:t>
            </a:r>
            <a:r>
              <a:rPr lang="en" sz="1100" dirty="0">
                <a:solidFill>
                  <a:srgbClr val="000000"/>
                </a:solidFill>
                <a:latin typeface="Times New Roman"/>
                <a:ea typeface="Times New Roman"/>
                <a:cs typeface="Times New Roman"/>
                <a:sym typeface="Times New Roman"/>
              </a:rPr>
              <a:t>: ensures overall predictions are reliable and minimizes false classifications.</a:t>
            </a:r>
            <a:br>
              <a:rPr lang="en" sz="1100" dirty="0">
                <a:solidFill>
                  <a:srgbClr val="000000"/>
                </a:solidFill>
                <a:latin typeface="Times New Roman"/>
                <a:ea typeface="Times New Roman"/>
                <a:cs typeface="Times New Roman"/>
                <a:sym typeface="Times New Roman"/>
              </a:rPr>
            </a:br>
            <a:endParaRPr sz="1100" dirty="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Arial"/>
              <a:buChar char="●"/>
            </a:pPr>
            <a:r>
              <a:rPr lang="en" sz="1100" b="1" dirty="0">
                <a:solidFill>
                  <a:srgbClr val="000000"/>
                </a:solidFill>
                <a:latin typeface="Times New Roman"/>
                <a:ea typeface="Times New Roman"/>
                <a:cs typeface="Times New Roman"/>
                <a:sym typeface="Times New Roman"/>
              </a:rPr>
              <a:t>Recall ≥ 80%</a:t>
            </a:r>
            <a:r>
              <a:rPr lang="en" sz="1100" dirty="0">
                <a:solidFill>
                  <a:srgbClr val="000000"/>
                </a:solidFill>
                <a:latin typeface="Times New Roman"/>
                <a:ea typeface="Times New Roman"/>
                <a:cs typeface="Times New Roman"/>
                <a:sym typeface="Times New Roman"/>
              </a:rPr>
              <a:t>: ensures the system captures the majority of potential churners so the company can intervene in time.</a:t>
            </a:r>
            <a:br>
              <a:rPr lang="en" sz="1100" dirty="0">
                <a:solidFill>
                  <a:srgbClr val="000000"/>
                </a:solidFill>
                <a:latin typeface="Times New Roman"/>
                <a:ea typeface="Times New Roman"/>
                <a:cs typeface="Times New Roman"/>
                <a:sym typeface="Times New Roman"/>
              </a:rPr>
            </a:br>
            <a:endParaRPr sz="1100" dirty="0">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r>
              <a:rPr lang="en" sz="1100" dirty="0">
                <a:solidFill>
                  <a:srgbClr val="000000"/>
                </a:solidFill>
                <a:latin typeface="Times New Roman"/>
                <a:ea typeface="Times New Roman"/>
                <a:cs typeface="Times New Roman"/>
                <a:sym typeface="Times New Roman"/>
              </a:rPr>
              <a:t>In practice, our models achieved </a:t>
            </a:r>
            <a:r>
              <a:rPr lang="en" sz="1100" b="1" dirty="0">
                <a:solidFill>
                  <a:srgbClr val="000000"/>
                </a:solidFill>
                <a:latin typeface="Times New Roman"/>
                <a:ea typeface="Times New Roman"/>
                <a:cs typeface="Times New Roman"/>
                <a:sym typeface="Times New Roman"/>
              </a:rPr>
              <a:t>70%+ accuracy</a:t>
            </a:r>
            <a:r>
              <a:rPr lang="en" sz="1100" dirty="0">
                <a:solidFill>
                  <a:srgbClr val="000000"/>
                </a:solidFill>
                <a:latin typeface="Times New Roman"/>
                <a:ea typeface="Times New Roman"/>
                <a:cs typeface="Times New Roman"/>
                <a:sym typeface="Times New Roman"/>
              </a:rPr>
              <a:t> and </a:t>
            </a:r>
            <a:r>
              <a:rPr lang="en" sz="1100" b="1" dirty="0">
                <a:solidFill>
                  <a:srgbClr val="000000"/>
                </a:solidFill>
                <a:latin typeface="Times New Roman"/>
                <a:ea typeface="Times New Roman"/>
                <a:cs typeface="Times New Roman"/>
                <a:sym typeface="Times New Roman"/>
              </a:rPr>
              <a:t>~82% recall</a:t>
            </a:r>
            <a:r>
              <a:rPr lang="en" sz="1100" dirty="0">
                <a:solidFill>
                  <a:srgbClr val="000000"/>
                </a:solidFill>
                <a:latin typeface="Times New Roman"/>
                <a:ea typeface="Times New Roman"/>
                <a:cs typeface="Times New Roman"/>
                <a:sym typeface="Times New Roman"/>
              </a:rPr>
              <a:t>. While we did not reach the 85% accuracy goal, we will later explain why this trade-off occurred and why recall is more important in this business setting.</a:t>
            </a:r>
            <a:endParaRPr sz="1100" b="1" dirty="0">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a:spLocks noGrp="1"/>
          </p:cNvSpPr>
          <p:nvPr>
            <p:ph type="title"/>
          </p:nvPr>
        </p:nvSpPr>
        <p:spPr>
          <a:xfrm>
            <a:off x="311725" y="0"/>
            <a:ext cx="8520600" cy="1281600"/>
          </a:xfrm>
          <a:prstGeom prst="rect">
            <a:avLst/>
          </a:prstGeom>
        </p:spPr>
        <p:txBody>
          <a:bodyPr spcFirstLastPara="1" wrap="square" lIns="91425" tIns="91425" rIns="91425" bIns="91425" anchor="ctr" anchorCtr="0">
            <a:normAutofit/>
          </a:bodyPr>
          <a:lstStyle/>
          <a:p>
            <a:pPr marL="0" lvl="0" indent="0" algn="ctr" rtl="0">
              <a:lnSpc>
                <a:spcPct val="100000"/>
              </a:lnSpc>
              <a:spcBef>
                <a:spcPts val="1400"/>
              </a:spcBef>
              <a:spcAft>
                <a:spcPts val="400"/>
              </a:spcAft>
              <a:buNone/>
            </a:pPr>
            <a:r>
              <a:rPr lang="en" sz="2900" b="1">
                <a:latin typeface="Times New Roman"/>
                <a:ea typeface="Times New Roman"/>
                <a:cs typeface="Times New Roman"/>
                <a:sym typeface="Times New Roman"/>
              </a:rPr>
              <a:t>Roadmap of Work</a:t>
            </a:r>
            <a:endParaRPr sz="2900">
              <a:latin typeface="Times New Roman"/>
              <a:ea typeface="Times New Roman"/>
              <a:cs typeface="Times New Roman"/>
              <a:sym typeface="Times New Roman"/>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
        <p:nvSpPr>
          <p:cNvPr id="88" name="Google Shape;88;p16"/>
          <p:cNvSpPr txBox="1"/>
          <p:nvPr/>
        </p:nvSpPr>
        <p:spPr>
          <a:xfrm>
            <a:off x="48000" y="1291175"/>
            <a:ext cx="9096000" cy="3852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300">
                <a:latin typeface="Times New Roman"/>
                <a:ea typeface="Times New Roman"/>
                <a:cs typeface="Times New Roman"/>
                <a:sym typeface="Times New Roman"/>
              </a:rPr>
              <a:t>To achieve this objective, we followed the CRISP-DM framework:</a:t>
            </a:r>
            <a:endParaRPr sz="1300">
              <a:latin typeface="Times New Roman"/>
              <a:ea typeface="Times New Roman"/>
              <a:cs typeface="Times New Roman"/>
              <a:sym typeface="Times New Roman"/>
            </a:endParaRPr>
          </a:p>
          <a:p>
            <a:pPr marL="457200" lvl="0" indent="-311150" algn="l" rtl="0">
              <a:lnSpc>
                <a:spcPct val="115000"/>
              </a:lnSpc>
              <a:spcBef>
                <a:spcPts val="1200"/>
              </a:spcBef>
              <a:spcAft>
                <a:spcPts val="0"/>
              </a:spcAft>
              <a:buSzPts val="1300"/>
              <a:buChar char="●"/>
            </a:pPr>
            <a:r>
              <a:rPr lang="en" sz="1300" b="1">
                <a:latin typeface="Times New Roman"/>
                <a:ea typeface="Times New Roman"/>
                <a:cs typeface="Times New Roman"/>
                <a:sym typeface="Times New Roman"/>
              </a:rPr>
              <a:t>Business Understanding</a:t>
            </a:r>
            <a:r>
              <a:rPr lang="en" sz="1300">
                <a:latin typeface="Times New Roman"/>
                <a:ea typeface="Times New Roman"/>
                <a:cs typeface="Times New Roman"/>
                <a:sym typeface="Times New Roman"/>
              </a:rPr>
              <a:t> – (covered here)</a:t>
            </a:r>
            <a:br>
              <a:rPr lang="en" sz="1300">
                <a:latin typeface="Times New Roman"/>
                <a:ea typeface="Times New Roman"/>
                <a:cs typeface="Times New Roman"/>
                <a:sym typeface="Times New Roman"/>
              </a:rPr>
            </a:br>
            <a:endParaRPr sz="1300">
              <a:latin typeface="Times New Roman"/>
              <a:ea typeface="Times New Roman"/>
              <a:cs typeface="Times New Roman"/>
              <a:sym typeface="Times New Roman"/>
            </a:endParaRPr>
          </a:p>
          <a:p>
            <a:pPr marL="457200" lvl="0" indent="-311150" algn="l" rtl="0">
              <a:lnSpc>
                <a:spcPct val="115000"/>
              </a:lnSpc>
              <a:spcBef>
                <a:spcPts val="0"/>
              </a:spcBef>
              <a:spcAft>
                <a:spcPts val="0"/>
              </a:spcAft>
              <a:buSzPts val="1300"/>
              <a:buChar char="●"/>
            </a:pPr>
            <a:r>
              <a:rPr lang="en" sz="1300" b="1">
                <a:latin typeface="Times New Roman"/>
                <a:ea typeface="Times New Roman"/>
                <a:cs typeface="Times New Roman"/>
                <a:sym typeface="Times New Roman"/>
              </a:rPr>
              <a:t>Data Understanding</a:t>
            </a:r>
            <a:r>
              <a:rPr lang="en" sz="1300">
                <a:latin typeface="Times New Roman"/>
                <a:ea typeface="Times New Roman"/>
                <a:cs typeface="Times New Roman"/>
                <a:sym typeface="Times New Roman"/>
              </a:rPr>
              <a:t> – explored dataset size, imbalance, and churn patterns (details in Section 2 and 3)</a:t>
            </a:r>
            <a:br>
              <a:rPr lang="en" sz="1300">
                <a:latin typeface="Times New Roman"/>
                <a:ea typeface="Times New Roman"/>
                <a:cs typeface="Times New Roman"/>
                <a:sym typeface="Times New Roman"/>
              </a:rPr>
            </a:br>
            <a:endParaRPr sz="1300">
              <a:latin typeface="Times New Roman"/>
              <a:ea typeface="Times New Roman"/>
              <a:cs typeface="Times New Roman"/>
              <a:sym typeface="Times New Roman"/>
            </a:endParaRPr>
          </a:p>
          <a:p>
            <a:pPr marL="457200" lvl="0" indent="-311150" algn="l" rtl="0">
              <a:lnSpc>
                <a:spcPct val="115000"/>
              </a:lnSpc>
              <a:spcBef>
                <a:spcPts val="0"/>
              </a:spcBef>
              <a:spcAft>
                <a:spcPts val="0"/>
              </a:spcAft>
              <a:buSzPts val="1300"/>
              <a:buChar char="●"/>
            </a:pPr>
            <a:r>
              <a:rPr lang="en" sz="1300" b="1">
                <a:latin typeface="Times New Roman"/>
                <a:ea typeface="Times New Roman"/>
                <a:cs typeface="Times New Roman"/>
                <a:sym typeface="Times New Roman"/>
              </a:rPr>
              <a:t>Data Preparation</a:t>
            </a:r>
            <a:r>
              <a:rPr lang="en" sz="1300">
                <a:latin typeface="Times New Roman"/>
                <a:ea typeface="Times New Roman"/>
                <a:cs typeface="Times New Roman"/>
                <a:sym typeface="Times New Roman"/>
              </a:rPr>
              <a:t> – cleaned and engineered features, ending with 32 usable variables (Section 2 and 3)</a:t>
            </a:r>
            <a:br>
              <a:rPr lang="en" sz="1300">
                <a:latin typeface="Times New Roman"/>
                <a:ea typeface="Times New Roman"/>
                <a:cs typeface="Times New Roman"/>
                <a:sym typeface="Times New Roman"/>
              </a:rPr>
            </a:br>
            <a:endParaRPr sz="1300">
              <a:latin typeface="Times New Roman"/>
              <a:ea typeface="Times New Roman"/>
              <a:cs typeface="Times New Roman"/>
              <a:sym typeface="Times New Roman"/>
            </a:endParaRPr>
          </a:p>
          <a:p>
            <a:pPr marL="457200" lvl="0" indent="-311150" algn="l" rtl="0">
              <a:lnSpc>
                <a:spcPct val="115000"/>
              </a:lnSpc>
              <a:spcBef>
                <a:spcPts val="0"/>
              </a:spcBef>
              <a:spcAft>
                <a:spcPts val="0"/>
              </a:spcAft>
              <a:buSzPts val="1300"/>
              <a:buChar char="●"/>
            </a:pPr>
            <a:r>
              <a:rPr lang="en" sz="1300" b="1">
                <a:latin typeface="Times New Roman"/>
                <a:ea typeface="Times New Roman"/>
                <a:cs typeface="Times New Roman"/>
                <a:sym typeface="Times New Roman"/>
              </a:rPr>
              <a:t>Modeling</a:t>
            </a:r>
            <a:r>
              <a:rPr lang="en" sz="1300">
                <a:latin typeface="Times New Roman"/>
                <a:ea typeface="Times New Roman"/>
                <a:cs typeface="Times New Roman"/>
                <a:sym typeface="Times New Roman"/>
              </a:rPr>
              <a:t> – trained Logistic Regression, Random Forest, and Histogram Gradient Boosting (Section 4)</a:t>
            </a:r>
            <a:br>
              <a:rPr lang="en" sz="1300">
                <a:latin typeface="Times New Roman"/>
                <a:ea typeface="Times New Roman"/>
                <a:cs typeface="Times New Roman"/>
                <a:sym typeface="Times New Roman"/>
              </a:rPr>
            </a:br>
            <a:endParaRPr sz="1300">
              <a:latin typeface="Times New Roman"/>
              <a:ea typeface="Times New Roman"/>
              <a:cs typeface="Times New Roman"/>
              <a:sym typeface="Times New Roman"/>
            </a:endParaRPr>
          </a:p>
          <a:p>
            <a:pPr marL="457200" lvl="0" indent="-311150" algn="l" rtl="0">
              <a:lnSpc>
                <a:spcPct val="115000"/>
              </a:lnSpc>
              <a:spcBef>
                <a:spcPts val="0"/>
              </a:spcBef>
              <a:spcAft>
                <a:spcPts val="0"/>
              </a:spcAft>
              <a:buSzPts val="1300"/>
              <a:buChar char="●"/>
            </a:pPr>
            <a:r>
              <a:rPr lang="en" sz="1300" b="1">
                <a:latin typeface="Times New Roman"/>
                <a:ea typeface="Times New Roman"/>
                <a:cs typeface="Times New Roman"/>
                <a:sym typeface="Times New Roman"/>
              </a:rPr>
              <a:t>Evaluation &amp; Reporting</a:t>
            </a:r>
            <a:r>
              <a:rPr lang="en" sz="1300">
                <a:latin typeface="Times New Roman"/>
                <a:ea typeface="Times New Roman"/>
                <a:cs typeface="Times New Roman"/>
                <a:sym typeface="Times New Roman"/>
              </a:rPr>
              <a:t> – assessed results with accuracy, recall, and other metrics (Section 5)</a:t>
            </a:r>
            <a:endParaRPr sz="1300">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sz="1300">
                <a:latin typeface="Times New Roman"/>
                <a:ea typeface="Times New Roman"/>
                <a:cs typeface="Times New Roman"/>
                <a:sym typeface="Times New Roman"/>
              </a:rPr>
              <a:t>This section established the </a:t>
            </a:r>
            <a:r>
              <a:rPr lang="en" sz="1300" b="1">
                <a:latin typeface="Times New Roman"/>
                <a:ea typeface="Times New Roman"/>
                <a:cs typeface="Times New Roman"/>
                <a:sym typeface="Times New Roman"/>
              </a:rPr>
              <a:t>background (churn in telecom)</a:t>
            </a:r>
            <a:r>
              <a:rPr lang="en" sz="1300">
                <a:latin typeface="Times New Roman"/>
                <a:ea typeface="Times New Roman"/>
                <a:cs typeface="Times New Roman"/>
                <a:sym typeface="Times New Roman"/>
              </a:rPr>
              <a:t> and the </a:t>
            </a:r>
            <a:r>
              <a:rPr lang="en" sz="1300" b="1">
                <a:latin typeface="Times New Roman"/>
                <a:ea typeface="Times New Roman"/>
                <a:cs typeface="Times New Roman"/>
                <a:sym typeface="Times New Roman"/>
              </a:rPr>
              <a:t>business objective (predict churn with high accuracy and recall)</a:t>
            </a:r>
            <a:r>
              <a:rPr lang="en" sz="1300">
                <a:latin typeface="Times New Roman"/>
                <a:ea typeface="Times New Roman"/>
                <a:cs typeface="Times New Roman"/>
                <a:sym typeface="Times New Roman"/>
              </a:rPr>
              <a:t>. In the next sections, we dive deeper into how the data was cleaned, features engineered, models built, and results evaluated.</a:t>
            </a:r>
            <a:endParaRPr sz="1300">
              <a:solidFill>
                <a:schemeClr val="dk2"/>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92"/>
        <p:cNvGrpSpPr/>
        <p:nvPr/>
      </p:nvGrpSpPr>
      <p:grpSpPr>
        <a:xfrm>
          <a:off x="0" y="0"/>
          <a:ext cx="0" cy="0"/>
          <a:chOff x="0" y="0"/>
          <a:chExt cx="0" cy="0"/>
        </a:xfrm>
      </p:grpSpPr>
      <p:sp>
        <p:nvSpPr>
          <p:cNvPr id="93" name="Google Shape;93;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sp>
        <p:nvSpPr>
          <p:cNvPr id="94" name="Google Shape;94;p17"/>
          <p:cNvSpPr txBox="1">
            <a:spLocks noGrp="1"/>
          </p:cNvSpPr>
          <p:nvPr>
            <p:ph type="title"/>
          </p:nvPr>
        </p:nvSpPr>
        <p:spPr>
          <a:xfrm>
            <a:off x="0" y="198625"/>
            <a:ext cx="4004700" cy="25089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ctr" rtl="0">
              <a:lnSpc>
                <a:spcPct val="100000"/>
              </a:lnSpc>
              <a:spcBef>
                <a:spcPts val="0"/>
              </a:spcBef>
              <a:spcAft>
                <a:spcPts val="0"/>
              </a:spcAft>
              <a:buNone/>
            </a:pPr>
            <a:r>
              <a:rPr lang="en" sz="1500" b="1">
                <a:latin typeface="Times New Roman"/>
                <a:ea typeface="Times New Roman"/>
                <a:cs typeface="Times New Roman"/>
                <a:sym typeface="Times New Roman"/>
              </a:rPr>
              <a:t>Section 2: Detailed Analysis of Data Cleaning</a:t>
            </a:r>
            <a:endParaRPr sz="15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457200" lvl="0" indent="-304800" algn="l" rtl="0">
              <a:spcBef>
                <a:spcPts val="1200"/>
              </a:spcBef>
              <a:spcAft>
                <a:spcPts val="0"/>
              </a:spcAft>
              <a:buSzPts val="1200"/>
              <a:buFont typeface="Times New Roman"/>
              <a:buChar char="●"/>
            </a:pPr>
            <a:r>
              <a:rPr lang="en" sz="1200" b="1">
                <a:latin typeface="Times New Roman"/>
                <a:ea typeface="Times New Roman"/>
                <a:cs typeface="Times New Roman"/>
                <a:sym typeface="Times New Roman"/>
              </a:rPr>
              <a:t>Handling missing values, outliers, data normalization.</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Code explanation.</a:t>
            </a:r>
            <a:endParaRPr sz="1200" b="1">
              <a:latin typeface="Times New Roman"/>
              <a:ea typeface="Times New Roman"/>
              <a:cs typeface="Times New Roman"/>
              <a:sym typeface="Times New Roman"/>
            </a:endParaRPr>
          </a:p>
        </p:txBody>
      </p:sp>
      <p:sp>
        <p:nvSpPr>
          <p:cNvPr id="95" name="Google Shape;95;p17"/>
          <p:cNvSpPr txBox="1">
            <a:spLocks noGrp="1"/>
          </p:cNvSpPr>
          <p:nvPr>
            <p:ph type="body" idx="1"/>
          </p:nvPr>
        </p:nvSpPr>
        <p:spPr>
          <a:xfrm>
            <a:off x="4308925" y="0"/>
            <a:ext cx="4835100" cy="51435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None/>
            </a:pPr>
            <a:r>
              <a:rPr lang="en" sz="1500" b="1">
                <a:solidFill>
                  <a:srgbClr val="000000"/>
                </a:solidFill>
                <a:latin typeface="Times New Roman"/>
                <a:ea typeface="Times New Roman"/>
                <a:cs typeface="Times New Roman"/>
                <a:sym typeface="Times New Roman"/>
              </a:rPr>
              <a:t>1. Handling Missing Values</a:t>
            </a:r>
            <a:endParaRPr sz="150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500">
                <a:solidFill>
                  <a:srgbClr val="000000"/>
                </a:solidFill>
                <a:latin typeface="Times New Roman"/>
                <a:ea typeface="Times New Roman"/>
                <a:cs typeface="Times New Roman"/>
                <a:sym typeface="Times New Roman"/>
              </a:rPr>
              <a:t>The raw Telco dataset had two important problems:</a:t>
            </a:r>
            <a:endParaRPr sz="1500">
              <a:solidFill>
                <a:srgbClr val="000000"/>
              </a:solidFill>
              <a:latin typeface="Times New Roman"/>
              <a:ea typeface="Times New Roman"/>
              <a:cs typeface="Times New Roman"/>
              <a:sym typeface="Times New Roman"/>
            </a:endParaRPr>
          </a:p>
          <a:p>
            <a:pPr marL="457200" lvl="0" indent="-323850" algn="l" rtl="0">
              <a:spcBef>
                <a:spcPts val="1200"/>
              </a:spcBef>
              <a:spcAft>
                <a:spcPts val="0"/>
              </a:spcAft>
              <a:buClr>
                <a:srgbClr val="000000"/>
              </a:buClr>
              <a:buSzPts val="1500"/>
              <a:buFont typeface="Times New Roman"/>
              <a:buChar char="●"/>
            </a:pPr>
            <a:r>
              <a:rPr lang="en" sz="1500" b="1">
                <a:solidFill>
                  <a:srgbClr val="000000"/>
                </a:solidFill>
                <a:latin typeface="Times New Roman"/>
                <a:ea typeface="Times New Roman"/>
                <a:cs typeface="Times New Roman"/>
                <a:sym typeface="Times New Roman"/>
              </a:rPr>
              <a:t>TotalCharges column stored as text: </a:t>
            </a:r>
            <a:r>
              <a:rPr lang="en" sz="1500">
                <a:solidFill>
                  <a:srgbClr val="000000"/>
                </a:solidFill>
                <a:latin typeface="Times New Roman"/>
                <a:ea typeface="Times New Roman"/>
                <a:cs typeface="Times New Roman"/>
                <a:sym typeface="Times New Roman"/>
              </a:rPr>
              <a:t>Some rows had blank strings instead of numbers. We converted this column to numeric and fixed the blanks.</a:t>
            </a:r>
            <a:br>
              <a:rPr lang="en" sz="1500" b="1">
                <a:solidFill>
                  <a:srgbClr val="000000"/>
                </a:solidFill>
                <a:latin typeface="Times New Roman"/>
                <a:ea typeface="Times New Roman"/>
                <a:cs typeface="Times New Roman"/>
                <a:sym typeface="Times New Roman"/>
              </a:rPr>
            </a:br>
            <a:endParaRPr sz="1500" b="1">
              <a:solidFill>
                <a:srgbClr val="000000"/>
              </a:solidFill>
              <a:latin typeface="Times New Roman"/>
              <a:ea typeface="Times New Roman"/>
              <a:cs typeface="Times New Roman"/>
              <a:sym typeface="Times New Roman"/>
            </a:endParaRPr>
          </a:p>
          <a:p>
            <a:pPr marL="457200" lvl="0" indent="-323850" algn="l" rtl="0">
              <a:spcBef>
                <a:spcPts val="0"/>
              </a:spcBef>
              <a:spcAft>
                <a:spcPts val="0"/>
              </a:spcAft>
              <a:buClr>
                <a:srgbClr val="000000"/>
              </a:buClr>
              <a:buSzPts val="1500"/>
              <a:buFont typeface="Times New Roman"/>
              <a:buChar char="●"/>
            </a:pPr>
            <a:r>
              <a:rPr lang="en" sz="1500" b="1">
                <a:solidFill>
                  <a:srgbClr val="000000"/>
                </a:solidFill>
                <a:latin typeface="Times New Roman"/>
                <a:ea typeface="Times New Roman"/>
                <a:cs typeface="Times New Roman"/>
                <a:sym typeface="Times New Roman"/>
              </a:rPr>
              <a:t>Missing numeric or categorical values: </a:t>
            </a:r>
            <a:r>
              <a:rPr lang="en" sz="1500">
                <a:solidFill>
                  <a:srgbClr val="000000"/>
                </a:solidFill>
                <a:latin typeface="Times New Roman"/>
                <a:ea typeface="Times New Roman"/>
                <a:cs typeface="Times New Roman"/>
                <a:sym typeface="Times New Roman"/>
              </a:rPr>
              <a:t>For categorical columns (like InternetService, PaymentMethod), we filled the blanks with the most common category (mode). For numeric columns, we filled with the median value.</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a:spLocks noGrp="1"/>
          </p:cNvSpPr>
          <p:nvPr>
            <p:ph type="title"/>
          </p:nvPr>
        </p:nvSpPr>
        <p:spPr>
          <a:xfrm>
            <a:off x="0" y="0"/>
            <a:ext cx="4357200" cy="5143500"/>
          </a:xfrm>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1500">
                <a:latin typeface="Times New Roman"/>
                <a:ea typeface="Times New Roman"/>
                <a:cs typeface="Times New Roman"/>
                <a:sym typeface="Times New Roman"/>
              </a:rPr>
              <a:t>This ensured there were no missing entries when training the models.</a:t>
            </a:r>
            <a:endParaRPr sz="1500">
              <a:latin typeface="Times New Roman"/>
              <a:ea typeface="Times New Roman"/>
              <a:cs typeface="Times New Roman"/>
              <a:sym typeface="Times New Roman"/>
            </a:endParaRPr>
          </a:p>
          <a:p>
            <a:pPr marL="0" lvl="0" indent="0" algn="l" rtl="0">
              <a:spcBef>
                <a:spcPts val="1200"/>
              </a:spcBef>
              <a:spcAft>
                <a:spcPts val="0"/>
              </a:spcAft>
              <a:buNone/>
            </a:pPr>
            <a:r>
              <a:rPr lang="en" sz="1500">
                <a:latin typeface="Times New Roman"/>
                <a:ea typeface="Times New Roman"/>
                <a:cs typeface="Times New Roman"/>
                <a:sym typeface="Times New Roman"/>
              </a:rPr>
              <a:t>df['TotalCharges'] = pd.to_numeric(df['TotalCharges'], errors='coerce')</a:t>
            </a:r>
            <a:endParaRPr sz="1500">
              <a:latin typeface="Times New Roman"/>
              <a:ea typeface="Times New Roman"/>
              <a:cs typeface="Times New Roman"/>
              <a:sym typeface="Times New Roman"/>
            </a:endParaRPr>
          </a:p>
          <a:p>
            <a:pPr marL="0" lvl="0" indent="0" algn="l" rtl="0">
              <a:spcBef>
                <a:spcPts val="0"/>
              </a:spcBef>
              <a:spcAft>
                <a:spcPts val="0"/>
              </a:spcAft>
              <a:buNone/>
            </a:pPr>
            <a:r>
              <a:rPr lang="en" sz="1500">
                <a:latin typeface="Times New Roman"/>
                <a:ea typeface="Times New Roman"/>
                <a:cs typeface="Times New Roman"/>
                <a:sym typeface="Times New Roman"/>
              </a:rPr>
              <a:t>df.loc[df['TotalCharges'].isnull(), 'TotalCharges'] = (</a:t>
            </a:r>
            <a:endParaRPr sz="1500">
              <a:latin typeface="Times New Roman"/>
              <a:ea typeface="Times New Roman"/>
              <a:cs typeface="Times New Roman"/>
              <a:sym typeface="Times New Roman"/>
            </a:endParaRPr>
          </a:p>
          <a:p>
            <a:pPr marL="0" lvl="0" indent="0" algn="l" rtl="0">
              <a:spcBef>
                <a:spcPts val="0"/>
              </a:spcBef>
              <a:spcAft>
                <a:spcPts val="0"/>
              </a:spcAft>
              <a:buNone/>
            </a:pPr>
            <a:r>
              <a:rPr lang="en" sz="1500">
                <a:latin typeface="Times New Roman"/>
                <a:ea typeface="Times New Roman"/>
                <a:cs typeface="Times New Roman"/>
                <a:sym typeface="Times New Roman"/>
              </a:rPr>
              <a:t>    df['MonthlyCharges'] * df['tenure']</a:t>
            </a:r>
            <a:endParaRPr sz="1500">
              <a:latin typeface="Times New Roman"/>
              <a:ea typeface="Times New Roman"/>
              <a:cs typeface="Times New Roman"/>
              <a:sym typeface="Times New Roman"/>
            </a:endParaRPr>
          </a:p>
          <a:p>
            <a:pPr marL="0" lvl="0" indent="0" algn="l" rtl="0">
              <a:spcBef>
                <a:spcPts val="0"/>
              </a:spcBef>
              <a:spcAft>
                <a:spcPts val="0"/>
              </a:spcAft>
              <a:buNone/>
            </a:pPr>
            <a:r>
              <a:rPr lang="en"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p>
            <a:pPr marL="0" lvl="0" indent="0" algn="l" rtl="0">
              <a:spcBef>
                <a:spcPts val="0"/>
              </a:spcBef>
              <a:spcAft>
                <a:spcPts val="0"/>
              </a:spcAft>
              <a:buNone/>
            </a:pPr>
            <a:r>
              <a:rPr lang="en" sz="1500">
                <a:latin typeface="Times New Roman"/>
                <a:ea typeface="Times New Roman"/>
                <a:cs typeface="Times New Roman"/>
                <a:sym typeface="Times New Roman"/>
              </a:rPr>
              <a:t>df.fillna(df.median(numeric_only=True), inplace=True)</a:t>
            </a:r>
            <a:endParaRPr sz="1500">
              <a:latin typeface="Times New Roman"/>
              <a:ea typeface="Times New Roman"/>
              <a:cs typeface="Times New Roman"/>
              <a:sym typeface="Times New Roman"/>
            </a:endParaRPr>
          </a:p>
          <a:p>
            <a:pPr marL="0" lvl="0" indent="0" algn="l" rtl="0">
              <a:spcBef>
                <a:spcPts val="0"/>
              </a:spcBef>
              <a:spcAft>
                <a:spcPts val="0"/>
              </a:spcAft>
              <a:buNone/>
            </a:pPr>
            <a:endParaRPr sz="1500">
              <a:latin typeface="Times New Roman"/>
              <a:ea typeface="Times New Roman"/>
              <a:cs typeface="Times New Roman"/>
              <a:sym typeface="Times New Roman"/>
            </a:endParaRPr>
          </a:p>
        </p:txBody>
      </p:sp>
      <p:sp>
        <p:nvSpPr>
          <p:cNvPr id="101" name="Google Shape;101;p18"/>
          <p:cNvSpPr txBox="1">
            <a:spLocks noGrp="1"/>
          </p:cNvSpPr>
          <p:nvPr>
            <p:ph type="body" idx="1"/>
          </p:nvPr>
        </p:nvSpPr>
        <p:spPr>
          <a:xfrm>
            <a:off x="4357200" y="0"/>
            <a:ext cx="4786800" cy="50568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200" b="1">
                <a:solidFill>
                  <a:srgbClr val="000000"/>
                </a:solidFill>
                <a:latin typeface="Times New Roman"/>
                <a:ea typeface="Times New Roman"/>
                <a:cs typeface="Times New Roman"/>
                <a:sym typeface="Times New Roman"/>
              </a:rPr>
              <a:t>Explanation</a:t>
            </a:r>
            <a:endParaRPr sz="1200" b="1">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b="1">
                <a:solidFill>
                  <a:srgbClr val="188038"/>
                </a:solidFill>
                <a:latin typeface="Times New Roman"/>
                <a:ea typeface="Times New Roman"/>
                <a:cs typeface="Times New Roman"/>
                <a:sym typeface="Times New Roman"/>
              </a:rPr>
              <a:t>pd.to_numeric(..., errors='coerce')</a:t>
            </a:r>
            <a:r>
              <a:rPr lang="en" sz="1200" b="1">
                <a:solidFill>
                  <a:srgbClr val="000000"/>
                </a:solidFill>
                <a:latin typeface="Times New Roman"/>
                <a:ea typeface="Times New Roman"/>
                <a:cs typeface="Times New Roman"/>
                <a:sym typeface="Times New Roman"/>
              </a:rPr>
              <a:t> turns invalid strings into NaN.</a:t>
            </a:r>
            <a:br>
              <a:rPr lang="en" sz="1200" b="1">
                <a:solidFill>
                  <a:srgbClr val="000000"/>
                </a:solidFill>
                <a:latin typeface="Times New Roman"/>
                <a:ea typeface="Times New Roman"/>
                <a:cs typeface="Times New Roman"/>
                <a:sym typeface="Times New Roman"/>
              </a:rPr>
            </a:br>
            <a:endParaRPr sz="1200" b="1">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b="1">
                <a:solidFill>
                  <a:srgbClr val="000000"/>
                </a:solidFill>
                <a:latin typeface="Times New Roman"/>
                <a:ea typeface="Times New Roman"/>
                <a:cs typeface="Times New Roman"/>
                <a:sym typeface="Times New Roman"/>
              </a:rPr>
              <a:t>We detect those NaN in </a:t>
            </a:r>
            <a:r>
              <a:rPr lang="en" sz="1200" b="1">
                <a:solidFill>
                  <a:srgbClr val="188038"/>
                </a:solidFill>
                <a:latin typeface="Times New Roman"/>
                <a:ea typeface="Times New Roman"/>
                <a:cs typeface="Times New Roman"/>
                <a:sym typeface="Times New Roman"/>
              </a:rPr>
              <a:t>TotalCharges</a:t>
            </a:r>
            <a:r>
              <a:rPr lang="en" sz="1200" b="1">
                <a:solidFill>
                  <a:srgbClr val="000000"/>
                </a:solidFill>
                <a:latin typeface="Times New Roman"/>
                <a:ea typeface="Times New Roman"/>
                <a:cs typeface="Times New Roman"/>
                <a:sym typeface="Times New Roman"/>
              </a:rPr>
              <a:t> and replace them with </a:t>
            </a:r>
            <a:r>
              <a:rPr lang="en" sz="1200" b="1">
                <a:solidFill>
                  <a:srgbClr val="188038"/>
                </a:solidFill>
                <a:latin typeface="Times New Roman"/>
                <a:ea typeface="Times New Roman"/>
                <a:cs typeface="Times New Roman"/>
                <a:sym typeface="Times New Roman"/>
              </a:rPr>
              <a:t>MonthlyCharges * tenure</a:t>
            </a:r>
            <a:r>
              <a:rPr lang="en" sz="1200" b="1">
                <a:solidFill>
                  <a:srgbClr val="000000"/>
                </a:solidFill>
                <a:latin typeface="Times New Roman"/>
                <a:ea typeface="Times New Roman"/>
                <a:cs typeface="Times New Roman"/>
                <a:sym typeface="Times New Roman"/>
              </a:rPr>
              <a:t>.</a:t>
            </a:r>
            <a:br>
              <a:rPr lang="en" sz="1200" b="1">
                <a:solidFill>
                  <a:srgbClr val="000000"/>
                </a:solidFill>
                <a:latin typeface="Times New Roman"/>
                <a:ea typeface="Times New Roman"/>
                <a:cs typeface="Times New Roman"/>
                <a:sym typeface="Times New Roman"/>
              </a:rPr>
            </a:br>
            <a:endParaRPr sz="1200" b="1">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b="1">
                <a:solidFill>
                  <a:srgbClr val="000000"/>
                </a:solidFill>
                <a:latin typeface="Times New Roman"/>
                <a:ea typeface="Times New Roman"/>
                <a:cs typeface="Times New Roman"/>
                <a:sym typeface="Times New Roman"/>
              </a:rPr>
              <a:t>For the rest:</a:t>
            </a:r>
            <a:br>
              <a:rPr lang="en" sz="1200" b="1">
                <a:solidFill>
                  <a:srgbClr val="000000"/>
                </a:solidFill>
                <a:latin typeface="Times New Roman"/>
                <a:ea typeface="Times New Roman"/>
                <a:cs typeface="Times New Roman"/>
                <a:sym typeface="Times New Roman"/>
              </a:rPr>
            </a:br>
            <a:endParaRPr sz="1200" b="1">
              <a:solidFill>
                <a:srgbClr val="000000"/>
              </a:solidFill>
              <a:latin typeface="Times New Roman"/>
              <a:ea typeface="Times New Roman"/>
              <a:cs typeface="Times New Roman"/>
              <a:sym typeface="Times New Roman"/>
            </a:endParaRPr>
          </a:p>
          <a:p>
            <a:pPr marL="914400" lvl="1" indent="-304800" algn="l" rtl="0">
              <a:spcBef>
                <a:spcPts val="0"/>
              </a:spcBef>
              <a:spcAft>
                <a:spcPts val="0"/>
              </a:spcAft>
              <a:buClr>
                <a:srgbClr val="000000"/>
              </a:buClr>
              <a:buSzPts val="1200"/>
              <a:buFont typeface="Times New Roman"/>
              <a:buChar char="○"/>
            </a:pPr>
            <a:r>
              <a:rPr lang="en" sz="1200" b="1">
                <a:solidFill>
                  <a:srgbClr val="188038"/>
                </a:solidFill>
                <a:latin typeface="Times New Roman"/>
                <a:ea typeface="Times New Roman"/>
                <a:cs typeface="Times New Roman"/>
                <a:sym typeface="Times New Roman"/>
              </a:rPr>
              <a:t>median</a:t>
            </a:r>
            <a:r>
              <a:rPr lang="en" sz="1200" b="1">
                <a:solidFill>
                  <a:srgbClr val="000000"/>
                </a:solidFill>
                <a:latin typeface="Times New Roman"/>
                <a:ea typeface="Times New Roman"/>
                <a:cs typeface="Times New Roman"/>
                <a:sym typeface="Times New Roman"/>
              </a:rPr>
              <a:t> for numeric columns (robust against outliers).</a:t>
            </a:r>
            <a:br>
              <a:rPr lang="en" sz="1200" b="1">
                <a:solidFill>
                  <a:srgbClr val="000000"/>
                </a:solidFill>
                <a:latin typeface="Times New Roman"/>
                <a:ea typeface="Times New Roman"/>
                <a:cs typeface="Times New Roman"/>
                <a:sym typeface="Times New Roman"/>
              </a:rPr>
            </a:br>
            <a:endParaRPr sz="1200" b="1">
              <a:solidFill>
                <a:srgbClr val="000000"/>
              </a:solidFill>
              <a:latin typeface="Times New Roman"/>
              <a:ea typeface="Times New Roman"/>
              <a:cs typeface="Times New Roman"/>
              <a:sym typeface="Times New Roman"/>
            </a:endParaRPr>
          </a:p>
          <a:p>
            <a:pPr marL="914400" lvl="1" indent="-304800" algn="l" rtl="0">
              <a:spcBef>
                <a:spcPts val="0"/>
              </a:spcBef>
              <a:spcAft>
                <a:spcPts val="0"/>
              </a:spcAft>
              <a:buClr>
                <a:srgbClr val="000000"/>
              </a:buClr>
              <a:buSzPts val="1200"/>
              <a:buFont typeface="Times New Roman"/>
              <a:buChar char="○"/>
            </a:pPr>
            <a:r>
              <a:rPr lang="en" sz="1200" b="1">
                <a:solidFill>
                  <a:srgbClr val="188038"/>
                </a:solidFill>
                <a:latin typeface="Times New Roman"/>
                <a:ea typeface="Times New Roman"/>
                <a:cs typeface="Times New Roman"/>
                <a:sym typeface="Times New Roman"/>
              </a:rPr>
              <a:t>mode</a:t>
            </a:r>
            <a:r>
              <a:rPr lang="en" sz="1200" b="1">
                <a:solidFill>
                  <a:srgbClr val="000000"/>
                </a:solidFill>
                <a:latin typeface="Times New Roman"/>
                <a:ea typeface="Times New Roman"/>
                <a:cs typeface="Times New Roman"/>
                <a:sym typeface="Times New Roman"/>
              </a:rPr>
              <a:t> for categorical columns (fills with the most frequent category).</a:t>
            </a:r>
            <a:endParaRPr/>
          </a:p>
        </p:txBody>
      </p:sp>
      <p:sp>
        <p:nvSpPr>
          <p:cNvPr id="102" name="Google Shape;10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0" y="0"/>
            <a:ext cx="4357200" cy="51435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300" b="1">
                <a:latin typeface="Times New Roman"/>
                <a:ea typeface="Times New Roman"/>
                <a:cs typeface="Times New Roman"/>
                <a:sym typeface="Times New Roman"/>
              </a:rPr>
              <a:t>2. Outlier Handling and Normalization</a:t>
            </a:r>
            <a:endParaRPr sz="1300" b="1">
              <a:latin typeface="Times New Roman"/>
              <a:ea typeface="Times New Roman"/>
              <a:cs typeface="Times New Roman"/>
              <a:sym typeface="Times New Roman"/>
            </a:endParaRPr>
          </a:p>
          <a:p>
            <a:pPr marL="457200" lvl="0" indent="-311150" algn="l" rtl="0">
              <a:lnSpc>
                <a:spcPct val="115000"/>
              </a:lnSpc>
              <a:spcBef>
                <a:spcPts val="1200"/>
              </a:spcBef>
              <a:spcAft>
                <a:spcPts val="0"/>
              </a:spcAft>
              <a:buSzPts val="1300"/>
              <a:buFont typeface="Times New Roman"/>
              <a:buChar char="●"/>
            </a:pPr>
            <a:r>
              <a:rPr lang="en" sz="1300">
                <a:latin typeface="Times New Roman"/>
                <a:ea typeface="Times New Roman"/>
                <a:cs typeface="Times New Roman"/>
                <a:sym typeface="Times New Roman"/>
              </a:rPr>
              <a:t>Outliers in numeric features like MonthlyCharges or TotalCharges were not extreme enough to distort the model, so we kept them.</a:t>
            </a:r>
            <a:br>
              <a:rPr lang="en" sz="1300">
                <a:latin typeface="Times New Roman"/>
                <a:ea typeface="Times New Roman"/>
                <a:cs typeface="Times New Roman"/>
                <a:sym typeface="Times New Roman"/>
              </a:rPr>
            </a:br>
            <a:endParaRPr sz="1300">
              <a:latin typeface="Times New Roman"/>
              <a:ea typeface="Times New Roman"/>
              <a:cs typeface="Times New Roman"/>
              <a:sym typeface="Times New Roman"/>
            </a:endParaRPr>
          </a:p>
          <a:p>
            <a:pPr marL="457200" lvl="0" indent="-311150" algn="l" rtl="0">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Instead of manually normalizing, we used scikit-learn StandardScaler inside the pipeline. This standardized all numeric values to have mean = 0 and standard deviation = 1, which is especially important for Logistic Regression.</a:t>
            </a:r>
            <a:endParaRPr sz="1300" b="1">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300" b="1">
                <a:latin typeface="Times New Roman"/>
                <a:ea typeface="Times New Roman"/>
                <a:cs typeface="Times New Roman"/>
                <a:sym typeface="Times New Roman"/>
              </a:rPr>
              <a:t>Code Example:</a:t>
            </a:r>
            <a:endParaRPr sz="1300" b="1">
              <a:latin typeface="Times New Roman"/>
              <a:ea typeface="Times New Roman"/>
              <a:cs typeface="Times New Roman"/>
              <a:sym typeface="Times New Roman"/>
            </a:endParaRPr>
          </a:p>
          <a:p>
            <a:pPr marL="0" lvl="0" indent="0" algn="l" rtl="0">
              <a:spcBef>
                <a:spcPts val="1200"/>
              </a:spcBef>
              <a:spcAft>
                <a:spcPts val="0"/>
              </a:spcAft>
              <a:buNone/>
            </a:pPr>
            <a:r>
              <a:rPr lang="en" sz="1300" b="1">
                <a:latin typeface="Times New Roman"/>
                <a:ea typeface="Times New Roman"/>
                <a:cs typeface="Times New Roman"/>
                <a:sym typeface="Times New Roman"/>
              </a:rPr>
              <a:t>from sklearn.preprocessing import StandardScaler</a:t>
            </a:r>
            <a:endParaRPr sz="1300" b="1">
              <a:latin typeface="Times New Roman"/>
              <a:ea typeface="Times New Roman"/>
              <a:cs typeface="Times New Roman"/>
              <a:sym typeface="Times New Roman"/>
            </a:endParaRPr>
          </a:p>
          <a:p>
            <a:pPr marL="0" lvl="0" indent="0" algn="l" rtl="0">
              <a:spcBef>
                <a:spcPts val="0"/>
              </a:spcBef>
              <a:spcAft>
                <a:spcPts val="0"/>
              </a:spcAft>
              <a:buNone/>
            </a:pPr>
            <a:r>
              <a:rPr lang="en" sz="1300" b="1">
                <a:latin typeface="Times New Roman"/>
                <a:ea typeface="Times New Roman"/>
                <a:cs typeface="Times New Roman"/>
                <a:sym typeface="Times New Roman"/>
              </a:rPr>
              <a:t>from sklearn.pipeline import Pipeline</a:t>
            </a:r>
            <a:endParaRPr sz="1300" b="1">
              <a:latin typeface="Times New Roman"/>
              <a:ea typeface="Times New Roman"/>
              <a:cs typeface="Times New Roman"/>
              <a:sym typeface="Times New Roman"/>
            </a:endParaRPr>
          </a:p>
          <a:p>
            <a:pPr marL="0" lvl="0" indent="0" algn="l" rtl="0">
              <a:spcBef>
                <a:spcPts val="0"/>
              </a:spcBef>
              <a:spcAft>
                <a:spcPts val="0"/>
              </a:spcAft>
              <a:buNone/>
            </a:pPr>
            <a:endParaRPr sz="1300" b="1">
              <a:latin typeface="Times New Roman"/>
              <a:ea typeface="Times New Roman"/>
              <a:cs typeface="Times New Roman"/>
              <a:sym typeface="Times New Roman"/>
            </a:endParaRPr>
          </a:p>
          <a:p>
            <a:pPr marL="0" lvl="0" indent="0" algn="l" rtl="0">
              <a:spcBef>
                <a:spcPts val="0"/>
              </a:spcBef>
              <a:spcAft>
                <a:spcPts val="0"/>
              </a:spcAft>
              <a:buNone/>
            </a:pPr>
            <a:r>
              <a:rPr lang="en" sz="1300" b="1">
                <a:latin typeface="Times New Roman"/>
                <a:ea typeface="Times New Roman"/>
                <a:cs typeface="Times New Roman"/>
                <a:sym typeface="Times New Roman"/>
              </a:rPr>
              <a:t>lr_model = Pipeline([</a:t>
            </a:r>
            <a:endParaRPr sz="1300" b="1">
              <a:latin typeface="Times New Roman"/>
              <a:ea typeface="Times New Roman"/>
              <a:cs typeface="Times New Roman"/>
              <a:sym typeface="Times New Roman"/>
            </a:endParaRPr>
          </a:p>
          <a:p>
            <a:pPr marL="0" lvl="0" indent="0" algn="l" rtl="0">
              <a:spcBef>
                <a:spcPts val="0"/>
              </a:spcBef>
              <a:spcAft>
                <a:spcPts val="0"/>
              </a:spcAft>
              <a:buNone/>
            </a:pPr>
            <a:r>
              <a:rPr lang="en" sz="1300" b="1">
                <a:latin typeface="Times New Roman"/>
                <a:ea typeface="Times New Roman"/>
                <a:cs typeface="Times New Roman"/>
                <a:sym typeface="Times New Roman"/>
              </a:rPr>
              <a:t>    ('scaler', StandardScaler(with_mean=False)),</a:t>
            </a:r>
            <a:endParaRPr sz="1300" b="1">
              <a:latin typeface="Times New Roman"/>
              <a:ea typeface="Times New Roman"/>
              <a:cs typeface="Times New Roman"/>
              <a:sym typeface="Times New Roman"/>
            </a:endParaRPr>
          </a:p>
          <a:p>
            <a:pPr marL="0" lvl="0" indent="0" algn="l" rtl="0">
              <a:spcBef>
                <a:spcPts val="0"/>
              </a:spcBef>
              <a:spcAft>
                <a:spcPts val="0"/>
              </a:spcAft>
              <a:buNone/>
            </a:pPr>
            <a:r>
              <a:rPr lang="en" sz="1300" b="1">
                <a:latin typeface="Times New Roman"/>
                <a:ea typeface="Times New Roman"/>
                <a:cs typeface="Times New Roman"/>
                <a:sym typeface="Times New Roman"/>
              </a:rPr>
              <a:t>    ('clf', LogisticRegression(class_weight='balanced', max_iter=1000))</a:t>
            </a:r>
            <a:endParaRPr sz="1300" b="1">
              <a:latin typeface="Times New Roman"/>
              <a:ea typeface="Times New Roman"/>
              <a:cs typeface="Times New Roman"/>
              <a:sym typeface="Times New Roman"/>
            </a:endParaRPr>
          </a:p>
          <a:p>
            <a:pPr marL="0" lvl="0" indent="0" algn="l" rtl="0">
              <a:spcBef>
                <a:spcPts val="0"/>
              </a:spcBef>
              <a:spcAft>
                <a:spcPts val="0"/>
              </a:spcAft>
              <a:buNone/>
            </a:pPr>
            <a:r>
              <a:rPr lang="en" sz="1300" b="1">
                <a:latin typeface="Times New Roman"/>
                <a:ea typeface="Times New Roman"/>
                <a:cs typeface="Times New Roman"/>
                <a:sym typeface="Times New Roman"/>
              </a:rPr>
              <a:t>])</a:t>
            </a:r>
            <a:endParaRPr sz="1300">
              <a:latin typeface="Times New Roman"/>
              <a:ea typeface="Times New Roman"/>
              <a:cs typeface="Times New Roman"/>
              <a:sym typeface="Times New Roman"/>
            </a:endParaRPr>
          </a:p>
        </p:txBody>
      </p:sp>
      <p:sp>
        <p:nvSpPr>
          <p:cNvPr id="108" name="Google Shape;108;p19"/>
          <p:cNvSpPr txBox="1">
            <a:spLocks noGrp="1"/>
          </p:cNvSpPr>
          <p:nvPr>
            <p:ph type="body" idx="1"/>
          </p:nvPr>
        </p:nvSpPr>
        <p:spPr>
          <a:xfrm>
            <a:off x="4357200" y="0"/>
            <a:ext cx="4786800" cy="50568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200" b="1">
                <a:solidFill>
                  <a:srgbClr val="000000"/>
                </a:solidFill>
                <a:latin typeface="Times New Roman"/>
                <a:ea typeface="Times New Roman"/>
                <a:cs typeface="Times New Roman"/>
                <a:sym typeface="Times New Roman"/>
              </a:rPr>
              <a:t>Explanation</a:t>
            </a:r>
            <a:endParaRPr sz="1200" b="1">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StandardScaler ensures fair comparison across features. For example, </a:t>
            </a:r>
            <a:r>
              <a:rPr lang="en" sz="1200">
                <a:solidFill>
                  <a:srgbClr val="188038"/>
                </a:solidFill>
                <a:latin typeface="Times New Roman"/>
                <a:ea typeface="Times New Roman"/>
                <a:cs typeface="Times New Roman"/>
                <a:sym typeface="Times New Roman"/>
              </a:rPr>
              <a:t>MonthlyCharges</a:t>
            </a:r>
            <a:r>
              <a:rPr lang="en" sz="1200">
                <a:solidFill>
                  <a:srgbClr val="000000"/>
                </a:solidFill>
                <a:latin typeface="Times New Roman"/>
                <a:ea typeface="Times New Roman"/>
                <a:cs typeface="Times New Roman"/>
                <a:sym typeface="Times New Roman"/>
              </a:rPr>
              <a:t> ranges up to 120, while tenure goes up to 72. Scaling prevents the larger numbers from dominating the model.</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Random Forest and Histogram Gradient Boosting do not require scaling, but we applied it to Logistic Regression.</a:t>
            </a:r>
            <a:endParaRPr/>
          </a:p>
        </p:txBody>
      </p:sp>
      <p:sp>
        <p:nvSpPr>
          <p:cNvPr id="109" name="Google Shape;109;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0" lvl="0" indent="0" algn="ctr" rtl="0">
              <a:lnSpc>
                <a:spcPct val="115000"/>
              </a:lnSpc>
              <a:spcBef>
                <a:spcPts val="1400"/>
              </a:spcBef>
              <a:spcAft>
                <a:spcPts val="400"/>
              </a:spcAft>
              <a:buNone/>
            </a:pPr>
            <a:r>
              <a:rPr lang="en" sz="1900">
                <a:latin typeface="Times New Roman"/>
                <a:ea typeface="Times New Roman"/>
                <a:cs typeface="Times New Roman"/>
                <a:sym typeface="Times New Roman"/>
              </a:rPr>
              <a:t>3. Why This Step Was Important</a:t>
            </a:r>
            <a:endParaRPr sz="1900">
              <a:latin typeface="Times New Roman"/>
              <a:ea typeface="Times New Roman"/>
              <a:cs typeface="Times New Roman"/>
              <a:sym typeface="Times New Roman"/>
            </a:endParaRPr>
          </a:p>
        </p:txBody>
      </p:sp>
      <p:sp>
        <p:nvSpPr>
          <p:cNvPr id="115" name="Google Shape;115;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sp>
        <p:nvSpPr>
          <p:cNvPr id="116" name="Google Shape;116;p20"/>
          <p:cNvSpPr txBox="1"/>
          <p:nvPr/>
        </p:nvSpPr>
        <p:spPr>
          <a:xfrm>
            <a:off x="874850" y="1485725"/>
            <a:ext cx="7480500" cy="3177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300">
                <a:latin typeface="Times New Roman"/>
                <a:ea typeface="Times New Roman"/>
                <a:cs typeface="Times New Roman"/>
                <a:sym typeface="Times New Roman"/>
              </a:rPr>
              <a:t>If we skipped cleaning:</a:t>
            </a:r>
            <a:endParaRPr sz="1300">
              <a:latin typeface="Times New Roman"/>
              <a:ea typeface="Times New Roman"/>
              <a:cs typeface="Times New Roman"/>
              <a:sym typeface="Times New Roman"/>
            </a:endParaRPr>
          </a:p>
          <a:p>
            <a:pPr marL="457200" lvl="0" indent="-311150" algn="l" rtl="0">
              <a:lnSpc>
                <a:spcPct val="115000"/>
              </a:lnSpc>
              <a:spcBef>
                <a:spcPts val="1200"/>
              </a:spcBef>
              <a:spcAft>
                <a:spcPts val="0"/>
              </a:spcAft>
              <a:buSzPts val="1300"/>
              <a:buFont typeface="Times New Roman"/>
              <a:buChar char="●"/>
            </a:pPr>
            <a:r>
              <a:rPr lang="en" sz="1300">
                <a:latin typeface="Times New Roman"/>
                <a:ea typeface="Times New Roman"/>
                <a:cs typeface="Times New Roman"/>
                <a:sym typeface="Times New Roman"/>
              </a:rPr>
              <a:t>Models would fail to train on te</a:t>
            </a:r>
            <a:r>
              <a:rPr lang="en" sz="1300">
                <a:solidFill>
                  <a:schemeClr val="dk1"/>
                </a:solidFill>
                <a:latin typeface="Times New Roman"/>
                <a:ea typeface="Times New Roman"/>
                <a:cs typeface="Times New Roman"/>
                <a:sym typeface="Times New Roman"/>
              </a:rPr>
              <a:t>xt-based TotalCharges.</a:t>
            </a:r>
            <a:br>
              <a:rPr lang="en" sz="1300">
                <a:latin typeface="Times New Roman"/>
                <a:ea typeface="Times New Roman"/>
                <a:cs typeface="Times New Roman"/>
                <a:sym typeface="Times New Roman"/>
              </a:rPr>
            </a:br>
            <a:endParaRPr sz="1300">
              <a:latin typeface="Times New Roman"/>
              <a:ea typeface="Times New Roman"/>
              <a:cs typeface="Times New Roman"/>
              <a:sym typeface="Times New Roman"/>
            </a:endParaRPr>
          </a:p>
          <a:p>
            <a:pPr marL="457200" lvl="0" indent="-311150" algn="l" rtl="0">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NaN values would break the pipeline.</a:t>
            </a:r>
            <a:br>
              <a:rPr lang="en" sz="1300">
                <a:latin typeface="Times New Roman"/>
                <a:ea typeface="Times New Roman"/>
                <a:cs typeface="Times New Roman"/>
                <a:sym typeface="Times New Roman"/>
              </a:rPr>
            </a:br>
            <a:endParaRPr sz="1300">
              <a:latin typeface="Times New Roman"/>
              <a:ea typeface="Times New Roman"/>
              <a:cs typeface="Times New Roman"/>
              <a:sym typeface="Times New Roman"/>
            </a:endParaRPr>
          </a:p>
          <a:p>
            <a:pPr marL="457200" lvl="0" indent="-311150" algn="l" rtl="0">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Unscaled features would bias Logistic Regression.</a:t>
            </a:r>
            <a:endParaRPr sz="1300">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sz="1300">
                <a:latin typeface="Times New Roman"/>
                <a:ea typeface="Times New Roman"/>
                <a:cs typeface="Times New Roman"/>
                <a:sym typeface="Times New Roman"/>
              </a:rPr>
              <a:t>By completing these steps, we made sure the dataset was complete, consistent, and </a:t>
            </a:r>
            <a:r>
              <a:rPr lang="en" sz="1300" b="1">
                <a:latin typeface="Times New Roman"/>
                <a:ea typeface="Times New Roman"/>
                <a:cs typeface="Times New Roman"/>
                <a:sym typeface="Times New Roman"/>
              </a:rPr>
              <a:t>machine-readable.</a:t>
            </a:r>
            <a:endParaRPr sz="1300">
              <a:solidFill>
                <a:schemeClr val="dk2"/>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0" lvl="0" indent="0" algn="ctr" rtl="0">
              <a:lnSpc>
                <a:spcPct val="115000"/>
              </a:lnSpc>
              <a:spcBef>
                <a:spcPts val="1400"/>
              </a:spcBef>
              <a:spcAft>
                <a:spcPts val="400"/>
              </a:spcAft>
              <a:buNone/>
            </a:pPr>
            <a:r>
              <a:rPr lang="en" sz="1900">
                <a:latin typeface="Times New Roman"/>
                <a:ea typeface="Times New Roman"/>
                <a:cs typeface="Times New Roman"/>
                <a:sym typeface="Times New Roman"/>
              </a:rPr>
              <a:t>4. Before vs After Cleaning Table</a:t>
            </a:r>
            <a:endParaRPr sz="1900">
              <a:latin typeface="Times New Roman"/>
              <a:ea typeface="Times New Roman"/>
              <a:cs typeface="Times New Roman"/>
              <a:sym typeface="Times New Roman"/>
            </a:endParaRPr>
          </a:p>
        </p:txBody>
      </p:sp>
      <p:sp>
        <p:nvSpPr>
          <p:cNvPr id="122" name="Google Shape;122;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sp>
        <p:nvSpPr>
          <p:cNvPr id="123" name="Google Shape;123;p21"/>
          <p:cNvSpPr txBox="1"/>
          <p:nvPr/>
        </p:nvSpPr>
        <p:spPr>
          <a:xfrm>
            <a:off x="50" y="2847600"/>
            <a:ext cx="9144000" cy="2295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b="1" dirty="0">
                <a:solidFill>
                  <a:schemeClr val="dk1"/>
                </a:solidFill>
                <a:latin typeface="Times New Roman"/>
                <a:ea typeface="Times New Roman"/>
                <a:cs typeface="Times New Roman"/>
                <a:sym typeface="Times New Roman"/>
              </a:rPr>
              <a:t>Explanation:</a:t>
            </a:r>
            <a:endParaRPr sz="1100" b="1" dirty="0">
              <a:solidFill>
                <a:schemeClr val="dk1"/>
              </a:solidFill>
              <a:latin typeface="Times New Roman"/>
              <a:ea typeface="Times New Roman"/>
              <a:cs typeface="Times New Roman"/>
              <a:sym typeface="Times New Roman"/>
            </a:endParaRPr>
          </a:p>
          <a:p>
            <a:pPr marL="158750" lvl="0" algn="l" rtl="0">
              <a:lnSpc>
                <a:spcPct val="115000"/>
              </a:lnSpc>
              <a:spcBef>
                <a:spcPts val="1200"/>
              </a:spcBef>
              <a:spcAft>
                <a:spcPts val="0"/>
              </a:spcAft>
              <a:buClr>
                <a:schemeClr val="dk1"/>
              </a:buClr>
              <a:buSzPts val="1100"/>
            </a:pPr>
            <a:r>
              <a:rPr lang="en" sz="1100" dirty="0">
                <a:solidFill>
                  <a:schemeClr val="dk1"/>
                </a:solidFill>
                <a:latin typeface="Times New Roman"/>
                <a:ea typeface="Times New Roman"/>
                <a:cs typeface="Times New Roman"/>
                <a:sym typeface="Times New Roman"/>
              </a:rPr>
              <a:t>In the Before_TotalCharges column, some values are blank (for example, customers with tenure = 0). After cleaning, these missing values were correctly replaced with 0.0 in After_TotalCharges, while all other columns remained unchanged. This verifies that our cleaning step only targeted problematic values in TotalCharges and left valid data intact.As a result, the dataset is now fully numeric, with no missing values, and is suitable for modeling without errors.</a:t>
            </a:r>
            <a:endParaRPr sz="1100" dirty="0">
              <a:solidFill>
                <a:schemeClr val="dk1"/>
              </a:solidFill>
              <a:latin typeface="Times New Roman"/>
              <a:ea typeface="Times New Roman"/>
              <a:cs typeface="Times New Roman"/>
              <a:sym typeface="Times New Roman"/>
            </a:endParaRPr>
          </a:p>
        </p:txBody>
      </p:sp>
      <p:pic>
        <p:nvPicPr>
          <p:cNvPr id="124" name="Google Shape;124;p21"/>
          <p:cNvPicPr preferRelativeResize="0"/>
          <p:nvPr/>
        </p:nvPicPr>
        <p:blipFill>
          <a:blip r:embed="rId3">
            <a:alphaModFix/>
          </a:blip>
          <a:stretch>
            <a:fillRect/>
          </a:stretch>
        </p:blipFill>
        <p:spPr>
          <a:xfrm>
            <a:off x="71725" y="1291200"/>
            <a:ext cx="9011125" cy="1556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128"/>
        <p:cNvGrpSpPr/>
        <p:nvPr/>
      </p:nvGrpSpPr>
      <p:grpSpPr>
        <a:xfrm>
          <a:off x="0" y="0"/>
          <a:ext cx="0" cy="0"/>
          <a:chOff x="0" y="0"/>
          <a:chExt cx="0" cy="0"/>
        </a:xfrm>
      </p:grpSpPr>
      <p:sp>
        <p:nvSpPr>
          <p:cNvPr id="129" name="Google Shape;129;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sp>
        <p:nvSpPr>
          <p:cNvPr id="130" name="Google Shape;130;p22"/>
          <p:cNvSpPr txBox="1">
            <a:spLocks noGrp="1"/>
          </p:cNvSpPr>
          <p:nvPr>
            <p:ph type="title"/>
          </p:nvPr>
        </p:nvSpPr>
        <p:spPr>
          <a:xfrm>
            <a:off x="0" y="198625"/>
            <a:ext cx="4308900" cy="2508900"/>
          </a:xfrm>
          <a:prstGeom prst="rect">
            <a:avLst/>
          </a:prstGeom>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ctr" rtl="0">
              <a:lnSpc>
                <a:spcPct val="100000"/>
              </a:lnSpc>
              <a:spcBef>
                <a:spcPts val="0"/>
              </a:spcBef>
              <a:spcAft>
                <a:spcPts val="0"/>
              </a:spcAft>
              <a:buNone/>
            </a:pPr>
            <a:r>
              <a:rPr lang="en" sz="1500" b="1">
                <a:latin typeface="Times New Roman"/>
                <a:ea typeface="Times New Roman"/>
                <a:cs typeface="Times New Roman"/>
                <a:sym typeface="Times New Roman"/>
              </a:rPr>
              <a:t>Section 3: Feature Engineering (32 variables)</a:t>
            </a:r>
            <a:endParaRPr sz="15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457200" lvl="0" indent="-297180" algn="l" rtl="0">
              <a:spcBef>
                <a:spcPts val="1200"/>
              </a:spcBef>
              <a:spcAft>
                <a:spcPts val="0"/>
              </a:spcAft>
              <a:buSzPct val="100000"/>
              <a:buFont typeface="Times New Roman"/>
              <a:buChar char="●"/>
            </a:pPr>
            <a:r>
              <a:rPr lang="en" sz="1200" b="1">
                <a:latin typeface="Times New Roman"/>
                <a:ea typeface="Times New Roman"/>
                <a:cs typeface="Times New Roman"/>
                <a:sym typeface="Times New Roman"/>
              </a:rPr>
              <a:t>7 numeric/binary + 25 one-hot encoded categorical features.</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297180" algn="l" rtl="0">
              <a:spcBef>
                <a:spcPts val="0"/>
              </a:spcBef>
              <a:spcAft>
                <a:spcPts val="0"/>
              </a:spcAft>
              <a:buSzPct val="100000"/>
              <a:buFont typeface="Times New Roman"/>
              <a:buChar char="●"/>
            </a:pPr>
            <a:r>
              <a:rPr lang="en" sz="1200" b="1">
                <a:latin typeface="Times New Roman"/>
                <a:ea typeface="Times New Roman"/>
                <a:cs typeface="Times New Roman"/>
                <a:sym typeface="Times New Roman"/>
              </a:rPr>
              <a:t>Why encoding is necessary.</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297180" algn="l" rtl="0">
              <a:spcBef>
                <a:spcPts val="0"/>
              </a:spcBef>
              <a:spcAft>
                <a:spcPts val="0"/>
              </a:spcAft>
              <a:buSzPct val="100000"/>
              <a:buFont typeface="Times New Roman"/>
              <a:buChar char="●"/>
            </a:pPr>
            <a:r>
              <a:rPr lang="en" sz="1200" b="1">
                <a:latin typeface="Times New Roman"/>
                <a:ea typeface="Times New Roman"/>
                <a:cs typeface="Times New Roman"/>
                <a:sym typeface="Times New Roman"/>
              </a:rPr>
              <a:t>Final dataset shape.</a:t>
            </a:r>
            <a:endParaRPr sz="1200" b="1">
              <a:latin typeface="Times New Roman"/>
              <a:ea typeface="Times New Roman"/>
              <a:cs typeface="Times New Roman"/>
              <a:sym typeface="Times New Roman"/>
            </a:endParaRPr>
          </a:p>
        </p:txBody>
      </p:sp>
      <p:sp>
        <p:nvSpPr>
          <p:cNvPr id="131" name="Google Shape;131;p22"/>
          <p:cNvSpPr txBox="1">
            <a:spLocks noGrp="1"/>
          </p:cNvSpPr>
          <p:nvPr>
            <p:ph type="body" idx="1"/>
          </p:nvPr>
        </p:nvSpPr>
        <p:spPr>
          <a:xfrm>
            <a:off x="4308925" y="0"/>
            <a:ext cx="4835100" cy="5143500"/>
          </a:xfrm>
          <a:prstGeom prst="rect">
            <a:avLst/>
          </a:prstGeom>
        </p:spPr>
        <p:txBody>
          <a:bodyPr spcFirstLastPara="1" wrap="square" lIns="91425" tIns="91425" rIns="91425" bIns="91425" anchor="ctr" anchorCtr="0">
            <a:normAutofit/>
          </a:bodyPr>
          <a:lstStyle/>
          <a:p>
            <a:pPr marL="0" lvl="0" indent="0" algn="l" rtl="0">
              <a:spcBef>
                <a:spcPts val="1200"/>
              </a:spcBef>
              <a:spcAft>
                <a:spcPts val="0"/>
              </a:spcAft>
              <a:buNone/>
            </a:pPr>
            <a:r>
              <a:rPr lang="en">
                <a:solidFill>
                  <a:srgbClr val="000000"/>
                </a:solidFill>
                <a:latin typeface="Times New Roman"/>
                <a:ea typeface="Times New Roman"/>
                <a:cs typeface="Times New Roman"/>
                <a:sym typeface="Times New Roman"/>
              </a:rPr>
              <a:t>After cleaning, we engineered features and converted categories to numeric so the models could learn effectively. This section shows the exact code from our final script and explains what each part does. The outcome is a modeling table with </a:t>
            </a:r>
            <a:r>
              <a:rPr lang="en" b="1">
                <a:solidFill>
                  <a:srgbClr val="000000"/>
                </a:solidFill>
                <a:latin typeface="Times New Roman"/>
                <a:ea typeface="Times New Roman"/>
                <a:cs typeface="Times New Roman"/>
                <a:sym typeface="Times New Roman"/>
              </a:rPr>
              <a:t>32 input variables</a:t>
            </a:r>
            <a:r>
              <a:rPr lang="en">
                <a:solidFill>
                  <a:srgbClr val="000000"/>
                </a:solidFill>
                <a:latin typeface="Times New Roman"/>
                <a:ea typeface="Times New Roman"/>
                <a:cs typeface="Times New Roman"/>
                <a:sym typeface="Times New Roman"/>
              </a:rPr>
              <a:t>.</a:t>
            </a:r>
            <a:endParaRPr>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endParaRPr>
              <a:solidFill>
                <a:srgbClr val="000000"/>
              </a:solidFill>
              <a:latin typeface="Times New Roman"/>
              <a:ea typeface="Times New Roman"/>
              <a:cs typeface="Times New Roman"/>
              <a:sym typeface="Times New Roman"/>
            </a:endParaRPr>
          </a:p>
          <a:p>
            <a:pPr marL="0" lvl="0" indent="0" algn="just" rtl="0">
              <a:spcBef>
                <a:spcPts val="1200"/>
              </a:spcBef>
              <a:spcAft>
                <a:spcPts val="1200"/>
              </a:spcAft>
              <a:buNone/>
            </a:pP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3"/>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0" lvl="0" indent="0" algn="ctr" rtl="0">
              <a:lnSpc>
                <a:spcPct val="115000"/>
              </a:lnSpc>
              <a:spcBef>
                <a:spcPts val="1400"/>
              </a:spcBef>
              <a:spcAft>
                <a:spcPts val="0"/>
              </a:spcAft>
              <a:buNone/>
            </a:pPr>
            <a:r>
              <a:rPr lang="en" sz="1900">
                <a:latin typeface="Times New Roman"/>
                <a:ea typeface="Times New Roman"/>
                <a:cs typeface="Times New Roman"/>
                <a:sym typeface="Times New Roman"/>
              </a:rPr>
              <a:t>3.1 Discretization features added</a:t>
            </a:r>
            <a:endParaRPr sz="1900">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sz="1300">
                <a:latin typeface="Times New Roman"/>
                <a:ea typeface="Times New Roman"/>
                <a:cs typeface="Times New Roman"/>
                <a:sym typeface="Times New Roman"/>
              </a:rPr>
              <a:t>We created grouped versions of tenure and monthly charges for interpretability and stability in linear models.</a:t>
            </a:r>
            <a:endParaRPr sz="2000">
              <a:latin typeface="Times New Roman"/>
              <a:ea typeface="Times New Roman"/>
              <a:cs typeface="Times New Roman"/>
              <a:sym typeface="Times New Roman"/>
            </a:endParaRPr>
          </a:p>
        </p:txBody>
      </p:sp>
      <p:sp>
        <p:nvSpPr>
          <p:cNvPr id="137" name="Google Shape;137;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11</a:t>
            </a:fld>
            <a:endParaRPr/>
          </a:p>
        </p:txBody>
      </p:sp>
      <p:sp>
        <p:nvSpPr>
          <p:cNvPr id="138" name="Google Shape;138;p23"/>
          <p:cNvSpPr txBox="1"/>
          <p:nvPr/>
        </p:nvSpPr>
        <p:spPr>
          <a:xfrm>
            <a:off x="0" y="1291200"/>
            <a:ext cx="4572000" cy="3852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200"/>
              </a:spcBef>
              <a:spcAft>
                <a:spcPts val="0"/>
              </a:spcAft>
              <a:buNone/>
            </a:pPr>
            <a:r>
              <a:rPr lang="en" sz="900" b="1" dirty="0">
                <a:solidFill>
                  <a:schemeClr val="dk1"/>
                </a:solidFill>
                <a:latin typeface="Times New Roman"/>
                <a:ea typeface="Times New Roman"/>
                <a:cs typeface="Times New Roman"/>
                <a:sym typeface="Times New Roman"/>
              </a:rPr>
              <a:t>Code from churn_predictor.py:</a:t>
            </a:r>
            <a:endParaRPr sz="900" b="1" dirty="0">
              <a:solidFill>
                <a:schemeClr val="dk1"/>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r>
              <a:rPr lang="en" sz="900" dirty="0">
                <a:solidFill>
                  <a:schemeClr val="dk1"/>
                </a:solidFill>
                <a:latin typeface="Times New Roman"/>
                <a:ea typeface="Times New Roman"/>
                <a:cs typeface="Times New Roman"/>
                <a:sym typeface="Times New Roman"/>
              </a:rPr>
              <a:t>def discretize_tenure_and_monthly(df: pd.DataFrame) -&gt; pd.DataFrame:</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A4:  Discretization for interpretability and linear-model stability.</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Decisions &amp; actions:</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 tenure_group ∈ {up_to_1yr, 1_to_2yrs, 2_to_4yrs, 4_to_6yrs}</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 monthly_tier ∈ {low, medium, high} using 33%/66% quantiles of MonthlyCharges</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df = df.copy()</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 Tenure bins</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tenure_bins = [-0.1, 12, 24, 48, 72]</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tenure_labels = ["up_to_1yr", "1_to_2yrs", "2_to_4yrs", "4_to_6yrs"]</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df["tenure_group"] = pd.cut(df["tenure"], bins=tenure_bins, labels=tenure_labels)</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 Monthly charges tiers by quantiles</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q33, q66 = df["MonthlyCharges"].quantile([0.33, 0.66])</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df["monthly_tier"] = pd.cut(</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df["MonthlyCharges"],</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bins=[-np.inf, q33, q66, np.inf],</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labels=["low", "medium", "high"]</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a:t>
            </a:r>
            <a:endParaRPr sz="900" dirty="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900" dirty="0">
                <a:solidFill>
                  <a:schemeClr val="dk1"/>
                </a:solidFill>
                <a:latin typeface="Times New Roman"/>
                <a:ea typeface="Times New Roman"/>
                <a:cs typeface="Times New Roman"/>
                <a:sym typeface="Times New Roman"/>
              </a:rPr>
              <a:t>    return df</a:t>
            </a:r>
            <a:endParaRPr sz="900" dirty="0">
              <a:solidFill>
                <a:schemeClr val="dk1"/>
              </a:solidFill>
              <a:latin typeface="Times New Roman"/>
              <a:ea typeface="Times New Roman"/>
              <a:cs typeface="Times New Roman"/>
              <a:sym typeface="Times New Roman"/>
            </a:endParaRPr>
          </a:p>
        </p:txBody>
      </p:sp>
      <p:sp>
        <p:nvSpPr>
          <p:cNvPr id="139" name="Google Shape;139;p23"/>
          <p:cNvSpPr txBox="1"/>
          <p:nvPr/>
        </p:nvSpPr>
        <p:spPr>
          <a:xfrm>
            <a:off x="4572000" y="1291200"/>
            <a:ext cx="4572000" cy="3870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endParaRPr sz="1200" b="1">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200" b="1">
                <a:latin typeface="Times New Roman"/>
                <a:ea typeface="Times New Roman"/>
                <a:cs typeface="Times New Roman"/>
                <a:sym typeface="Times New Roman"/>
              </a:rPr>
              <a:t>Explanation</a:t>
            </a:r>
            <a:endParaRPr sz="1200" b="1">
              <a:latin typeface="Times New Roman"/>
              <a:ea typeface="Times New Roman"/>
              <a:cs typeface="Times New Roman"/>
              <a:sym typeface="Times New Roman"/>
            </a:endParaRPr>
          </a:p>
          <a:p>
            <a:pPr marL="457200" lvl="0" indent="-304800" algn="l" rtl="0">
              <a:lnSpc>
                <a:spcPct val="115000"/>
              </a:lnSpc>
              <a:spcBef>
                <a:spcPts val="1200"/>
              </a:spcBef>
              <a:spcAft>
                <a:spcPts val="0"/>
              </a:spcAft>
              <a:buSzPts val="1200"/>
              <a:buFont typeface="Times New Roman"/>
              <a:buChar char="●"/>
            </a:pPr>
            <a:r>
              <a:rPr lang="en" sz="1200">
                <a:solidFill>
                  <a:srgbClr val="188038"/>
                </a:solidFill>
                <a:latin typeface="Times New Roman"/>
                <a:ea typeface="Times New Roman"/>
                <a:cs typeface="Times New Roman"/>
                <a:sym typeface="Times New Roman"/>
              </a:rPr>
              <a:t>tenure_group</a:t>
            </a:r>
            <a:r>
              <a:rPr lang="en" sz="1200">
                <a:latin typeface="Times New Roman"/>
                <a:ea typeface="Times New Roman"/>
                <a:cs typeface="Times New Roman"/>
                <a:sym typeface="Times New Roman"/>
              </a:rPr>
              <a:t> has four labels. During encoding we will get three dummy columns because we drop the first category to avoid redundancy.</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solidFill>
                  <a:srgbClr val="188038"/>
                </a:solidFill>
                <a:latin typeface="Times New Roman"/>
                <a:ea typeface="Times New Roman"/>
                <a:cs typeface="Times New Roman"/>
                <a:sym typeface="Times New Roman"/>
              </a:rPr>
              <a:t>monthly_tier</a:t>
            </a:r>
            <a:r>
              <a:rPr lang="en" sz="1200">
                <a:latin typeface="Times New Roman"/>
                <a:ea typeface="Times New Roman"/>
                <a:cs typeface="Times New Roman"/>
                <a:sym typeface="Times New Roman"/>
              </a:rPr>
              <a:t> splits MonthlyCharges at the 33 percent and 66 percent quantiles into low, medium, high. During encoding we will get two dummies because we drop the first category</a:t>
            </a:r>
            <a:endParaRPr sz="1200">
              <a:latin typeface="Times New Roman"/>
              <a:ea typeface="Times New Roman"/>
              <a:cs typeface="Times New Roman"/>
              <a:sym typeface="Times New Roman"/>
            </a:endParaRPr>
          </a:p>
          <a:p>
            <a:pPr marL="0" lvl="0" indent="0" algn="l" rtl="0">
              <a:spcBef>
                <a:spcPts val="1200"/>
              </a:spcBef>
              <a:spcAft>
                <a:spcPts val="0"/>
              </a:spcAft>
              <a:buNone/>
            </a:pPr>
            <a:endParaRPr sz="1300">
              <a:solidFill>
                <a:schemeClr val="dk2"/>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24"/>
          <p:cNvPicPr preferRelativeResize="0"/>
          <p:nvPr/>
        </p:nvPicPr>
        <p:blipFill>
          <a:blip r:embed="rId3">
            <a:alphaModFix/>
          </a:blip>
          <a:stretch>
            <a:fillRect/>
          </a:stretch>
        </p:blipFill>
        <p:spPr>
          <a:xfrm>
            <a:off x="170150" y="216550"/>
            <a:ext cx="8706825" cy="3359000"/>
          </a:xfrm>
          <a:prstGeom prst="rect">
            <a:avLst/>
          </a:prstGeom>
          <a:noFill/>
          <a:ln>
            <a:noFill/>
          </a:ln>
        </p:spPr>
      </p:pic>
      <p:sp>
        <p:nvSpPr>
          <p:cNvPr id="145" name="Google Shape;145;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sp>
        <p:nvSpPr>
          <p:cNvPr id="146" name="Google Shape;146;p24"/>
          <p:cNvSpPr txBox="1"/>
          <p:nvPr/>
        </p:nvSpPr>
        <p:spPr>
          <a:xfrm>
            <a:off x="0" y="3621050"/>
            <a:ext cx="9144000" cy="152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latin typeface="Times New Roman"/>
                <a:ea typeface="Times New Roman"/>
                <a:cs typeface="Times New Roman"/>
                <a:sym typeface="Times New Roman"/>
              </a:rPr>
              <a:t>This screenshot shows how continuous variables tenure and MonthlyCharges were discretized into categorical groupings.</a:t>
            </a:r>
            <a:endParaRPr sz="1200">
              <a:latin typeface="Times New Roman"/>
              <a:ea typeface="Times New Roman"/>
              <a:cs typeface="Times New Roman"/>
              <a:sym typeface="Times New Roman"/>
            </a:endParaRPr>
          </a:p>
          <a:p>
            <a:pPr marL="457200" lvl="0" indent="-304800" algn="l" rtl="0">
              <a:lnSpc>
                <a:spcPct val="115000"/>
              </a:lnSpc>
              <a:spcBef>
                <a:spcPts val="1200"/>
              </a:spcBef>
              <a:spcAft>
                <a:spcPts val="0"/>
              </a:spcAft>
              <a:buSzPts val="1200"/>
              <a:buFont typeface="Times New Roman"/>
              <a:buChar char="●"/>
            </a:pPr>
            <a:r>
              <a:rPr lang="en" sz="1200">
                <a:latin typeface="Times New Roman"/>
                <a:ea typeface="Times New Roman"/>
                <a:cs typeface="Times New Roman"/>
                <a:sym typeface="Times New Roman"/>
              </a:rPr>
              <a:t>tenure was binned into ranges like up_to_1yr, 1_to_2yrs, 2_to_4yrs, etc.</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MonthlyCharges was grouped into low, medium, and high tiers.</a:t>
            </a:r>
            <a:br>
              <a:rPr lang="en" sz="1200">
                <a:latin typeface="Times New Roman"/>
                <a:ea typeface="Times New Roman"/>
                <a:cs typeface="Times New Roman"/>
                <a:sym typeface="Times New Roman"/>
              </a:rPr>
            </a:br>
            <a:r>
              <a:rPr lang="en" sz="1200">
                <a:latin typeface="Times New Roman"/>
                <a:ea typeface="Times New Roman"/>
                <a:cs typeface="Times New Roman"/>
                <a:sym typeface="Times New Roman"/>
              </a:rPr>
              <a:t> These categorical features help capture non-linear relationships and make the dataset more interpretable.</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5"/>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0" lvl="0" indent="0" algn="ctr" rtl="0">
              <a:lnSpc>
                <a:spcPct val="115000"/>
              </a:lnSpc>
              <a:spcBef>
                <a:spcPts val="1400"/>
              </a:spcBef>
              <a:spcAft>
                <a:spcPts val="0"/>
              </a:spcAft>
              <a:buNone/>
            </a:pPr>
            <a:r>
              <a:rPr lang="en" sz="1900">
                <a:latin typeface="Times New Roman"/>
                <a:ea typeface="Times New Roman"/>
                <a:cs typeface="Times New Roman"/>
                <a:sym typeface="Times New Roman"/>
              </a:rPr>
              <a:t>3.2 Business features added</a:t>
            </a:r>
            <a:endParaRPr sz="1900">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sz="1300">
                <a:latin typeface="Times New Roman"/>
                <a:ea typeface="Times New Roman"/>
                <a:cs typeface="Times New Roman"/>
                <a:sym typeface="Times New Roman"/>
              </a:rPr>
              <a:t>We added simple but meaningful features that reflect how the business thinks about churn risk.</a:t>
            </a:r>
            <a:endParaRPr sz="2000">
              <a:latin typeface="Times New Roman"/>
              <a:ea typeface="Times New Roman"/>
              <a:cs typeface="Times New Roman"/>
              <a:sym typeface="Times New Roman"/>
            </a:endParaRPr>
          </a:p>
        </p:txBody>
      </p:sp>
      <p:sp>
        <p:nvSpPr>
          <p:cNvPr id="152" name="Google Shape;152;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13</a:t>
            </a:fld>
            <a:endParaRPr/>
          </a:p>
        </p:txBody>
      </p:sp>
      <p:sp>
        <p:nvSpPr>
          <p:cNvPr id="153" name="Google Shape;153;p25"/>
          <p:cNvSpPr txBox="1"/>
          <p:nvPr/>
        </p:nvSpPr>
        <p:spPr>
          <a:xfrm>
            <a:off x="0" y="1291200"/>
            <a:ext cx="4572000" cy="3852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200"/>
              </a:spcBef>
              <a:spcAft>
                <a:spcPts val="0"/>
              </a:spcAft>
              <a:buNone/>
            </a:pPr>
            <a:r>
              <a:rPr lang="en" sz="800" b="1" dirty="0">
                <a:latin typeface="Times New Roman"/>
                <a:ea typeface="Times New Roman"/>
                <a:cs typeface="Times New Roman"/>
                <a:sym typeface="Times New Roman"/>
              </a:rPr>
              <a:t>Code from </a:t>
            </a:r>
            <a:r>
              <a:rPr lang="en" sz="800" b="1" dirty="0">
                <a:solidFill>
                  <a:srgbClr val="188038"/>
                </a:solidFill>
                <a:latin typeface="Times New Roman"/>
                <a:ea typeface="Times New Roman"/>
                <a:cs typeface="Times New Roman"/>
                <a:sym typeface="Times New Roman"/>
              </a:rPr>
              <a:t>churn_predictor.py</a:t>
            </a:r>
            <a:r>
              <a:rPr lang="en" sz="800" b="1" dirty="0">
                <a:latin typeface="Times New Roman"/>
                <a:ea typeface="Times New Roman"/>
                <a:cs typeface="Times New Roman"/>
                <a:sym typeface="Times New Roman"/>
              </a:rPr>
              <a:t>:</a:t>
            </a:r>
            <a:endParaRPr sz="800" b="1" dirty="0">
              <a:latin typeface="Times New Roman"/>
              <a:ea typeface="Times New Roman"/>
              <a:cs typeface="Times New Roman"/>
              <a:sym typeface="Times New Roman"/>
            </a:endParaRPr>
          </a:p>
          <a:p>
            <a:pPr marL="0" lvl="0" indent="0" algn="l" rtl="0">
              <a:lnSpc>
                <a:spcPct val="100000"/>
              </a:lnSpc>
              <a:spcBef>
                <a:spcPts val="1200"/>
              </a:spcBef>
              <a:spcAft>
                <a:spcPts val="0"/>
              </a:spcAft>
              <a:buNone/>
            </a:pPr>
            <a:r>
              <a:rPr lang="en" sz="800" dirty="0">
                <a:latin typeface="Times New Roman"/>
                <a:ea typeface="Times New Roman"/>
                <a:cs typeface="Times New Roman"/>
                <a:sym typeface="Times New Roman"/>
              </a:rPr>
              <a:t>def engineer_features(df: pd.DataFrame) -&gt; pd.DataFrame:</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Assignment 4:  Simple, business-meaningful features.</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New features:</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 avg_spend_per_month = TotalCharges / max(tenure, 1)</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 is_long_contract    = 1 if Contract ∈ {One year, Two year}</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 is_electronic_check = 1 if PaymentMethod == 'Electronic check'</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 num_services        = count of 'Yes' across internet add-ons</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after mapping 'No internet service' → 'No'</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df = df.copy()</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 Avoid divide-by-zero for new customers</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denom = df["tenure"].replace(0, 1)</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df["avg_spend_per_month"] = df["TotalCharges"] / denom</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df["is_long_contract"] = df["Contract"].isin(["One year", "Two year"]).astype(int)</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df["is_electronic_check"] = (df["PaymentMethod"] == "Electronic check").astype(int)</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svc_cols = [</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"OnlineSecurity", "OnlineBackup", "DeviceProtection",</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"TechSupport", "StreamingTV", "StreamingMovies"]</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for c in svc_cols:</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if c in df.columns:</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df[c] = df[c].replace({"No internet service": "No"})</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df["num_services"] = (df[svc_cols] == "Yes").sum(axis=1)</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800" dirty="0">
                <a:latin typeface="Times New Roman"/>
                <a:ea typeface="Times New Roman"/>
                <a:cs typeface="Times New Roman"/>
                <a:sym typeface="Times New Roman"/>
              </a:rPr>
              <a:t>    return df</a:t>
            </a:r>
            <a:endParaRPr sz="8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800" b="1" dirty="0">
              <a:solidFill>
                <a:schemeClr val="dk1"/>
              </a:solidFill>
              <a:latin typeface="Times New Roman"/>
              <a:ea typeface="Times New Roman"/>
              <a:cs typeface="Times New Roman"/>
              <a:sym typeface="Times New Roman"/>
            </a:endParaRPr>
          </a:p>
        </p:txBody>
      </p:sp>
      <p:sp>
        <p:nvSpPr>
          <p:cNvPr id="154" name="Google Shape;154;p25"/>
          <p:cNvSpPr txBox="1"/>
          <p:nvPr/>
        </p:nvSpPr>
        <p:spPr>
          <a:xfrm>
            <a:off x="4572000" y="1291200"/>
            <a:ext cx="4572000" cy="3870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b="1">
                <a:latin typeface="Times New Roman"/>
                <a:ea typeface="Times New Roman"/>
                <a:cs typeface="Times New Roman"/>
                <a:sym typeface="Times New Roman"/>
              </a:rPr>
              <a:t>Explanation</a:t>
            </a:r>
            <a:endParaRPr sz="1200" b="1">
              <a:latin typeface="Times New Roman"/>
              <a:ea typeface="Times New Roman"/>
              <a:cs typeface="Times New Roman"/>
              <a:sym typeface="Times New Roman"/>
            </a:endParaRPr>
          </a:p>
          <a:p>
            <a:pPr marL="457200" lvl="0" indent="-304800" algn="l" rtl="0">
              <a:lnSpc>
                <a:spcPct val="115000"/>
              </a:lnSpc>
              <a:spcBef>
                <a:spcPts val="1200"/>
              </a:spcBef>
              <a:spcAft>
                <a:spcPts val="0"/>
              </a:spcAft>
              <a:buSzPts val="1200"/>
              <a:buFont typeface="Times New Roman"/>
              <a:buChar char="●"/>
            </a:pPr>
            <a:r>
              <a:rPr lang="en" sz="1200">
                <a:solidFill>
                  <a:srgbClr val="188038"/>
                </a:solidFill>
                <a:latin typeface="Times New Roman"/>
                <a:ea typeface="Times New Roman"/>
                <a:cs typeface="Times New Roman"/>
                <a:sym typeface="Times New Roman"/>
              </a:rPr>
              <a:t>avg_spend_per_month</a:t>
            </a:r>
            <a:r>
              <a:rPr lang="en" sz="1200">
                <a:latin typeface="Times New Roman"/>
                <a:ea typeface="Times New Roman"/>
                <a:cs typeface="Times New Roman"/>
                <a:sym typeface="Times New Roman"/>
              </a:rPr>
              <a:t> is stable even when tenure is zero because we replace 0 with 1 in the denominator for the calculation.</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solidFill>
                  <a:srgbClr val="188038"/>
                </a:solidFill>
                <a:latin typeface="Times New Roman"/>
                <a:ea typeface="Times New Roman"/>
                <a:cs typeface="Times New Roman"/>
                <a:sym typeface="Times New Roman"/>
              </a:rPr>
              <a:t>is_long_contract</a:t>
            </a:r>
            <a:r>
              <a:rPr lang="en" sz="1200">
                <a:latin typeface="Times New Roman"/>
                <a:ea typeface="Times New Roman"/>
                <a:cs typeface="Times New Roman"/>
                <a:sym typeface="Times New Roman"/>
              </a:rPr>
              <a:t> flags one year and two year contracts, which generally correlate with lower churn.</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solidFill>
                  <a:srgbClr val="188038"/>
                </a:solidFill>
                <a:latin typeface="Times New Roman"/>
                <a:ea typeface="Times New Roman"/>
                <a:cs typeface="Times New Roman"/>
                <a:sym typeface="Times New Roman"/>
              </a:rPr>
              <a:t>is_electronic_check</a:t>
            </a:r>
            <a:r>
              <a:rPr lang="en" sz="1200">
                <a:latin typeface="Times New Roman"/>
                <a:ea typeface="Times New Roman"/>
                <a:cs typeface="Times New Roman"/>
                <a:sym typeface="Times New Roman"/>
              </a:rPr>
              <a:t> flags the payment method that often shows higher churn risk.</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For six add-on service columns we unify values by turning “No internet service” into “No”, then count how many services are “Yes” to get </a:t>
            </a:r>
            <a:r>
              <a:rPr lang="en" sz="1200">
                <a:solidFill>
                  <a:srgbClr val="188038"/>
                </a:solidFill>
                <a:latin typeface="Times New Roman"/>
                <a:ea typeface="Times New Roman"/>
                <a:cs typeface="Times New Roman"/>
                <a:sym typeface="Times New Roman"/>
              </a:rPr>
              <a:t>num_services</a:t>
            </a: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p>
            <a:pPr marL="0" lvl="0" indent="0" algn="l" rtl="0">
              <a:spcBef>
                <a:spcPts val="1200"/>
              </a:spcBef>
              <a:spcAft>
                <a:spcPts val="0"/>
              </a:spcAft>
              <a:buNone/>
            </a:pPr>
            <a:endParaRPr sz="1200" b="1">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14</a:t>
            </a:fld>
            <a:endParaRPr/>
          </a:p>
        </p:txBody>
      </p:sp>
      <p:sp>
        <p:nvSpPr>
          <p:cNvPr id="160" name="Google Shape;160;p26"/>
          <p:cNvSpPr txBox="1"/>
          <p:nvPr/>
        </p:nvSpPr>
        <p:spPr>
          <a:xfrm>
            <a:off x="0" y="2801325"/>
            <a:ext cx="9144000" cy="2342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latin typeface="Times New Roman"/>
                <a:ea typeface="Times New Roman"/>
                <a:cs typeface="Times New Roman"/>
                <a:sym typeface="Times New Roman"/>
              </a:rPr>
              <a:t>This screenshot shows the new </a:t>
            </a:r>
            <a:r>
              <a:rPr lang="en" sz="1200" b="1">
                <a:latin typeface="Times New Roman"/>
                <a:ea typeface="Times New Roman"/>
                <a:cs typeface="Times New Roman"/>
                <a:sym typeface="Times New Roman"/>
              </a:rPr>
              <a:t>business logic features</a:t>
            </a:r>
            <a:r>
              <a:rPr lang="en" sz="1200">
                <a:latin typeface="Times New Roman"/>
                <a:ea typeface="Times New Roman"/>
                <a:cs typeface="Times New Roman"/>
                <a:sym typeface="Times New Roman"/>
              </a:rPr>
              <a:t> added to enrich the dataset:</a:t>
            </a:r>
            <a:endParaRPr sz="1200">
              <a:latin typeface="Times New Roman"/>
              <a:ea typeface="Times New Roman"/>
              <a:cs typeface="Times New Roman"/>
              <a:sym typeface="Times New Roman"/>
            </a:endParaRPr>
          </a:p>
          <a:p>
            <a:pPr marL="457200" lvl="0" indent="-304800" algn="l" rtl="0">
              <a:lnSpc>
                <a:spcPct val="115000"/>
              </a:lnSpc>
              <a:spcBef>
                <a:spcPts val="1200"/>
              </a:spcBef>
              <a:spcAft>
                <a:spcPts val="0"/>
              </a:spcAft>
              <a:buSzPts val="1200"/>
              <a:buFont typeface="Times New Roman"/>
              <a:buChar char="●"/>
            </a:pPr>
            <a:r>
              <a:rPr lang="en" sz="1200" b="1">
                <a:latin typeface="Times New Roman"/>
                <a:ea typeface="Times New Roman"/>
                <a:cs typeface="Times New Roman"/>
                <a:sym typeface="Times New Roman"/>
              </a:rPr>
              <a:t>avg_spend_per_month</a:t>
            </a:r>
            <a:r>
              <a:rPr lang="en" sz="1200">
                <a:latin typeface="Times New Roman"/>
                <a:ea typeface="Times New Roman"/>
                <a:cs typeface="Times New Roman"/>
                <a:sym typeface="Times New Roman"/>
              </a:rPr>
              <a:t> = </a:t>
            </a:r>
            <a:r>
              <a:rPr lang="en" sz="1200">
                <a:solidFill>
                  <a:srgbClr val="188038"/>
                </a:solidFill>
                <a:latin typeface="Times New Roman"/>
                <a:ea typeface="Times New Roman"/>
                <a:cs typeface="Times New Roman"/>
                <a:sym typeface="Times New Roman"/>
              </a:rPr>
              <a:t>TotalCharges / tenure</a:t>
            </a:r>
            <a:br>
              <a:rPr lang="en" sz="1200">
                <a:solidFill>
                  <a:srgbClr val="188038"/>
                </a:solidFill>
                <a:latin typeface="Times New Roman"/>
                <a:ea typeface="Times New Roman"/>
                <a:cs typeface="Times New Roman"/>
                <a:sym typeface="Times New Roman"/>
              </a:rPr>
            </a:br>
            <a:endParaRPr sz="1200">
              <a:solidFill>
                <a:srgbClr val="188038"/>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b="1">
                <a:latin typeface="Times New Roman"/>
                <a:ea typeface="Times New Roman"/>
                <a:cs typeface="Times New Roman"/>
                <a:sym typeface="Times New Roman"/>
              </a:rPr>
              <a:t>is_long_contract</a:t>
            </a:r>
            <a:r>
              <a:rPr lang="en" sz="1200">
                <a:latin typeface="Times New Roman"/>
                <a:ea typeface="Times New Roman"/>
                <a:cs typeface="Times New Roman"/>
                <a:sym typeface="Times New Roman"/>
              </a:rPr>
              <a:t> (binary: 1 if contract ≥ 2 years)</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b="1">
                <a:latin typeface="Times New Roman"/>
                <a:ea typeface="Times New Roman"/>
                <a:cs typeface="Times New Roman"/>
                <a:sym typeface="Times New Roman"/>
              </a:rPr>
              <a:t>is_electronic_check</a:t>
            </a:r>
            <a:r>
              <a:rPr lang="en" sz="1200">
                <a:latin typeface="Times New Roman"/>
                <a:ea typeface="Times New Roman"/>
                <a:cs typeface="Times New Roman"/>
                <a:sym typeface="Times New Roman"/>
              </a:rPr>
              <a:t> (binary: 1 if payment method = electronic check)</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b="1">
                <a:latin typeface="Times New Roman"/>
                <a:ea typeface="Times New Roman"/>
                <a:cs typeface="Times New Roman"/>
                <a:sym typeface="Times New Roman"/>
              </a:rPr>
              <a:t>num_services</a:t>
            </a:r>
            <a:r>
              <a:rPr lang="en" sz="1200">
                <a:latin typeface="Times New Roman"/>
                <a:ea typeface="Times New Roman"/>
                <a:cs typeface="Times New Roman"/>
                <a:sym typeface="Times New Roman"/>
              </a:rPr>
              <a:t> (count of subscribed services per customer)</a:t>
            </a:r>
            <a:br>
              <a:rPr lang="en" sz="1200">
                <a:latin typeface="Times New Roman"/>
                <a:ea typeface="Times New Roman"/>
                <a:cs typeface="Times New Roman"/>
                <a:sym typeface="Times New Roman"/>
              </a:rPr>
            </a:br>
            <a:r>
              <a:rPr lang="en" sz="1200">
                <a:latin typeface="Times New Roman"/>
                <a:ea typeface="Times New Roman"/>
                <a:cs typeface="Times New Roman"/>
                <a:sym typeface="Times New Roman"/>
              </a:rPr>
              <a:t> These variables incorporate domain knowledge and help improve predictive power.</a:t>
            </a:r>
            <a:endParaRPr sz="1200">
              <a:latin typeface="Times New Roman"/>
              <a:ea typeface="Times New Roman"/>
              <a:cs typeface="Times New Roman"/>
              <a:sym typeface="Times New Roman"/>
            </a:endParaRPr>
          </a:p>
        </p:txBody>
      </p:sp>
      <p:pic>
        <p:nvPicPr>
          <p:cNvPr id="161" name="Google Shape;161;p26"/>
          <p:cNvPicPr preferRelativeResize="0"/>
          <p:nvPr/>
        </p:nvPicPr>
        <p:blipFill>
          <a:blip r:embed="rId3">
            <a:alphaModFix/>
          </a:blip>
          <a:stretch>
            <a:fillRect/>
          </a:stretch>
        </p:blipFill>
        <p:spPr>
          <a:xfrm>
            <a:off x="86738" y="113050"/>
            <a:ext cx="8970526" cy="268828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7"/>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0" lvl="0" indent="0" algn="ctr" rtl="0">
              <a:lnSpc>
                <a:spcPct val="115000"/>
              </a:lnSpc>
              <a:spcBef>
                <a:spcPts val="1400"/>
              </a:spcBef>
              <a:spcAft>
                <a:spcPts val="0"/>
              </a:spcAft>
              <a:buNone/>
            </a:pPr>
            <a:r>
              <a:rPr lang="en" sz="1900">
                <a:latin typeface="Times New Roman"/>
                <a:ea typeface="Times New Roman"/>
                <a:cs typeface="Times New Roman"/>
                <a:sym typeface="Times New Roman"/>
              </a:rPr>
              <a:t>3.3 Encode categoricals and finalize the modeling table</a:t>
            </a:r>
            <a:endParaRPr sz="1900">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sz="1300">
                <a:latin typeface="Times New Roman"/>
                <a:ea typeface="Times New Roman"/>
                <a:cs typeface="Times New Roman"/>
                <a:sym typeface="Times New Roman"/>
              </a:rPr>
              <a:t>We remove unhelpful or redundant columns and convert all remaining categorical columns to numeric using one-hot encoding.</a:t>
            </a:r>
            <a:endParaRPr sz="2000">
              <a:latin typeface="Times New Roman"/>
              <a:ea typeface="Times New Roman"/>
              <a:cs typeface="Times New Roman"/>
              <a:sym typeface="Times New Roman"/>
            </a:endParaRPr>
          </a:p>
        </p:txBody>
      </p:sp>
      <p:sp>
        <p:nvSpPr>
          <p:cNvPr id="167" name="Google Shape;167;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15</a:t>
            </a:fld>
            <a:endParaRPr/>
          </a:p>
        </p:txBody>
      </p:sp>
      <p:sp>
        <p:nvSpPr>
          <p:cNvPr id="168" name="Google Shape;168;p27"/>
          <p:cNvSpPr txBox="1"/>
          <p:nvPr/>
        </p:nvSpPr>
        <p:spPr>
          <a:xfrm>
            <a:off x="0" y="1291200"/>
            <a:ext cx="4572000" cy="3852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200"/>
              </a:spcBef>
              <a:spcAft>
                <a:spcPts val="0"/>
              </a:spcAft>
              <a:buNone/>
            </a:pPr>
            <a:r>
              <a:rPr lang="en" sz="1100" b="1" dirty="0">
                <a:latin typeface="Times New Roman"/>
                <a:ea typeface="Times New Roman"/>
                <a:cs typeface="Times New Roman"/>
                <a:sym typeface="Times New Roman"/>
              </a:rPr>
              <a:t>Code from </a:t>
            </a:r>
            <a:r>
              <a:rPr lang="en" sz="1100" b="1" dirty="0">
                <a:solidFill>
                  <a:srgbClr val="188038"/>
                </a:solidFill>
                <a:latin typeface="Times New Roman"/>
                <a:ea typeface="Times New Roman"/>
                <a:cs typeface="Times New Roman"/>
                <a:sym typeface="Times New Roman"/>
              </a:rPr>
              <a:t>churn_predictor.py</a:t>
            </a:r>
            <a:r>
              <a:rPr lang="en" sz="1100" b="1" dirty="0">
                <a:latin typeface="Times New Roman"/>
                <a:ea typeface="Times New Roman"/>
                <a:cs typeface="Times New Roman"/>
                <a:sym typeface="Times New Roman"/>
              </a:rPr>
              <a:t>:</a:t>
            </a:r>
            <a:endParaRPr sz="1100" b="1" dirty="0">
              <a:latin typeface="Times New Roman"/>
              <a:ea typeface="Times New Roman"/>
              <a:cs typeface="Times New Roman"/>
              <a:sym typeface="Times New Roman"/>
            </a:endParaRPr>
          </a:p>
          <a:p>
            <a:pPr marL="0" lvl="0" indent="0" algn="l" rtl="0">
              <a:lnSpc>
                <a:spcPct val="100000"/>
              </a:lnSpc>
              <a:spcBef>
                <a:spcPts val="1200"/>
              </a:spcBef>
              <a:spcAft>
                <a:spcPts val="0"/>
              </a:spcAft>
              <a:buNone/>
            </a:pPr>
            <a:r>
              <a:rPr lang="en" sz="1100" dirty="0">
                <a:latin typeface="Times New Roman"/>
                <a:ea typeface="Times New Roman"/>
                <a:cs typeface="Times New Roman"/>
                <a:sym typeface="Times New Roman"/>
              </a:rPr>
              <a:t>def select_and_encode(df: pd.DataFrame, drop_redundant: bool = True) -&gt; pd.DataFrame:</a:t>
            </a: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100" dirty="0">
                <a:latin typeface="Times New Roman"/>
                <a:ea typeface="Times New Roman"/>
                <a:cs typeface="Times New Roman"/>
                <a:sym typeface="Times New Roman"/>
              </a:rPr>
              <a:t>    """</a:t>
            </a: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100" dirty="0">
                <a:latin typeface="Times New Roman"/>
                <a:ea typeface="Times New Roman"/>
                <a:cs typeface="Times New Roman"/>
                <a:sym typeface="Times New Roman"/>
              </a:rPr>
              <a:t>    Assignment 4: Feature selection + encoding → final modeling table.</a:t>
            </a: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100" dirty="0">
                <a:latin typeface="Times New Roman"/>
                <a:ea typeface="Times New Roman"/>
                <a:cs typeface="Times New Roman"/>
                <a:sym typeface="Times New Roman"/>
              </a:rPr>
              <a:t>    Decisions &amp; actions:</a:t>
            </a: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100" dirty="0">
                <a:latin typeface="Times New Roman"/>
                <a:ea typeface="Times New Roman"/>
                <a:cs typeface="Times New Roman"/>
                <a:sym typeface="Times New Roman"/>
              </a:rPr>
              <a:t>      • Drop 'customerID' (identifier).</a:t>
            </a: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100" dirty="0">
                <a:latin typeface="Times New Roman"/>
                <a:ea typeface="Times New Roman"/>
                <a:cs typeface="Times New Roman"/>
                <a:sym typeface="Times New Roman"/>
              </a:rPr>
              <a:t>      • Drop 'TotalCharges' (≈ tenure × MonthlyCharges) to reduce redundancy;</a:t>
            </a: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100" dirty="0">
                <a:latin typeface="Times New Roman"/>
                <a:ea typeface="Times New Roman"/>
                <a:cs typeface="Times New Roman"/>
                <a:sym typeface="Times New Roman"/>
              </a:rPr>
              <a:t>        keep engineered 'avg_spend_per_month' instead.</a:t>
            </a: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100" dirty="0">
                <a:latin typeface="Times New Roman"/>
                <a:ea typeface="Times New Roman"/>
                <a:cs typeface="Times New Roman"/>
                <a:sym typeface="Times New Roman"/>
              </a:rPr>
              <a:t>      • One-hot encode categoricals with drop_first=True (avoid dummy trap).</a:t>
            </a: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100" dirty="0">
                <a:latin typeface="Times New Roman"/>
                <a:ea typeface="Times New Roman"/>
                <a:cs typeface="Times New Roman"/>
                <a:sym typeface="Times New Roman"/>
              </a:rPr>
              <a:t>    """</a:t>
            </a: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100" dirty="0">
                <a:latin typeface="Times New Roman"/>
                <a:ea typeface="Times New Roman"/>
                <a:cs typeface="Times New Roman"/>
                <a:sym typeface="Times New Roman"/>
              </a:rPr>
              <a:t>    df = df.copy()</a:t>
            </a: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100" dirty="0">
                <a:latin typeface="Times New Roman"/>
                <a:ea typeface="Times New Roman"/>
                <a:cs typeface="Times New Roman"/>
                <a:sym typeface="Times New Roman"/>
              </a:rPr>
              <a:t>    if "customerID" in df.columns:</a:t>
            </a: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100" dirty="0">
                <a:latin typeface="Times New Roman"/>
                <a:ea typeface="Times New Roman"/>
                <a:cs typeface="Times New Roman"/>
                <a:sym typeface="Times New Roman"/>
              </a:rPr>
              <a:t>        df = df.drop(columns=["customerID"])</a:t>
            </a: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100" dirty="0">
                <a:latin typeface="Times New Roman"/>
                <a:ea typeface="Times New Roman"/>
                <a:cs typeface="Times New Roman"/>
                <a:sym typeface="Times New Roman"/>
              </a:rPr>
              <a:t>    if drop_redundant and "TotalCharges" in df.columns:</a:t>
            </a: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100" dirty="0">
                <a:latin typeface="Times New Roman"/>
                <a:ea typeface="Times New Roman"/>
                <a:cs typeface="Times New Roman"/>
                <a:sym typeface="Times New Roman"/>
              </a:rPr>
              <a:t>        df = df.drop(columns=["TotalCharges"])</a:t>
            </a: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100" dirty="0">
                <a:latin typeface="Times New Roman"/>
                <a:ea typeface="Times New Roman"/>
                <a:cs typeface="Times New Roman"/>
                <a:sym typeface="Times New Roman"/>
              </a:rPr>
              <a:t>    df = pd.get_dummies(df, drop_first=True)</a:t>
            </a:r>
            <a:endParaRPr sz="1100" dirty="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1100" dirty="0">
                <a:latin typeface="Times New Roman"/>
                <a:ea typeface="Times New Roman"/>
                <a:cs typeface="Times New Roman"/>
                <a:sym typeface="Times New Roman"/>
              </a:rPr>
              <a:t>    return df</a:t>
            </a:r>
            <a:endParaRPr sz="1100" b="1" dirty="0">
              <a:latin typeface="Times New Roman"/>
              <a:ea typeface="Times New Roman"/>
              <a:cs typeface="Times New Roman"/>
              <a:sym typeface="Times New Roman"/>
            </a:endParaRPr>
          </a:p>
        </p:txBody>
      </p:sp>
      <p:sp>
        <p:nvSpPr>
          <p:cNvPr id="169" name="Google Shape;169;p27"/>
          <p:cNvSpPr txBox="1"/>
          <p:nvPr/>
        </p:nvSpPr>
        <p:spPr>
          <a:xfrm>
            <a:off x="4572000" y="1291200"/>
            <a:ext cx="4572000" cy="3870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b="1">
                <a:latin typeface="Times New Roman"/>
                <a:ea typeface="Times New Roman"/>
                <a:cs typeface="Times New Roman"/>
                <a:sym typeface="Times New Roman"/>
              </a:rPr>
              <a:t>Explanation</a:t>
            </a:r>
            <a:endParaRPr sz="1200" b="1">
              <a:latin typeface="Times New Roman"/>
              <a:ea typeface="Times New Roman"/>
              <a:cs typeface="Times New Roman"/>
              <a:sym typeface="Times New Roman"/>
            </a:endParaRPr>
          </a:p>
          <a:p>
            <a:pPr marL="457200" lvl="0" indent="-304800" algn="l" rtl="0">
              <a:lnSpc>
                <a:spcPct val="115000"/>
              </a:lnSpc>
              <a:spcBef>
                <a:spcPts val="1200"/>
              </a:spcBef>
              <a:spcAft>
                <a:spcPts val="0"/>
              </a:spcAft>
              <a:buSzPts val="1200"/>
              <a:buFont typeface="Times New Roman"/>
              <a:buChar char="●"/>
            </a:pPr>
            <a:r>
              <a:rPr lang="en" sz="1200">
                <a:latin typeface="Times New Roman"/>
                <a:ea typeface="Times New Roman"/>
                <a:cs typeface="Times New Roman"/>
                <a:sym typeface="Times New Roman"/>
              </a:rPr>
              <a:t>We drop </a:t>
            </a:r>
            <a:r>
              <a:rPr lang="en" sz="1200">
                <a:solidFill>
                  <a:srgbClr val="188038"/>
                </a:solidFill>
                <a:latin typeface="Times New Roman"/>
                <a:ea typeface="Times New Roman"/>
                <a:cs typeface="Times New Roman"/>
                <a:sym typeface="Times New Roman"/>
              </a:rPr>
              <a:t>customerID</a:t>
            </a:r>
            <a:r>
              <a:rPr lang="en" sz="1200">
                <a:latin typeface="Times New Roman"/>
                <a:ea typeface="Times New Roman"/>
                <a:cs typeface="Times New Roman"/>
                <a:sym typeface="Times New Roman"/>
              </a:rPr>
              <a:t> because it is only an identifier.</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We drop </a:t>
            </a:r>
            <a:r>
              <a:rPr lang="en" sz="1200">
                <a:solidFill>
                  <a:srgbClr val="188038"/>
                </a:solidFill>
                <a:latin typeface="Times New Roman"/>
                <a:ea typeface="Times New Roman"/>
                <a:cs typeface="Times New Roman"/>
                <a:sym typeface="Times New Roman"/>
              </a:rPr>
              <a:t>TotalCharges</a:t>
            </a:r>
            <a:r>
              <a:rPr lang="en" sz="1200">
                <a:latin typeface="Times New Roman"/>
                <a:ea typeface="Times New Roman"/>
                <a:cs typeface="Times New Roman"/>
                <a:sym typeface="Times New Roman"/>
              </a:rPr>
              <a:t> because it is strongly redundant with </a:t>
            </a:r>
            <a:r>
              <a:rPr lang="en" sz="1200">
                <a:solidFill>
                  <a:srgbClr val="188038"/>
                </a:solidFill>
                <a:latin typeface="Times New Roman"/>
                <a:ea typeface="Times New Roman"/>
                <a:cs typeface="Times New Roman"/>
                <a:sym typeface="Times New Roman"/>
              </a:rPr>
              <a:t>tenure × MonthlyCharges</a:t>
            </a:r>
            <a:r>
              <a:rPr lang="en" sz="1200">
                <a:latin typeface="Times New Roman"/>
                <a:ea typeface="Times New Roman"/>
                <a:cs typeface="Times New Roman"/>
                <a:sym typeface="Times New Roman"/>
              </a:rPr>
              <a:t>. We keep the more stable </a:t>
            </a:r>
            <a:r>
              <a:rPr lang="en" sz="1200">
                <a:solidFill>
                  <a:srgbClr val="188038"/>
                </a:solidFill>
                <a:latin typeface="Times New Roman"/>
                <a:ea typeface="Times New Roman"/>
                <a:cs typeface="Times New Roman"/>
                <a:sym typeface="Times New Roman"/>
              </a:rPr>
              <a:t>avg_spend_per_month</a:t>
            </a:r>
            <a:r>
              <a:rPr lang="en" sz="1200">
                <a:latin typeface="Times New Roman"/>
                <a:ea typeface="Times New Roman"/>
                <a:cs typeface="Times New Roman"/>
                <a:sym typeface="Times New Roman"/>
              </a:rPr>
              <a:t>.</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solidFill>
                  <a:srgbClr val="188038"/>
                </a:solidFill>
                <a:latin typeface="Times New Roman"/>
                <a:ea typeface="Times New Roman"/>
                <a:cs typeface="Times New Roman"/>
                <a:sym typeface="Times New Roman"/>
              </a:rPr>
              <a:t>pd.get_dummies(..., drop_first=True)</a:t>
            </a:r>
            <a:r>
              <a:rPr lang="en" sz="1200">
                <a:latin typeface="Times New Roman"/>
                <a:ea typeface="Times New Roman"/>
                <a:cs typeface="Times New Roman"/>
                <a:sym typeface="Times New Roman"/>
              </a:rPr>
              <a:t> converts every categorical column into binary indicators and drops one level from each category so the model does not see perfectly collinear columns.</a:t>
            </a:r>
            <a:endParaRPr sz="1200" b="1">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8"/>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0" lvl="0" indent="0" algn="ctr" rtl="0">
              <a:lnSpc>
                <a:spcPct val="115000"/>
              </a:lnSpc>
              <a:spcBef>
                <a:spcPts val="1200"/>
              </a:spcBef>
              <a:spcAft>
                <a:spcPts val="1200"/>
              </a:spcAft>
              <a:buNone/>
            </a:pPr>
            <a:r>
              <a:rPr lang="en" sz="1900">
                <a:latin typeface="Times New Roman"/>
                <a:ea typeface="Times New Roman"/>
                <a:cs typeface="Times New Roman"/>
                <a:sym typeface="Times New Roman"/>
              </a:rPr>
              <a:t>Artifacts that confirm the final feature set</a:t>
            </a:r>
            <a:endParaRPr sz="2000">
              <a:latin typeface="Times New Roman"/>
              <a:ea typeface="Times New Roman"/>
              <a:cs typeface="Times New Roman"/>
              <a:sym typeface="Times New Roman"/>
            </a:endParaRPr>
          </a:p>
        </p:txBody>
      </p:sp>
      <p:sp>
        <p:nvSpPr>
          <p:cNvPr id="175" name="Google Shape;175;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16</a:t>
            </a:fld>
            <a:endParaRPr/>
          </a:p>
        </p:txBody>
      </p:sp>
      <p:sp>
        <p:nvSpPr>
          <p:cNvPr id="176" name="Google Shape;176;p28"/>
          <p:cNvSpPr txBox="1"/>
          <p:nvPr/>
        </p:nvSpPr>
        <p:spPr>
          <a:xfrm>
            <a:off x="2230250" y="1349275"/>
            <a:ext cx="4572000" cy="3852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900">
                <a:latin typeface="Times New Roman"/>
                <a:ea typeface="Times New Roman"/>
                <a:cs typeface="Times New Roman"/>
                <a:sym typeface="Times New Roman"/>
              </a:rPr>
              <a:t>def save_a4_artifacts(df_encoded: pd.DataFrame, df_with_z: pd.DataFrame) -&gt; None:</a:t>
            </a:r>
            <a:endParaRPr sz="9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900">
                <a:latin typeface="Times New Roman"/>
                <a:ea typeface="Times New Roman"/>
                <a:cs typeface="Times New Roman"/>
                <a:sym typeface="Times New Roman"/>
              </a:rPr>
              <a:t>    ...</a:t>
            </a:r>
            <a:endParaRPr sz="9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900">
                <a:latin typeface="Times New Roman"/>
                <a:ea typeface="Times New Roman"/>
                <a:cs typeface="Times New Roman"/>
                <a:sym typeface="Times New Roman"/>
              </a:rPr>
              <a:t>    X_cols = [c for c in df_encoded.columns if c != "Churn"]</a:t>
            </a:r>
            <a:endParaRPr sz="9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900">
                <a:latin typeface="Times New Roman"/>
                <a:ea typeface="Times New Roman"/>
                <a:cs typeface="Times New Roman"/>
                <a:sym typeface="Times New Roman"/>
              </a:rPr>
              <a:t>    with open(FEATURE_NAMES_TXT, "w", encoding="utf-8") as f:</a:t>
            </a:r>
            <a:endParaRPr sz="9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900">
                <a:latin typeface="Times New Roman"/>
                <a:ea typeface="Times New Roman"/>
                <a:cs typeface="Times New Roman"/>
                <a:sym typeface="Times New Roman"/>
              </a:rPr>
              <a:t>        f.write("\n".join(X_cols))</a:t>
            </a:r>
            <a:endParaRPr sz="9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900">
                <a:latin typeface="Times New Roman"/>
                <a:ea typeface="Times New Roman"/>
                <a:cs typeface="Times New Roman"/>
                <a:sym typeface="Times New Roman"/>
              </a:rPr>
              <a:t>    …</a:t>
            </a:r>
            <a:endParaRPr sz="900">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9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200">
                <a:latin typeface="Times New Roman"/>
                <a:ea typeface="Times New Roman"/>
                <a:cs typeface="Times New Roman"/>
                <a:sym typeface="Times New Roman"/>
              </a:rPr>
              <a:t>The file </a:t>
            </a:r>
            <a:r>
              <a:rPr lang="en" sz="1200">
                <a:solidFill>
                  <a:srgbClr val="188038"/>
                </a:solidFill>
                <a:latin typeface="Times New Roman"/>
                <a:ea typeface="Times New Roman"/>
                <a:cs typeface="Times New Roman"/>
                <a:sym typeface="Times New Roman"/>
              </a:rPr>
              <a:t>data/feature_names_after_encoding.txt</a:t>
            </a:r>
            <a:r>
              <a:rPr lang="en" sz="1200">
                <a:latin typeface="Times New Roman"/>
                <a:ea typeface="Times New Roman"/>
                <a:cs typeface="Times New Roman"/>
                <a:sym typeface="Times New Roman"/>
              </a:rPr>
              <a:t> lists the exact feature names used for training and later inference. In our run this file contains 32 names, which matches the counts below.</a:t>
            </a:r>
            <a:endParaRPr sz="1200">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9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29"/>
          <p:cNvPicPr preferRelativeResize="0"/>
          <p:nvPr/>
        </p:nvPicPr>
        <p:blipFill>
          <a:blip r:embed="rId3">
            <a:alphaModFix/>
          </a:blip>
          <a:stretch>
            <a:fillRect/>
          </a:stretch>
        </p:blipFill>
        <p:spPr>
          <a:xfrm>
            <a:off x="0" y="0"/>
            <a:ext cx="9143999" cy="1830475"/>
          </a:xfrm>
          <a:prstGeom prst="rect">
            <a:avLst/>
          </a:prstGeom>
          <a:noFill/>
          <a:ln>
            <a:noFill/>
          </a:ln>
        </p:spPr>
      </p:pic>
      <p:sp>
        <p:nvSpPr>
          <p:cNvPr id="182" name="Google Shape;182;p29"/>
          <p:cNvSpPr txBox="1"/>
          <p:nvPr/>
        </p:nvSpPr>
        <p:spPr>
          <a:xfrm>
            <a:off x="10225" y="1891125"/>
            <a:ext cx="9144000" cy="3252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latin typeface="Times New Roman"/>
                <a:ea typeface="Times New Roman"/>
                <a:cs typeface="Times New Roman"/>
                <a:sym typeface="Times New Roman"/>
              </a:rPr>
              <a:t>This screenshot shows the </a:t>
            </a:r>
            <a:r>
              <a:rPr lang="en" sz="1200" b="1">
                <a:latin typeface="Times New Roman"/>
                <a:ea typeface="Times New Roman"/>
                <a:cs typeface="Times New Roman"/>
                <a:sym typeface="Times New Roman"/>
              </a:rPr>
              <a:t>before-and-after transformation</a:t>
            </a:r>
            <a:r>
              <a:rPr lang="en" sz="1200">
                <a:latin typeface="Times New Roman"/>
                <a:ea typeface="Times New Roman"/>
                <a:cs typeface="Times New Roman"/>
                <a:sym typeface="Times New Roman"/>
              </a:rPr>
              <a:t> of categorical variables through </a:t>
            </a:r>
            <a:r>
              <a:rPr lang="en" sz="1200" b="1">
                <a:latin typeface="Times New Roman"/>
                <a:ea typeface="Times New Roman"/>
                <a:cs typeface="Times New Roman"/>
                <a:sym typeface="Times New Roman"/>
              </a:rPr>
              <a:t>one-hot encoding</a:t>
            </a: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p>
            <a:pPr marL="457200" lvl="0" indent="-304800" algn="l" rtl="0">
              <a:lnSpc>
                <a:spcPct val="115000"/>
              </a:lnSpc>
              <a:spcBef>
                <a:spcPts val="1200"/>
              </a:spcBef>
              <a:spcAft>
                <a:spcPts val="0"/>
              </a:spcAft>
              <a:buSzPts val="1200"/>
              <a:buFont typeface="Times New Roman"/>
              <a:buChar char="●"/>
            </a:pPr>
            <a:r>
              <a:rPr lang="en" sz="1200">
                <a:latin typeface="Times New Roman"/>
                <a:ea typeface="Times New Roman"/>
                <a:cs typeface="Times New Roman"/>
                <a:sym typeface="Times New Roman"/>
              </a:rPr>
              <a:t>Originally, columns like </a:t>
            </a:r>
            <a:r>
              <a:rPr lang="en" sz="1200">
                <a:solidFill>
                  <a:srgbClr val="188038"/>
                </a:solidFill>
                <a:latin typeface="Times New Roman"/>
                <a:ea typeface="Times New Roman"/>
                <a:cs typeface="Times New Roman"/>
                <a:sym typeface="Times New Roman"/>
              </a:rPr>
              <a:t>gender</a:t>
            </a:r>
            <a:r>
              <a:rPr lang="en" sz="1200">
                <a:latin typeface="Times New Roman"/>
                <a:ea typeface="Times New Roman"/>
                <a:cs typeface="Times New Roman"/>
                <a:sym typeface="Times New Roman"/>
              </a:rPr>
              <a:t>, </a:t>
            </a:r>
            <a:r>
              <a:rPr lang="en" sz="1200">
                <a:solidFill>
                  <a:srgbClr val="188038"/>
                </a:solidFill>
                <a:latin typeface="Times New Roman"/>
                <a:ea typeface="Times New Roman"/>
                <a:cs typeface="Times New Roman"/>
                <a:sym typeface="Times New Roman"/>
              </a:rPr>
              <a:t>Partner</a:t>
            </a:r>
            <a:r>
              <a:rPr lang="en" sz="1200">
                <a:latin typeface="Times New Roman"/>
                <a:ea typeface="Times New Roman"/>
                <a:cs typeface="Times New Roman"/>
                <a:sym typeface="Times New Roman"/>
              </a:rPr>
              <a:t>, </a:t>
            </a:r>
            <a:r>
              <a:rPr lang="en" sz="1200">
                <a:solidFill>
                  <a:srgbClr val="188038"/>
                </a:solidFill>
                <a:latin typeface="Times New Roman"/>
                <a:ea typeface="Times New Roman"/>
                <a:cs typeface="Times New Roman"/>
                <a:sym typeface="Times New Roman"/>
              </a:rPr>
              <a:t>InternetService</a:t>
            </a:r>
            <a:r>
              <a:rPr lang="en" sz="1200">
                <a:latin typeface="Times New Roman"/>
                <a:ea typeface="Times New Roman"/>
                <a:cs typeface="Times New Roman"/>
                <a:sym typeface="Times New Roman"/>
              </a:rPr>
              <a:t>, etc. were textual categories.</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After encoding, each unique category becomes a separate binary (0/1) feature.</a:t>
            </a:r>
            <a:br>
              <a:rPr lang="en" sz="1200">
                <a:latin typeface="Times New Roman"/>
                <a:ea typeface="Times New Roman"/>
                <a:cs typeface="Times New Roman"/>
                <a:sym typeface="Times New Roman"/>
              </a:rPr>
            </a:br>
            <a:r>
              <a:rPr lang="en" sz="1200">
                <a:latin typeface="Times New Roman"/>
                <a:ea typeface="Times New Roman"/>
                <a:cs typeface="Times New Roman"/>
                <a:sym typeface="Times New Roman"/>
              </a:rPr>
              <a:t> For example:</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solidFill>
                  <a:srgbClr val="188038"/>
                </a:solidFill>
                <a:latin typeface="Times New Roman"/>
                <a:ea typeface="Times New Roman"/>
                <a:cs typeface="Times New Roman"/>
                <a:sym typeface="Times New Roman"/>
              </a:rPr>
              <a:t>gender → gender_Male</a:t>
            </a:r>
            <a:br>
              <a:rPr lang="en" sz="1200">
                <a:solidFill>
                  <a:srgbClr val="188038"/>
                </a:solidFill>
                <a:latin typeface="Times New Roman"/>
                <a:ea typeface="Times New Roman"/>
                <a:cs typeface="Times New Roman"/>
                <a:sym typeface="Times New Roman"/>
              </a:rPr>
            </a:br>
            <a:endParaRPr sz="1200">
              <a:solidFill>
                <a:srgbClr val="188038"/>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solidFill>
                  <a:srgbClr val="188038"/>
                </a:solidFill>
                <a:latin typeface="Times New Roman"/>
                <a:ea typeface="Times New Roman"/>
                <a:cs typeface="Times New Roman"/>
                <a:sym typeface="Times New Roman"/>
              </a:rPr>
              <a:t>MultipleLines → MultipleLines_Yes</a:t>
            </a:r>
            <a:r>
              <a:rPr lang="en" sz="1200">
                <a:latin typeface="Times New Roman"/>
                <a:ea typeface="Times New Roman"/>
                <a:cs typeface="Times New Roman"/>
                <a:sym typeface="Times New Roman"/>
              </a:rPr>
              <a:t>, </a:t>
            </a:r>
            <a:r>
              <a:rPr lang="en" sz="1200">
                <a:solidFill>
                  <a:srgbClr val="188038"/>
                </a:solidFill>
                <a:latin typeface="Times New Roman"/>
                <a:ea typeface="Times New Roman"/>
                <a:cs typeface="Times New Roman"/>
                <a:sym typeface="Times New Roman"/>
              </a:rPr>
              <a:t>MultipleLines_No phone service</a:t>
            </a:r>
            <a:br>
              <a:rPr lang="en" sz="1200">
                <a:solidFill>
                  <a:srgbClr val="188038"/>
                </a:solidFill>
                <a:latin typeface="Times New Roman"/>
                <a:ea typeface="Times New Roman"/>
                <a:cs typeface="Times New Roman"/>
                <a:sym typeface="Times New Roman"/>
              </a:rPr>
            </a:br>
            <a:endParaRPr sz="1200">
              <a:solidFill>
                <a:srgbClr val="188038"/>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solidFill>
                  <a:srgbClr val="188038"/>
                </a:solidFill>
                <a:latin typeface="Times New Roman"/>
                <a:ea typeface="Times New Roman"/>
                <a:cs typeface="Times New Roman"/>
                <a:sym typeface="Times New Roman"/>
              </a:rPr>
              <a:t>Contract → Contract_One year</a:t>
            </a:r>
            <a:r>
              <a:rPr lang="en" sz="1200">
                <a:latin typeface="Times New Roman"/>
                <a:ea typeface="Times New Roman"/>
                <a:cs typeface="Times New Roman"/>
                <a:sym typeface="Times New Roman"/>
              </a:rPr>
              <a:t>, </a:t>
            </a:r>
            <a:r>
              <a:rPr lang="en" sz="1200">
                <a:solidFill>
                  <a:srgbClr val="188038"/>
                </a:solidFill>
                <a:latin typeface="Times New Roman"/>
                <a:ea typeface="Times New Roman"/>
                <a:cs typeface="Times New Roman"/>
                <a:sym typeface="Times New Roman"/>
              </a:rPr>
              <a:t>Contract_Two year</a:t>
            </a:r>
            <a:endParaRPr sz="1300">
              <a:solidFill>
                <a:schemeClr val="dk2"/>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0"/>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0" lvl="0" indent="0" algn="ctr" rtl="0">
              <a:lnSpc>
                <a:spcPct val="115000"/>
              </a:lnSpc>
              <a:spcBef>
                <a:spcPts val="1200"/>
              </a:spcBef>
              <a:spcAft>
                <a:spcPts val="1200"/>
              </a:spcAft>
              <a:buNone/>
            </a:pPr>
            <a:r>
              <a:rPr lang="en" sz="1900">
                <a:latin typeface="Times New Roman"/>
                <a:ea typeface="Times New Roman"/>
                <a:cs typeface="Times New Roman"/>
                <a:sym typeface="Times New Roman"/>
              </a:rPr>
              <a:t>3.4 Final 32 variables</a:t>
            </a:r>
            <a:endParaRPr sz="2000">
              <a:latin typeface="Times New Roman"/>
              <a:ea typeface="Times New Roman"/>
              <a:cs typeface="Times New Roman"/>
              <a:sym typeface="Times New Roman"/>
            </a:endParaRPr>
          </a:p>
        </p:txBody>
      </p:sp>
      <p:sp>
        <p:nvSpPr>
          <p:cNvPr id="188" name="Google Shape;188;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18</a:t>
            </a:fld>
            <a:endParaRPr/>
          </a:p>
        </p:txBody>
      </p:sp>
      <p:sp>
        <p:nvSpPr>
          <p:cNvPr id="189" name="Google Shape;189;p30"/>
          <p:cNvSpPr txBox="1"/>
          <p:nvPr/>
        </p:nvSpPr>
        <p:spPr>
          <a:xfrm>
            <a:off x="0" y="1291200"/>
            <a:ext cx="9144000" cy="1508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 sz="1200">
                <a:latin typeface="Times New Roman"/>
                <a:ea typeface="Times New Roman"/>
                <a:cs typeface="Times New Roman"/>
                <a:sym typeface="Times New Roman"/>
              </a:rPr>
              <a:t>After applying the functions above and then encoding categories with </a:t>
            </a:r>
            <a:r>
              <a:rPr lang="en" sz="1200">
                <a:solidFill>
                  <a:srgbClr val="188038"/>
                </a:solidFill>
                <a:latin typeface="Times New Roman"/>
                <a:ea typeface="Times New Roman"/>
                <a:cs typeface="Times New Roman"/>
                <a:sym typeface="Times New Roman"/>
              </a:rPr>
              <a:t>drop_first=True</a:t>
            </a:r>
            <a:r>
              <a:rPr lang="en" sz="1200">
                <a:latin typeface="Times New Roman"/>
                <a:ea typeface="Times New Roman"/>
                <a:cs typeface="Times New Roman"/>
                <a:sym typeface="Times New Roman"/>
              </a:rPr>
              <a:t>, our modeling table has 32 input variables. You can see this also in the split printout from the script:</a:t>
            </a:r>
            <a:endParaRPr sz="1200">
              <a:latin typeface="Times New Roman"/>
              <a:ea typeface="Times New Roman"/>
              <a:cs typeface="Times New Roman"/>
              <a:sym typeface="Times New Roman"/>
            </a:endParaRPr>
          </a:p>
          <a:p>
            <a:pPr marL="0" lvl="0" indent="0" algn="ctr" rtl="0">
              <a:lnSpc>
                <a:spcPct val="115000"/>
              </a:lnSpc>
              <a:spcBef>
                <a:spcPts val="1200"/>
              </a:spcBef>
              <a:spcAft>
                <a:spcPts val="0"/>
              </a:spcAft>
              <a:buNone/>
            </a:pPr>
            <a:r>
              <a:rPr lang="en" sz="1200">
                <a:solidFill>
                  <a:srgbClr val="188038"/>
                </a:solidFill>
                <a:latin typeface="Times New Roman"/>
                <a:ea typeface="Times New Roman"/>
                <a:cs typeface="Times New Roman"/>
                <a:sym typeface="Times New Roman"/>
              </a:rPr>
              <a:t>[Split] Train size=(5634, 32), Test size=(1409, 32)</a:t>
            </a:r>
            <a:endParaRPr sz="1200">
              <a:solidFill>
                <a:srgbClr val="188038"/>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endParaRPr sz="900" b="1">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1"/>
          <p:cNvSpPr txBox="1"/>
          <p:nvPr/>
        </p:nvSpPr>
        <p:spPr>
          <a:xfrm>
            <a:off x="-725" y="-2925"/>
            <a:ext cx="4572600" cy="5143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 sz="1500" b="1">
                <a:latin typeface="Times New Roman"/>
                <a:ea typeface="Times New Roman"/>
                <a:cs typeface="Times New Roman"/>
                <a:sym typeface="Times New Roman"/>
              </a:rPr>
              <a:t>7 numeric or binary variables</a:t>
            </a:r>
            <a:endParaRPr sz="1500" b="1">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200">
                <a:latin typeface="Times New Roman"/>
                <a:ea typeface="Times New Roman"/>
                <a:cs typeface="Times New Roman"/>
                <a:sym typeface="Times New Roman"/>
              </a:rPr>
              <a:t>These are already numeric in the table and are not one-hot dummies.</a:t>
            </a:r>
            <a:endParaRPr sz="1200">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200" b="1">
              <a:latin typeface="Times New Roman"/>
              <a:ea typeface="Times New Roman"/>
              <a:cs typeface="Times New Roman"/>
              <a:sym typeface="Times New Roman"/>
            </a:endParaRPr>
          </a:p>
          <a:p>
            <a:pPr marL="457200" lvl="0" indent="-304800" algn="l" rtl="0">
              <a:spcBef>
                <a:spcPts val="1200"/>
              </a:spcBef>
              <a:spcAft>
                <a:spcPts val="0"/>
              </a:spcAft>
              <a:buSzPts val="1200"/>
              <a:buFont typeface="Times New Roman"/>
              <a:buChar char="●"/>
            </a:pPr>
            <a:r>
              <a:rPr lang="en" sz="1200" b="1">
                <a:latin typeface="Times New Roman"/>
                <a:ea typeface="Times New Roman"/>
                <a:cs typeface="Times New Roman"/>
                <a:sym typeface="Times New Roman"/>
              </a:rPr>
              <a:t>tenure</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MonthlyCharges</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avg_spend_per_month</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num_services</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SeniorCitizen</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is_long_contract</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Is_electronic_check</a:t>
            </a:r>
            <a:endParaRPr sz="1200" b="1">
              <a:latin typeface="Times New Roman"/>
              <a:ea typeface="Times New Roman"/>
              <a:cs typeface="Times New Roman"/>
              <a:sym typeface="Times New Roman"/>
            </a:endParaRPr>
          </a:p>
          <a:p>
            <a:pPr marL="0" lvl="0" indent="0" algn="l" rtl="0">
              <a:spcBef>
                <a:spcPts val="0"/>
              </a:spcBef>
              <a:spcAft>
                <a:spcPts val="0"/>
              </a:spcAft>
              <a:buNone/>
            </a:pPr>
            <a:endParaRPr sz="1200" b="1">
              <a:latin typeface="Times New Roman"/>
              <a:ea typeface="Times New Roman"/>
              <a:cs typeface="Times New Roman"/>
              <a:sym typeface="Times New Roman"/>
            </a:endParaRPr>
          </a:p>
          <a:p>
            <a:pPr marL="0" lvl="0" indent="0" algn="l" rtl="0">
              <a:spcBef>
                <a:spcPts val="0"/>
              </a:spcBef>
              <a:spcAft>
                <a:spcPts val="0"/>
              </a:spcAft>
              <a:buNone/>
            </a:pPr>
            <a:endParaRPr sz="1300">
              <a:solidFill>
                <a:schemeClr val="dk2"/>
              </a:solidFill>
              <a:latin typeface="Roboto"/>
              <a:ea typeface="Roboto"/>
              <a:cs typeface="Roboto"/>
              <a:sym typeface="Roboto"/>
            </a:endParaRPr>
          </a:p>
        </p:txBody>
      </p:sp>
      <p:sp>
        <p:nvSpPr>
          <p:cNvPr id="195" name="Google Shape;195;p31"/>
          <p:cNvSpPr txBox="1"/>
          <p:nvPr/>
        </p:nvSpPr>
        <p:spPr>
          <a:xfrm>
            <a:off x="4389525" y="18975"/>
            <a:ext cx="4751700" cy="5143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b="1">
                <a:latin typeface="Times New Roman"/>
                <a:ea typeface="Times New Roman"/>
                <a:cs typeface="Times New Roman"/>
                <a:sym typeface="Times New Roman"/>
              </a:rPr>
              <a:t>25 one-hot encoded dummy variables</a:t>
            </a:r>
            <a:endParaRPr sz="1200" b="1">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200">
                <a:latin typeface="Times New Roman"/>
                <a:ea typeface="Times New Roman"/>
                <a:cs typeface="Times New Roman"/>
                <a:sym typeface="Times New Roman"/>
              </a:rPr>
              <a:t>These come from converting object-type categorical columns to indicators with </a:t>
            </a:r>
            <a:r>
              <a:rPr lang="en" sz="1200">
                <a:solidFill>
                  <a:srgbClr val="188038"/>
                </a:solidFill>
                <a:latin typeface="Times New Roman"/>
                <a:ea typeface="Times New Roman"/>
                <a:cs typeface="Times New Roman"/>
                <a:sym typeface="Times New Roman"/>
              </a:rPr>
              <a:t>drop_first=True</a:t>
            </a:r>
            <a:r>
              <a:rPr lang="en" sz="1200">
                <a:latin typeface="Times New Roman"/>
                <a:ea typeface="Times New Roman"/>
                <a:cs typeface="Times New Roman"/>
                <a:sym typeface="Times New Roman"/>
              </a:rPr>
              <a:t>. The exact names in your run are written to </a:t>
            </a:r>
            <a:r>
              <a:rPr lang="en" sz="1200">
                <a:solidFill>
                  <a:srgbClr val="188038"/>
                </a:solidFill>
                <a:latin typeface="Times New Roman"/>
                <a:ea typeface="Times New Roman"/>
                <a:cs typeface="Times New Roman"/>
                <a:sym typeface="Times New Roman"/>
              </a:rPr>
              <a:t>feature_names_after_encoding.txt</a:t>
            </a:r>
            <a:r>
              <a:rPr lang="en" sz="1200">
                <a:latin typeface="Times New Roman"/>
                <a:ea typeface="Times New Roman"/>
                <a:cs typeface="Times New Roman"/>
                <a:sym typeface="Times New Roman"/>
              </a:rPr>
              <a:t>. Conceptually they include:</a:t>
            </a:r>
            <a:endParaRPr sz="1200">
              <a:latin typeface="Times New Roman"/>
              <a:ea typeface="Times New Roman"/>
              <a:cs typeface="Times New Roman"/>
              <a:sym typeface="Times New Roman"/>
            </a:endParaRPr>
          </a:p>
          <a:p>
            <a:pPr marL="457200" lvl="0" indent="-304800" algn="l" rtl="0">
              <a:spcBef>
                <a:spcPts val="1200"/>
              </a:spcBef>
              <a:spcAft>
                <a:spcPts val="0"/>
              </a:spcAft>
              <a:buSzPts val="1200"/>
              <a:buFont typeface="Times New Roman"/>
              <a:buChar char="●"/>
            </a:pPr>
            <a:r>
              <a:rPr lang="en" sz="1200">
                <a:latin typeface="Times New Roman"/>
                <a:ea typeface="Times New Roman"/>
                <a:cs typeface="Times New Roman"/>
                <a:sym typeface="Times New Roman"/>
              </a:rPr>
              <a:t>gender_Male</a:t>
            </a:r>
            <a:endParaRPr sz="1200">
              <a:latin typeface="Times New Roman"/>
              <a:ea typeface="Times New Roman"/>
              <a:cs typeface="Times New Roman"/>
              <a:sym typeface="Times New Roman"/>
            </a:endParaRPr>
          </a:p>
          <a:p>
            <a:pPr marL="457200" lvl="0" indent="-304800" algn="l" rtl="0">
              <a:spcBef>
                <a:spcPts val="1200"/>
              </a:spcBef>
              <a:spcAft>
                <a:spcPts val="0"/>
              </a:spcAft>
              <a:buSzPts val="1200"/>
              <a:buFont typeface="Times New Roman"/>
              <a:buChar char="●"/>
            </a:pPr>
            <a:r>
              <a:rPr lang="en" sz="1200">
                <a:latin typeface="Times New Roman"/>
                <a:ea typeface="Times New Roman"/>
                <a:cs typeface="Times New Roman"/>
                <a:sym typeface="Times New Roman"/>
              </a:rPr>
              <a:t>Partner_Yes</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Dependents_Yes</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PhoneService_Yes</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MultipleLines_No phone service, MultipleLines_Yes</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InternetService_DSL, InternetService_Fiber optic</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OnlineSecurity_Yes, OnlineBackup_Yes, DeviceProtection_Yes, TechSupport_Yes, StreamingTV_Yes, StreamingMovies_Yes</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PaperlessBilling_Yes</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Contract_One year, Contract_Two year</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Three PaymentMethod_* dummies from the set {Bank transfer (automatic), Credit card (automatic), Electronic check, Mailed check} with one left out as the base</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tenure_group_1_to_2yrs, tenure_group_2_to_4yrs, tenure_group_4_to_6yrs</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monthly_tier_medium, monthly_tier_high</a:t>
            </a:r>
            <a:endParaRPr sz="1200">
              <a:latin typeface="Times New Roman"/>
              <a:ea typeface="Times New Roman"/>
              <a:cs typeface="Times New Roman"/>
              <a:sym typeface="Times New Roman"/>
            </a:endParaRPr>
          </a:p>
          <a:p>
            <a:pPr marL="0" lvl="0" indent="0" algn="l" rtl="0">
              <a:spcBef>
                <a:spcPts val="1200"/>
              </a:spcBef>
              <a:spcAft>
                <a:spcPts val="0"/>
              </a:spcAft>
              <a:buNone/>
            </a:pPr>
            <a:r>
              <a:rPr lang="en" sz="1200">
                <a:latin typeface="Times New Roman"/>
                <a:ea typeface="Times New Roman"/>
                <a:cs typeface="Times New Roman"/>
                <a:sym typeface="Times New Roman"/>
              </a:rPr>
              <a:t>Counting those gives 25 indicators. Together with the 7 numeric or binary variables above, this yields 32 features</a:t>
            </a:r>
            <a:endParaRPr sz="12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2"/>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1371600" lvl="0" indent="0" algn="l" rtl="0">
              <a:lnSpc>
                <a:spcPct val="115000"/>
              </a:lnSpc>
              <a:spcBef>
                <a:spcPts val="1200"/>
              </a:spcBef>
              <a:spcAft>
                <a:spcPts val="0"/>
              </a:spcAft>
              <a:buNone/>
            </a:pPr>
            <a:r>
              <a:rPr lang="en" sz="1200">
                <a:latin typeface="Times New Roman"/>
                <a:ea typeface="Times New Roman"/>
                <a:cs typeface="Times New Roman"/>
                <a:sym typeface="Times New Roman"/>
              </a:rPr>
              <a:t>This screenshot lists the final set of 32 engineered and encoded features used for modeling.</a:t>
            </a:r>
            <a:br>
              <a:rPr lang="en" sz="1200">
                <a:latin typeface="Times New Roman"/>
                <a:ea typeface="Times New Roman"/>
                <a:cs typeface="Times New Roman"/>
                <a:sym typeface="Times New Roman"/>
              </a:rPr>
            </a:br>
            <a:r>
              <a:rPr lang="en" sz="1200">
                <a:latin typeface="Times New Roman"/>
                <a:ea typeface="Times New Roman"/>
                <a:cs typeface="Times New Roman"/>
                <a:sym typeface="Times New Roman"/>
              </a:rPr>
              <a:t> It includes:</a:t>
            </a:r>
            <a:endParaRPr sz="1200">
              <a:latin typeface="Times New Roman"/>
              <a:ea typeface="Times New Roman"/>
              <a:cs typeface="Times New Roman"/>
              <a:sym typeface="Times New Roman"/>
            </a:endParaRPr>
          </a:p>
          <a:p>
            <a:pPr marL="1828800" lvl="0" indent="-304800" algn="l" rtl="0">
              <a:lnSpc>
                <a:spcPct val="115000"/>
              </a:lnSpc>
              <a:spcBef>
                <a:spcPts val="1200"/>
              </a:spcBef>
              <a:spcAft>
                <a:spcPts val="0"/>
              </a:spcAft>
              <a:buSzPts val="1200"/>
              <a:buFont typeface="Times New Roman"/>
              <a:buChar char="●"/>
            </a:pPr>
            <a:r>
              <a:rPr lang="en" sz="1200">
                <a:latin typeface="Times New Roman"/>
                <a:ea typeface="Times New Roman"/>
                <a:cs typeface="Times New Roman"/>
                <a:sym typeface="Times New Roman"/>
              </a:rPr>
              <a:t>7 numeric/binary variables</a:t>
            </a:r>
            <a:endParaRPr sz="1200">
              <a:latin typeface="Times New Roman"/>
              <a:ea typeface="Times New Roman"/>
              <a:cs typeface="Times New Roman"/>
              <a:sym typeface="Times New Roman"/>
            </a:endParaRPr>
          </a:p>
          <a:p>
            <a:pPr marL="1828800" lvl="0" indent="-304800" algn="l" rtl="0">
              <a:lnSpc>
                <a:spcPct val="115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25 one-hot encoded dummy variables</a:t>
            </a:r>
            <a:endParaRPr sz="1200">
              <a:latin typeface="Times New Roman"/>
              <a:ea typeface="Times New Roman"/>
              <a:cs typeface="Times New Roman"/>
              <a:sym typeface="Times New Roman"/>
            </a:endParaRPr>
          </a:p>
        </p:txBody>
      </p:sp>
      <p:sp>
        <p:nvSpPr>
          <p:cNvPr id="201" name="Google Shape;201;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20</a:t>
            </a:fld>
            <a:endParaRPr/>
          </a:p>
        </p:txBody>
      </p:sp>
      <p:pic>
        <p:nvPicPr>
          <p:cNvPr id="202" name="Google Shape;202;p32"/>
          <p:cNvPicPr preferRelativeResize="0"/>
          <p:nvPr/>
        </p:nvPicPr>
        <p:blipFill>
          <a:blip r:embed="rId3">
            <a:alphaModFix/>
          </a:blip>
          <a:stretch>
            <a:fillRect/>
          </a:stretch>
        </p:blipFill>
        <p:spPr>
          <a:xfrm>
            <a:off x="2123450" y="1291200"/>
            <a:ext cx="3629650" cy="38522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3"/>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457200" lvl="0" indent="0" algn="ctr" rtl="0">
              <a:lnSpc>
                <a:spcPct val="115000"/>
              </a:lnSpc>
              <a:spcBef>
                <a:spcPts val="1200"/>
              </a:spcBef>
              <a:spcAft>
                <a:spcPts val="1200"/>
              </a:spcAft>
              <a:buNone/>
            </a:pPr>
            <a:r>
              <a:rPr lang="en" sz="1900">
                <a:latin typeface="Times New Roman"/>
                <a:ea typeface="Times New Roman"/>
                <a:cs typeface="Times New Roman"/>
                <a:sym typeface="Times New Roman"/>
              </a:rPr>
              <a:t>7 numeric/binary variables</a:t>
            </a:r>
            <a:endParaRPr sz="1900">
              <a:latin typeface="Times New Roman"/>
              <a:ea typeface="Times New Roman"/>
              <a:cs typeface="Times New Roman"/>
              <a:sym typeface="Times New Roman"/>
            </a:endParaRPr>
          </a:p>
        </p:txBody>
      </p:sp>
      <p:sp>
        <p:nvSpPr>
          <p:cNvPr id="208" name="Google Shape;208;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21</a:t>
            </a:fld>
            <a:endParaRPr/>
          </a:p>
        </p:txBody>
      </p:sp>
      <p:pic>
        <p:nvPicPr>
          <p:cNvPr id="209" name="Google Shape;209;p33"/>
          <p:cNvPicPr preferRelativeResize="0"/>
          <p:nvPr/>
        </p:nvPicPr>
        <p:blipFill>
          <a:blip r:embed="rId3">
            <a:alphaModFix/>
          </a:blip>
          <a:stretch>
            <a:fillRect/>
          </a:stretch>
        </p:blipFill>
        <p:spPr>
          <a:xfrm>
            <a:off x="2767013" y="2023775"/>
            <a:ext cx="3609975" cy="2209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4"/>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457200" lvl="0" indent="0" algn="ctr" rtl="0">
              <a:lnSpc>
                <a:spcPct val="115000"/>
              </a:lnSpc>
              <a:spcBef>
                <a:spcPts val="1200"/>
              </a:spcBef>
              <a:spcAft>
                <a:spcPts val="1200"/>
              </a:spcAft>
              <a:buNone/>
            </a:pPr>
            <a:r>
              <a:rPr lang="en" sz="1900">
                <a:latin typeface="Times New Roman"/>
                <a:ea typeface="Times New Roman"/>
                <a:cs typeface="Times New Roman"/>
                <a:sym typeface="Times New Roman"/>
              </a:rPr>
              <a:t>25 one-hot encoded dummy variables</a:t>
            </a:r>
            <a:endParaRPr sz="1900">
              <a:latin typeface="Times New Roman"/>
              <a:ea typeface="Times New Roman"/>
              <a:cs typeface="Times New Roman"/>
              <a:sym typeface="Times New Roman"/>
            </a:endParaRPr>
          </a:p>
        </p:txBody>
      </p:sp>
      <p:sp>
        <p:nvSpPr>
          <p:cNvPr id="215" name="Google Shape;215;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22</a:t>
            </a:fld>
            <a:endParaRPr/>
          </a:p>
        </p:txBody>
      </p:sp>
      <p:pic>
        <p:nvPicPr>
          <p:cNvPr id="216" name="Google Shape;216;p34"/>
          <p:cNvPicPr preferRelativeResize="0"/>
          <p:nvPr/>
        </p:nvPicPr>
        <p:blipFill>
          <a:blip r:embed="rId3">
            <a:alphaModFix/>
          </a:blip>
          <a:stretch>
            <a:fillRect/>
          </a:stretch>
        </p:blipFill>
        <p:spPr>
          <a:xfrm>
            <a:off x="1485900" y="1291200"/>
            <a:ext cx="5524500" cy="3852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5"/>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457200" lvl="0" indent="0" algn="ctr" rtl="0">
              <a:lnSpc>
                <a:spcPct val="115000"/>
              </a:lnSpc>
              <a:spcBef>
                <a:spcPts val="1200"/>
              </a:spcBef>
              <a:spcAft>
                <a:spcPts val="1200"/>
              </a:spcAft>
              <a:buNone/>
            </a:pPr>
            <a:r>
              <a:rPr lang="en" sz="1900">
                <a:latin typeface="Times New Roman"/>
                <a:ea typeface="Times New Roman"/>
                <a:cs typeface="Times New Roman"/>
                <a:sym typeface="Times New Roman"/>
              </a:rPr>
              <a:t>3.5 Separation of Variables by Source</a:t>
            </a:r>
            <a:endParaRPr sz="1900">
              <a:latin typeface="Times New Roman"/>
              <a:ea typeface="Times New Roman"/>
              <a:cs typeface="Times New Roman"/>
              <a:sym typeface="Times New Roman"/>
            </a:endParaRPr>
          </a:p>
        </p:txBody>
      </p:sp>
      <p:sp>
        <p:nvSpPr>
          <p:cNvPr id="222" name="Google Shape;222;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23</a:t>
            </a:fld>
            <a:endParaRPr/>
          </a:p>
        </p:txBody>
      </p:sp>
      <p:pic>
        <p:nvPicPr>
          <p:cNvPr id="223" name="Google Shape;223;p35"/>
          <p:cNvPicPr preferRelativeResize="0"/>
          <p:nvPr/>
        </p:nvPicPr>
        <p:blipFill>
          <a:blip r:embed="rId3">
            <a:alphaModFix/>
          </a:blip>
          <a:stretch>
            <a:fillRect/>
          </a:stretch>
        </p:blipFill>
        <p:spPr>
          <a:xfrm>
            <a:off x="0" y="1291200"/>
            <a:ext cx="3981450" cy="3852300"/>
          </a:xfrm>
          <a:prstGeom prst="rect">
            <a:avLst/>
          </a:prstGeom>
          <a:noFill/>
          <a:ln>
            <a:noFill/>
          </a:ln>
        </p:spPr>
      </p:pic>
      <p:sp>
        <p:nvSpPr>
          <p:cNvPr id="224" name="Google Shape;224;p35"/>
          <p:cNvSpPr txBox="1"/>
          <p:nvPr/>
        </p:nvSpPr>
        <p:spPr>
          <a:xfrm>
            <a:off x="3996025" y="1278225"/>
            <a:ext cx="5148000" cy="3865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latin typeface="Times New Roman"/>
                <a:ea typeface="Times New Roman"/>
                <a:cs typeface="Times New Roman"/>
                <a:sym typeface="Times New Roman"/>
              </a:rPr>
              <a:t>The screenshot illustrates the split between </a:t>
            </a:r>
            <a:r>
              <a:rPr lang="en" sz="1200" b="1">
                <a:latin typeface="Times New Roman"/>
                <a:ea typeface="Times New Roman"/>
                <a:cs typeface="Times New Roman"/>
                <a:sym typeface="Times New Roman"/>
              </a:rPr>
              <a:t>numeric/binary variables</a:t>
            </a:r>
            <a:r>
              <a:rPr lang="en" sz="1200">
                <a:latin typeface="Times New Roman"/>
                <a:ea typeface="Times New Roman"/>
                <a:cs typeface="Times New Roman"/>
                <a:sym typeface="Times New Roman"/>
              </a:rPr>
              <a:t> (7) and </a:t>
            </a:r>
            <a:r>
              <a:rPr lang="en" sz="1200" b="1">
                <a:latin typeface="Times New Roman"/>
                <a:ea typeface="Times New Roman"/>
                <a:cs typeface="Times New Roman"/>
                <a:sym typeface="Times New Roman"/>
              </a:rPr>
              <a:t>categorical dummy variables</a:t>
            </a:r>
            <a:r>
              <a:rPr lang="en" sz="1200">
                <a:latin typeface="Times New Roman"/>
                <a:ea typeface="Times New Roman"/>
                <a:cs typeface="Times New Roman"/>
                <a:sym typeface="Times New Roman"/>
              </a:rPr>
              <a:t> (25).</a:t>
            </a:r>
            <a:endParaRPr sz="1200">
              <a:latin typeface="Times New Roman"/>
              <a:ea typeface="Times New Roman"/>
              <a:cs typeface="Times New Roman"/>
              <a:sym typeface="Times New Roman"/>
            </a:endParaRPr>
          </a:p>
          <a:p>
            <a:pPr marL="457200" lvl="0" indent="-304800" algn="l" rtl="0">
              <a:lnSpc>
                <a:spcPct val="115000"/>
              </a:lnSpc>
              <a:spcBef>
                <a:spcPts val="1200"/>
              </a:spcBef>
              <a:spcAft>
                <a:spcPts val="0"/>
              </a:spcAft>
              <a:buSzPts val="1200"/>
              <a:buFont typeface="Times New Roman"/>
              <a:buChar char="●"/>
            </a:pPr>
            <a:r>
              <a:rPr lang="en" sz="1200">
                <a:latin typeface="Times New Roman"/>
                <a:ea typeface="Times New Roman"/>
                <a:cs typeface="Times New Roman"/>
                <a:sym typeface="Times New Roman"/>
              </a:rPr>
              <a:t>Numeric/binary variables come from </a:t>
            </a:r>
            <a:r>
              <a:rPr lang="en" sz="1200" b="1">
                <a:latin typeface="Times New Roman"/>
                <a:ea typeface="Times New Roman"/>
                <a:cs typeface="Times New Roman"/>
                <a:sym typeface="Times New Roman"/>
              </a:rPr>
              <a:t>direct attributes or simple engineered business features</a:t>
            </a:r>
            <a:r>
              <a:rPr lang="en" sz="1200">
                <a:latin typeface="Times New Roman"/>
                <a:ea typeface="Times New Roman"/>
                <a:cs typeface="Times New Roman"/>
                <a:sym typeface="Times New Roman"/>
              </a:rPr>
              <a:t>. For example, </a:t>
            </a:r>
            <a:r>
              <a:rPr lang="en" sz="1200">
                <a:solidFill>
                  <a:srgbClr val="188038"/>
                </a:solidFill>
                <a:latin typeface="Times New Roman"/>
                <a:ea typeface="Times New Roman"/>
                <a:cs typeface="Times New Roman"/>
                <a:sym typeface="Times New Roman"/>
              </a:rPr>
              <a:t>avg_spend_per_month</a:t>
            </a:r>
            <a:r>
              <a:rPr lang="en" sz="1200">
                <a:latin typeface="Times New Roman"/>
                <a:ea typeface="Times New Roman"/>
                <a:cs typeface="Times New Roman"/>
                <a:sym typeface="Times New Roman"/>
              </a:rPr>
              <a:t> was derived by dividing total charges by tenure, and </a:t>
            </a:r>
            <a:r>
              <a:rPr lang="en" sz="1200">
                <a:solidFill>
                  <a:srgbClr val="188038"/>
                </a:solidFill>
                <a:latin typeface="Times New Roman"/>
                <a:ea typeface="Times New Roman"/>
                <a:cs typeface="Times New Roman"/>
                <a:sym typeface="Times New Roman"/>
              </a:rPr>
              <a:t>num_services</a:t>
            </a:r>
            <a:r>
              <a:rPr lang="en" sz="1200">
                <a:latin typeface="Times New Roman"/>
                <a:ea typeface="Times New Roman"/>
                <a:cs typeface="Times New Roman"/>
                <a:sym typeface="Times New Roman"/>
              </a:rPr>
              <a:t> counts the number of active services.</a:t>
            </a: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One-hot encoded variables represent </a:t>
            </a:r>
            <a:r>
              <a:rPr lang="en" sz="1200" b="1">
                <a:latin typeface="Times New Roman"/>
                <a:ea typeface="Times New Roman"/>
                <a:cs typeface="Times New Roman"/>
                <a:sym typeface="Times New Roman"/>
              </a:rPr>
              <a:t>categorical fields transformed into multiple binary indicators</a:t>
            </a:r>
            <a:r>
              <a:rPr lang="en" sz="1200">
                <a:latin typeface="Times New Roman"/>
                <a:ea typeface="Times New Roman"/>
                <a:cs typeface="Times New Roman"/>
                <a:sym typeface="Times New Roman"/>
              </a:rPr>
              <a:t>. For instance, </a:t>
            </a:r>
            <a:r>
              <a:rPr lang="en" sz="1200">
                <a:solidFill>
                  <a:srgbClr val="188038"/>
                </a:solidFill>
                <a:latin typeface="Times New Roman"/>
                <a:ea typeface="Times New Roman"/>
                <a:cs typeface="Times New Roman"/>
                <a:sym typeface="Times New Roman"/>
              </a:rPr>
              <a:t>Contract</a:t>
            </a:r>
            <a:r>
              <a:rPr lang="en" sz="1200">
                <a:latin typeface="Times New Roman"/>
                <a:ea typeface="Times New Roman"/>
                <a:cs typeface="Times New Roman"/>
                <a:sym typeface="Times New Roman"/>
              </a:rPr>
              <a:t> originally had 3 categories; after encoding, it became </a:t>
            </a:r>
            <a:r>
              <a:rPr lang="en" sz="1200">
                <a:solidFill>
                  <a:srgbClr val="188038"/>
                </a:solidFill>
                <a:latin typeface="Times New Roman"/>
                <a:ea typeface="Times New Roman"/>
                <a:cs typeface="Times New Roman"/>
                <a:sym typeface="Times New Roman"/>
              </a:rPr>
              <a:t>Contract_One year</a:t>
            </a:r>
            <a:r>
              <a:rPr lang="en" sz="1200">
                <a:latin typeface="Times New Roman"/>
                <a:ea typeface="Times New Roman"/>
                <a:cs typeface="Times New Roman"/>
                <a:sym typeface="Times New Roman"/>
              </a:rPr>
              <a:t> and </a:t>
            </a:r>
            <a:r>
              <a:rPr lang="en" sz="1200">
                <a:solidFill>
                  <a:srgbClr val="188038"/>
                </a:solidFill>
                <a:latin typeface="Times New Roman"/>
                <a:ea typeface="Times New Roman"/>
                <a:cs typeface="Times New Roman"/>
                <a:sym typeface="Times New Roman"/>
              </a:rPr>
              <a:t>Contract_Two year</a:t>
            </a:r>
            <a:r>
              <a:rPr lang="en" sz="1200">
                <a:latin typeface="Times New Roman"/>
                <a:ea typeface="Times New Roman"/>
                <a:cs typeface="Times New Roman"/>
                <a:sym typeface="Times New Roman"/>
              </a:rPr>
              <a:t>, with the third category implied as the baseline.</a:t>
            </a:r>
            <a:endParaRPr sz="12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200">
                <a:latin typeface="Times New Roman"/>
                <a:ea typeface="Times New Roman"/>
                <a:cs typeface="Times New Roman"/>
                <a:sym typeface="Times New Roman"/>
              </a:rPr>
              <a:t>This separation makes it easier to understand </a:t>
            </a:r>
            <a:r>
              <a:rPr lang="en" sz="1200" b="1">
                <a:latin typeface="Times New Roman"/>
                <a:ea typeface="Times New Roman"/>
                <a:cs typeface="Times New Roman"/>
                <a:sym typeface="Times New Roman"/>
              </a:rPr>
              <a:t>which features retain direct interpretability</a:t>
            </a:r>
            <a:r>
              <a:rPr lang="en" sz="1200">
                <a:latin typeface="Times New Roman"/>
                <a:ea typeface="Times New Roman"/>
                <a:cs typeface="Times New Roman"/>
                <a:sym typeface="Times New Roman"/>
              </a:rPr>
              <a:t> and </a:t>
            </a:r>
            <a:r>
              <a:rPr lang="en" sz="1200" b="1">
                <a:latin typeface="Times New Roman"/>
                <a:ea typeface="Times New Roman"/>
                <a:cs typeface="Times New Roman"/>
                <a:sym typeface="Times New Roman"/>
              </a:rPr>
              <a:t>which are encoded indicators</a:t>
            </a: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p>
            <a:pPr marL="457200" lvl="0" indent="-304800" algn="l" rtl="0">
              <a:lnSpc>
                <a:spcPct val="115000"/>
              </a:lnSpc>
              <a:spcBef>
                <a:spcPts val="1200"/>
              </a:spcBef>
              <a:spcAft>
                <a:spcPts val="0"/>
              </a:spcAft>
              <a:buSzPts val="1200"/>
              <a:buFont typeface="Times New Roman"/>
              <a:buChar char="●"/>
            </a:pPr>
            <a:r>
              <a:rPr lang="en" sz="1200">
                <a:latin typeface="Times New Roman"/>
                <a:ea typeface="Times New Roman"/>
                <a:cs typeface="Times New Roman"/>
                <a:sym typeface="Times New Roman"/>
              </a:rPr>
              <a:t>Remaining features like Partner, PhoneService, StreamingTV, etc. contributed 1 dummy each. This breakdown explains why we end up with 7 numeric/binary + 25 dummy variables = 32 total.</a:t>
            </a:r>
            <a:endParaRPr sz="1300">
              <a:solidFill>
                <a:schemeClr val="dk2"/>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6"/>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0" lvl="0" indent="0" algn="ctr" rtl="0">
              <a:lnSpc>
                <a:spcPct val="115000"/>
              </a:lnSpc>
              <a:spcBef>
                <a:spcPts val="1200"/>
              </a:spcBef>
              <a:spcAft>
                <a:spcPts val="1200"/>
              </a:spcAft>
              <a:buNone/>
            </a:pPr>
            <a:r>
              <a:rPr lang="en" sz="1900">
                <a:latin typeface="Times New Roman"/>
                <a:ea typeface="Times New Roman"/>
                <a:cs typeface="Times New Roman"/>
                <a:sym typeface="Times New Roman"/>
              </a:rPr>
              <a:t>Example Note:</a:t>
            </a:r>
            <a:endParaRPr sz="2000">
              <a:latin typeface="Times New Roman"/>
              <a:ea typeface="Times New Roman"/>
              <a:cs typeface="Times New Roman"/>
              <a:sym typeface="Times New Roman"/>
            </a:endParaRPr>
          </a:p>
        </p:txBody>
      </p:sp>
      <p:sp>
        <p:nvSpPr>
          <p:cNvPr id="230" name="Google Shape;230;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24</a:t>
            </a:fld>
            <a:endParaRPr/>
          </a:p>
        </p:txBody>
      </p:sp>
      <p:sp>
        <p:nvSpPr>
          <p:cNvPr id="231" name="Google Shape;231;p36"/>
          <p:cNvSpPr txBox="1"/>
          <p:nvPr/>
        </p:nvSpPr>
        <p:spPr>
          <a:xfrm>
            <a:off x="0" y="1291200"/>
            <a:ext cx="9144000" cy="2553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 sz="1200" b="1">
                <a:latin typeface="Times New Roman"/>
                <a:ea typeface="Times New Roman"/>
                <a:cs typeface="Times New Roman"/>
                <a:sym typeface="Times New Roman"/>
              </a:rPr>
              <a:t>Example Note:</a:t>
            </a:r>
            <a:br>
              <a:rPr lang="en" sz="1200" b="1">
                <a:latin typeface="Times New Roman"/>
                <a:ea typeface="Times New Roman"/>
                <a:cs typeface="Times New Roman"/>
                <a:sym typeface="Times New Roman"/>
              </a:rPr>
            </a:br>
            <a:br>
              <a:rPr lang="en" sz="1200" b="1">
                <a:latin typeface="Times New Roman"/>
                <a:ea typeface="Times New Roman"/>
                <a:cs typeface="Times New Roman"/>
                <a:sym typeface="Times New Roman"/>
              </a:rPr>
            </a:br>
            <a:r>
              <a:rPr lang="en" sz="1200">
                <a:latin typeface="Times New Roman"/>
                <a:ea typeface="Times New Roman"/>
                <a:cs typeface="Times New Roman"/>
                <a:sym typeface="Times New Roman"/>
              </a:rPr>
              <a:t>The raw </a:t>
            </a:r>
            <a:r>
              <a:rPr lang="en" sz="1200">
                <a:solidFill>
                  <a:srgbClr val="188038"/>
                </a:solidFill>
                <a:latin typeface="Times New Roman"/>
                <a:ea typeface="Times New Roman"/>
                <a:cs typeface="Times New Roman"/>
                <a:sym typeface="Times New Roman"/>
              </a:rPr>
              <a:t>tenure</a:t>
            </a:r>
            <a:r>
              <a:rPr lang="en" sz="1200">
                <a:latin typeface="Times New Roman"/>
                <a:ea typeface="Times New Roman"/>
                <a:cs typeface="Times New Roman"/>
                <a:sym typeface="Times New Roman"/>
              </a:rPr>
              <a:t> column is counted once in the 7 numeric features, while its discretized versions contribute 3 additional dummy variables in the 25 dummy group. This is not double-counting, because the two serve different roles in the model:</a:t>
            </a:r>
            <a:endParaRPr sz="1200">
              <a:latin typeface="Times New Roman"/>
              <a:ea typeface="Times New Roman"/>
              <a:cs typeface="Times New Roman"/>
              <a:sym typeface="Times New Roman"/>
            </a:endParaRPr>
          </a:p>
          <a:p>
            <a:pPr marL="457200" lvl="0" indent="-304800" algn="l" rtl="0">
              <a:lnSpc>
                <a:spcPct val="115000"/>
              </a:lnSpc>
              <a:spcBef>
                <a:spcPts val="1200"/>
              </a:spcBef>
              <a:spcAft>
                <a:spcPts val="0"/>
              </a:spcAft>
              <a:buSzPts val="1200"/>
              <a:buFont typeface="Times New Roman"/>
              <a:buChar char="●"/>
            </a:pPr>
            <a:r>
              <a:rPr lang="en" sz="1200">
                <a:latin typeface="Times New Roman"/>
                <a:ea typeface="Times New Roman"/>
                <a:cs typeface="Times New Roman"/>
                <a:sym typeface="Times New Roman"/>
              </a:rPr>
              <a:t>Continuous tenure provides a fine-grained numeric predictor.</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Tenure group dummies capture non-linear effects in broader categories.</a:t>
            </a:r>
            <a:endParaRPr sz="1200">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7"/>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0" lvl="0" indent="0" algn="ctr" rtl="0">
              <a:lnSpc>
                <a:spcPct val="115000"/>
              </a:lnSpc>
              <a:spcBef>
                <a:spcPts val="1200"/>
              </a:spcBef>
              <a:spcAft>
                <a:spcPts val="1200"/>
              </a:spcAft>
              <a:buNone/>
            </a:pPr>
            <a:r>
              <a:rPr lang="en" sz="1900">
                <a:latin typeface="Times New Roman"/>
                <a:ea typeface="Times New Roman"/>
                <a:cs typeface="Times New Roman"/>
                <a:sym typeface="Times New Roman"/>
              </a:rPr>
              <a:t>3.6 Why encoding is necessary</a:t>
            </a:r>
            <a:endParaRPr sz="2000">
              <a:latin typeface="Times New Roman"/>
              <a:ea typeface="Times New Roman"/>
              <a:cs typeface="Times New Roman"/>
              <a:sym typeface="Times New Roman"/>
            </a:endParaRPr>
          </a:p>
        </p:txBody>
      </p:sp>
      <p:sp>
        <p:nvSpPr>
          <p:cNvPr id="237" name="Google Shape;237;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25</a:t>
            </a:fld>
            <a:endParaRPr/>
          </a:p>
        </p:txBody>
      </p:sp>
      <p:sp>
        <p:nvSpPr>
          <p:cNvPr id="238" name="Google Shape;238;p37"/>
          <p:cNvSpPr txBox="1"/>
          <p:nvPr/>
        </p:nvSpPr>
        <p:spPr>
          <a:xfrm>
            <a:off x="0" y="1291200"/>
            <a:ext cx="9144000" cy="3852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 sz="1300">
                <a:latin typeface="Times New Roman"/>
                <a:ea typeface="Times New Roman"/>
                <a:cs typeface="Times New Roman"/>
                <a:sym typeface="Times New Roman"/>
              </a:rPr>
              <a:t>Machine learning models require numerical input, but many fields in the Telco dataset are categorical (e.g., contract type, payment method, internet service). If used directly, these text-based categories would be meaningless to algorithms.</a:t>
            </a:r>
            <a:endParaRPr sz="1300">
              <a:latin typeface="Times New Roman"/>
              <a:ea typeface="Times New Roman"/>
              <a:cs typeface="Times New Roman"/>
              <a:sym typeface="Times New Roman"/>
            </a:endParaRPr>
          </a:p>
          <a:p>
            <a:pPr marL="457200" lvl="0" indent="-311150" algn="l" rtl="0">
              <a:lnSpc>
                <a:spcPct val="115000"/>
              </a:lnSpc>
              <a:spcBef>
                <a:spcPts val="1200"/>
              </a:spcBef>
              <a:spcAft>
                <a:spcPts val="0"/>
              </a:spcAft>
              <a:buSzPts val="1300"/>
              <a:buFont typeface="Times New Roman"/>
              <a:buChar char="●"/>
            </a:pPr>
            <a:r>
              <a:rPr lang="en" sz="1300">
                <a:latin typeface="Times New Roman"/>
                <a:ea typeface="Times New Roman"/>
                <a:cs typeface="Times New Roman"/>
                <a:sym typeface="Times New Roman"/>
              </a:rPr>
              <a:t>Encoding converts each category into </a:t>
            </a:r>
            <a:r>
              <a:rPr lang="en" sz="1300" b="1">
                <a:latin typeface="Times New Roman"/>
                <a:ea typeface="Times New Roman"/>
                <a:cs typeface="Times New Roman"/>
                <a:sym typeface="Times New Roman"/>
              </a:rPr>
              <a:t>dummy variables (0/1 flags)</a:t>
            </a:r>
            <a:r>
              <a:rPr lang="en" sz="1300">
                <a:latin typeface="Times New Roman"/>
                <a:ea typeface="Times New Roman"/>
                <a:cs typeface="Times New Roman"/>
                <a:sym typeface="Times New Roman"/>
              </a:rPr>
              <a:t>.</a:t>
            </a:r>
            <a:br>
              <a:rPr lang="en" sz="1300">
                <a:latin typeface="Times New Roman"/>
                <a:ea typeface="Times New Roman"/>
                <a:cs typeface="Times New Roman"/>
                <a:sym typeface="Times New Roman"/>
              </a:rPr>
            </a:br>
            <a:endParaRPr sz="1300">
              <a:latin typeface="Times New Roman"/>
              <a:ea typeface="Times New Roman"/>
              <a:cs typeface="Times New Roman"/>
              <a:sym typeface="Times New Roman"/>
            </a:endParaRPr>
          </a:p>
          <a:p>
            <a:pPr marL="457200" lvl="0" indent="-311150" algn="l" rtl="0">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This allows the model to learn </a:t>
            </a:r>
            <a:r>
              <a:rPr lang="en" sz="1300" b="1">
                <a:latin typeface="Times New Roman"/>
                <a:ea typeface="Times New Roman"/>
                <a:cs typeface="Times New Roman"/>
                <a:sym typeface="Times New Roman"/>
              </a:rPr>
              <a:t>different risk patterns</a:t>
            </a:r>
            <a:r>
              <a:rPr lang="en" sz="1300">
                <a:latin typeface="Times New Roman"/>
                <a:ea typeface="Times New Roman"/>
                <a:cs typeface="Times New Roman"/>
                <a:sym typeface="Times New Roman"/>
              </a:rPr>
              <a:t> associated with each category.</a:t>
            </a:r>
            <a:br>
              <a:rPr lang="en" sz="1300">
                <a:latin typeface="Times New Roman"/>
                <a:ea typeface="Times New Roman"/>
                <a:cs typeface="Times New Roman"/>
                <a:sym typeface="Times New Roman"/>
              </a:rPr>
            </a:br>
            <a:endParaRPr sz="1300">
              <a:latin typeface="Times New Roman"/>
              <a:ea typeface="Times New Roman"/>
              <a:cs typeface="Times New Roman"/>
              <a:sym typeface="Times New Roman"/>
            </a:endParaRPr>
          </a:p>
          <a:p>
            <a:pPr marL="457200" lvl="0" indent="-311150" algn="l" rtl="0">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By dropping redundant columns (one per category group), we avoid the </a:t>
            </a:r>
            <a:r>
              <a:rPr lang="en" sz="1300" b="1">
                <a:latin typeface="Times New Roman"/>
                <a:ea typeface="Times New Roman"/>
                <a:cs typeface="Times New Roman"/>
                <a:sym typeface="Times New Roman"/>
              </a:rPr>
              <a:t>dummy variable trap</a:t>
            </a:r>
            <a:r>
              <a:rPr lang="en" sz="1300">
                <a:latin typeface="Times New Roman"/>
                <a:ea typeface="Times New Roman"/>
                <a:cs typeface="Times New Roman"/>
                <a:sym typeface="Times New Roman"/>
              </a:rPr>
              <a:t> and multicollinearity.</a:t>
            </a:r>
            <a:endParaRPr sz="13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300">
                <a:latin typeface="Times New Roman"/>
                <a:ea typeface="Times New Roman"/>
                <a:cs typeface="Times New Roman"/>
                <a:sym typeface="Times New Roman"/>
              </a:rPr>
              <a:t>For example:</a:t>
            </a:r>
            <a:endParaRPr sz="1300">
              <a:latin typeface="Times New Roman"/>
              <a:ea typeface="Times New Roman"/>
              <a:cs typeface="Times New Roman"/>
              <a:sym typeface="Times New Roman"/>
            </a:endParaRPr>
          </a:p>
          <a:p>
            <a:pPr marL="457200" lvl="0" indent="-311150" algn="l" rtl="0">
              <a:lnSpc>
                <a:spcPct val="115000"/>
              </a:lnSpc>
              <a:spcBef>
                <a:spcPts val="1200"/>
              </a:spcBef>
              <a:spcAft>
                <a:spcPts val="0"/>
              </a:spcAft>
              <a:buSzPts val="1300"/>
              <a:buFont typeface="Times New Roman"/>
              <a:buChar char="●"/>
            </a:pPr>
            <a:r>
              <a:rPr lang="en" sz="1300">
                <a:latin typeface="Times New Roman"/>
                <a:ea typeface="Times New Roman"/>
                <a:cs typeface="Times New Roman"/>
                <a:sym typeface="Times New Roman"/>
              </a:rPr>
              <a:t>Original: </a:t>
            </a:r>
            <a:r>
              <a:rPr lang="en" sz="1300">
                <a:solidFill>
                  <a:srgbClr val="188038"/>
                </a:solidFill>
                <a:latin typeface="Times New Roman"/>
                <a:ea typeface="Times New Roman"/>
                <a:cs typeface="Times New Roman"/>
                <a:sym typeface="Times New Roman"/>
              </a:rPr>
              <a:t>Contract = {Month-to-month, One year, Two year}</a:t>
            </a:r>
            <a:br>
              <a:rPr lang="en" sz="1300">
                <a:solidFill>
                  <a:srgbClr val="188038"/>
                </a:solidFill>
                <a:latin typeface="Times New Roman"/>
                <a:ea typeface="Times New Roman"/>
                <a:cs typeface="Times New Roman"/>
                <a:sym typeface="Times New Roman"/>
              </a:rPr>
            </a:br>
            <a:endParaRPr sz="1300">
              <a:solidFill>
                <a:srgbClr val="188038"/>
              </a:solidFill>
              <a:latin typeface="Times New Roman"/>
              <a:ea typeface="Times New Roman"/>
              <a:cs typeface="Times New Roman"/>
              <a:sym typeface="Times New Roman"/>
            </a:endParaRPr>
          </a:p>
          <a:p>
            <a:pPr marL="457200" lvl="0" indent="-311150" algn="l" rtl="0">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Encoded: </a:t>
            </a:r>
            <a:r>
              <a:rPr lang="en" sz="1300">
                <a:solidFill>
                  <a:srgbClr val="188038"/>
                </a:solidFill>
                <a:latin typeface="Times New Roman"/>
                <a:ea typeface="Times New Roman"/>
                <a:cs typeface="Times New Roman"/>
                <a:sym typeface="Times New Roman"/>
              </a:rPr>
              <a:t>Contract_One year</a:t>
            </a:r>
            <a:r>
              <a:rPr lang="en" sz="1300">
                <a:latin typeface="Times New Roman"/>
                <a:ea typeface="Times New Roman"/>
                <a:cs typeface="Times New Roman"/>
                <a:sym typeface="Times New Roman"/>
              </a:rPr>
              <a:t>, </a:t>
            </a:r>
            <a:r>
              <a:rPr lang="en" sz="1300">
                <a:solidFill>
                  <a:srgbClr val="188038"/>
                </a:solidFill>
                <a:latin typeface="Times New Roman"/>
                <a:ea typeface="Times New Roman"/>
                <a:cs typeface="Times New Roman"/>
                <a:sym typeface="Times New Roman"/>
              </a:rPr>
              <a:t>Contract_Two year</a:t>
            </a:r>
            <a:br>
              <a:rPr lang="en" sz="1300">
                <a:solidFill>
                  <a:srgbClr val="188038"/>
                </a:solidFill>
                <a:latin typeface="Times New Roman"/>
                <a:ea typeface="Times New Roman"/>
                <a:cs typeface="Times New Roman"/>
                <a:sym typeface="Times New Roman"/>
              </a:rPr>
            </a:br>
            <a:r>
              <a:rPr lang="en" sz="1300">
                <a:latin typeface="Times New Roman"/>
                <a:ea typeface="Times New Roman"/>
                <a:cs typeface="Times New Roman"/>
                <a:sym typeface="Times New Roman"/>
              </a:rPr>
              <a:t> (Month-to-month is the baseline reference, automatically implied).</a:t>
            </a:r>
            <a:endParaRPr sz="1300">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sz="1300">
                <a:latin typeface="Times New Roman"/>
                <a:ea typeface="Times New Roman"/>
                <a:cs typeface="Times New Roman"/>
                <a:sym typeface="Times New Roman"/>
              </a:rPr>
              <a:t>Thus, encoding is </a:t>
            </a:r>
            <a:r>
              <a:rPr lang="en" sz="1300" b="1">
                <a:latin typeface="Times New Roman"/>
                <a:ea typeface="Times New Roman"/>
                <a:cs typeface="Times New Roman"/>
                <a:sym typeface="Times New Roman"/>
              </a:rPr>
              <a:t>necessary to translate categorical business information into numerical signals</a:t>
            </a:r>
            <a:r>
              <a:rPr lang="en" sz="1300">
                <a:latin typeface="Times New Roman"/>
                <a:ea typeface="Times New Roman"/>
                <a:cs typeface="Times New Roman"/>
                <a:sym typeface="Times New Roman"/>
              </a:rPr>
              <a:t> usable by ML models.</a:t>
            </a:r>
            <a:endParaRPr sz="1300" b="1">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8"/>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0" lvl="0" indent="0" algn="ctr" rtl="0">
              <a:lnSpc>
                <a:spcPct val="115000"/>
              </a:lnSpc>
              <a:spcBef>
                <a:spcPts val="1200"/>
              </a:spcBef>
              <a:spcAft>
                <a:spcPts val="1200"/>
              </a:spcAft>
              <a:buNone/>
            </a:pPr>
            <a:r>
              <a:rPr lang="en" sz="1900">
                <a:latin typeface="Times New Roman"/>
                <a:ea typeface="Times New Roman"/>
                <a:cs typeface="Times New Roman"/>
                <a:sym typeface="Times New Roman"/>
              </a:rPr>
              <a:t>3.7 Final dataset shape</a:t>
            </a:r>
            <a:endParaRPr sz="2000">
              <a:latin typeface="Times New Roman"/>
              <a:ea typeface="Times New Roman"/>
              <a:cs typeface="Times New Roman"/>
              <a:sym typeface="Times New Roman"/>
            </a:endParaRPr>
          </a:p>
        </p:txBody>
      </p:sp>
      <p:sp>
        <p:nvSpPr>
          <p:cNvPr id="244" name="Google Shape;244;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a:p>
        </p:txBody>
      </p:sp>
      <p:sp>
        <p:nvSpPr>
          <p:cNvPr id="245" name="Google Shape;245;p38"/>
          <p:cNvSpPr txBox="1"/>
          <p:nvPr/>
        </p:nvSpPr>
        <p:spPr>
          <a:xfrm>
            <a:off x="0" y="1291200"/>
            <a:ext cx="4572000" cy="38523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SzPts val="1200"/>
              <a:buFont typeface="Times New Roman"/>
              <a:buChar char="●"/>
            </a:pPr>
            <a:r>
              <a:rPr lang="en" sz="1200">
                <a:latin typeface="Times New Roman"/>
                <a:ea typeface="Times New Roman"/>
                <a:cs typeface="Times New Roman"/>
                <a:sym typeface="Times New Roman"/>
              </a:rPr>
              <a:t>Training set: 5,634 rows × 32 features</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Test set: 1,409 rows × 32 features</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The churn target is separate from these features</a:t>
            </a:r>
            <a:endParaRPr sz="12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200">
                <a:latin typeface="Times New Roman"/>
                <a:ea typeface="Times New Roman"/>
                <a:cs typeface="Times New Roman"/>
                <a:sym typeface="Times New Roman"/>
              </a:rPr>
              <a:t>We split the dataset into </a:t>
            </a:r>
            <a:r>
              <a:rPr lang="en" sz="1200" b="1">
                <a:latin typeface="Times New Roman"/>
                <a:ea typeface="Times New Roman"/>
                <a:cs typeface="Times New Roman"/>
                <a:sym typeface="Times New Roman"/>
              </a:rPr>
              <a:t>80% training (5,634 customers)</a:t>
            </a:r>
            <a:r>
              <a:rPr lang="en" sz="1200">
                <a:latin typeface="Times New Roman"/>
                <a:ea typeface="Times New Roman"/>
                <a:cs typeface="Times New Roman"/>
                <a:sym typeface="Times New Roman"/>
              </a:rPr>
              <a:t> and </a:t>
            </a:r>
            <a:r>
              <a:rPr lang="en" sz="1200" b="1">
                <a:latin typeface="Times New Roman"/>
                <a:ea typeface="Times New Roman"/>
                <a:cs typeface="Times New Roman"/>
                <a:sym typeface="Times New Roman"/>
              </a:rPr>
              <a:t>20% testing (1,409 customers)</a:t>
            </a: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2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200">
                <a:latin typeface="Times New Roman"/>
                <a:ea typeface="Times New Roman"/>
                <a:cs typeface="Times New Roman"/>
                <a:sym typeface="Times New Roman"/>
              </a:rPr>
              <a:t>The final dataset was split into training and test sets using stratified sampling, ensuring that the churn ratio remains consistent in both subsets.</a:t>
            </a:r>
            <a:endParaRPr sz="1200">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200">
              <a:latin typeface="Times New Roman"/>
              <a:ea typeface="Times New Roman"/>
              <a:cs typeface="Times New Roman"/>
              <a:sym typeface="Times New Roman"/>
            </a:endParaRPr>
          </a:p>
        </p:txBody>
      </p:sp>
      <p:pic>
        <p:nvPicPr>
          <p:cNvPr id="246" name="Google Shape;246;p38"/>
          <p:cNvPicPr preferRelativeResize="0"/>
          <p:nvPr/>
        </p:nvPicPr>
        <p:blipFill>
          <a:blip r:embed="rId3">
            <a:alphaModFix/>
          </a:blip>
          <a:stretch>
            <a:fillRect/>
          </a:stretch>
        </p:blipFill>
        <p:spPr>
          <a:xfrm>
            <a:off x="5423138" y="1291200"/>
            <a:ext cx="2869825" cy="1507875"/>
          </a:xfrm>
          <a:prstGeom prst="rect">
            <a:avLst/>
          </a:prstGeom>
          <a:noFill/>
          <a:ln>
            <a:noFill/>
          </a:ln>
        </p:spPr>
      </p:pic>
      <p:sp>
        <p:nvSpPr>
          <p:cNvPr id="247" name="Google Shape;247;p38"/>
          <p:cNvSpPr txBox="1"/>
          <p:nvPr/>
        </p:nvSpPr>
        <p:spPr>
          <a:xfrm>
            <a:off x="4572050" y="2799075"/>
            <a:ext cx="4572000" cy="2315100"/>
          </a:xfrm>
          <a:prstGeom prst="rect">
            <a:avLst/>
          </a:prstGeom>
          <a:noFill/>
          <a:ln>
            <a:noFill/>
          </a:ln>
        </p:spPr>
        <p:txBody>
          <a:bodyPr spcFirstLastPara="1" wrap="square" lIns="91425" tIns="91425" rIns="91425" bIns="91425" anchor="t" anchorCtr="0">
            <a:noAutofit/>
          </a:bodyPr>
          <a:lstStyle/>
          <a:p>
            <a:pPr marL="457200" lvl="0" indent="-304800" algn="l" rtl="0">
              <a:lnSpc>
                <a:spcPct val="150000"/>
              </a:lnSpc>
              <a:spcBef>
                <a:spcPts val="1200"/>
              </a:spcBef>
              <a:spcAft>
                <a:spcPts val="0"/>
              </a:spcAft>
              <a:buSzPts val="1200"/>
              <a:buFont typeface="Times New Roman"/>
              <a:buChar char="●"/>
            </a:pPr>
            <a:r>
              <a:rPr lang="en" sz="1200" b="1">
                <a:latin typeface="Times New Roman"/>
                <a:ea typeface="Times New Roman"/>
                <a:cs typeface="Times New Roman"/>
                <a:sym typeface="Times New Roman"/>
              </a:rPr>
              <a:t>Train set:</a:t>
            </a:r>
            <a:r>
              <a:rPr lang="en" sz="1200">
                <a:latin typeface="Times New Roman"/>
                <a:ea typeface="Times New Roman"/>
                <a:cs typeface="Times New Roman"/>
                <a:sym typeface="Times New Roman"/>
              </a:rPr>
              <a:t> 5634 customers with 32 features each</a:t>
            </a:r>
            <a:endParaRPr sz="1200">
              <a:latin typeface="Times New Roman"/>
              <a:ea typeface="Times New Roman"/>
              <a:cs typeface="Times New Roman"/>
              <a:sym typeface="Times New Roman"/>
            </a:endParaRPr>
          </a:p>
          <a:p>
            <a:pPr marL="457200" lvl="0" indent="-304800" algn="l" rtl="0">
              <a:lnSpc>
                <a:spcPct val="150000"/>
              </a:lnSpc>
              <a:spcBef>
                <a:spcPts val="0"/>
              </a:spcBef>
              <a:spcAft>
                <a:spcPts val="0"/>
              </a:spcAft>
              <a:buSzPts val="1200"/>
              <a:buFont typeface="Times New Roman"/>
              <a:buChar char="●"/>
            </a:pPr>
            <a:r>
              <a:rPr lang="en" sz="1200" b="1">
                <a:latin typeface="Times New Roman"/>
                <a:ea typeface="Times New Roman"/>
                <a:cs typeface="Times New Roman"/>
                <a:sym typeface="Times New Roman"/>
              </a:rPr>
              <a:t>Test set:</a:t>
            </a:r>
            <a:r>
              <a:rPr lang="en" sz="1200">
                <a:latin typeface="Times New Roman"/>
                <a:ea typeface="Times New Roman"/>
                <a:cs typeface="Times New Roman"/>
                <a:sym typeface="Times New Roman"/>
              </a:rPr>
              <a:t> 1409 customers with the same 32 features</a:t>
            </a:r>
            <a:endParaRPr sz="1200">
              <a:latin typeface="Times New Roman"/>
              <a:ea typeface="Times New Roman"/>
              <a:cs typeface="Times New Roman"/>
              <a:sym typeface="Times New Roman"/>
            </a:endParaRPr>
          </a:p>
          <a:p>
            <a:pPr marL="457200" lvl="0" indent="-304800" algn="l" rtl="0">
              <a:lnSpc>
                <a:spcPct val="150000"/>
              </a:lnSpc>
              <a:spcBef>
                <a:spcPts val="0"/>
              </a:spcBef>
              <a:spcAft>
                <a:spcPts val="0"/>
              </a:spcAft>
              <a:buSzPts val="1200"/>
              <a:buFont typeface="Times New Roman"/>
              <a:buChar char="●"/>
            </a:pPr>
            <a:r>
              <a:rPr lang="en" sz="1200" b="1">
                <a:latin typeface="Times New Roman"/>
                <a:ea typeface="Times New Roman"/>
                <a:cs typeface="Times New Roman"/>
                <a:sym typeface="Times New Roman"/>
              </a:rPr>
              <a:t>Churn rate (26.5%): </a:t>
            </a:r>
            <a:r>
              <a:rPr lang="en" sz="1200">
                <a:latin typeface="Times New Roman"/>
                <a:ea typeface="Times New Roman"/>
                <a:cs typeface="Times New Roman"/>
                <a:sym typeface="Times New Roman"/>
              </a:rPr>
              <a:t>This means that in both train and test, about 26.5% of customers have churned. Maintaining this rate across splits is crucial because churn is an imbalanced classification problem. Stratification ensures the model sees realistic proportions of churners in both training and evaluation.</a:t>
            </a:r>
            <a:endParaRPr sz="1200" b="1">
              <a:latin typeface="Times New Roman"/>
              <a:ea typeface="Times New Roman"/>
              <a:cs typeface="Times New Roman"/>
              <a:sym typeface="Times New Roman"/>
            </a:endParaRPr>
          </a:p>
          <a:p>
            <a:pPr marL="0" lvl="0" indent="0" algn="l" rtl="0">
              <a:lnSpc>
                <a:spcPct val="150000"/>
              </a:lnSpc>
              <a:spcBef>
                <a:spcPts val="1200"/>
              </a:spcBef>
              <a:spcAft>
                <a:spcPts val="1200"/>
              </a:spcAft>
              <a:buNone/>
            </a:pPr>
            <a:endParaRPr sz="120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251"/>
        <p:cNvGrpSpPr/>
        <p:nvPr/>
      </p:nvGrpSpPr>
      <p:grpSpPr>
        <a:xfrm>
          <a:off x="0" y="0"/>
          <a:ext cx="0" cy="0"/>
          <a:chOff x="0" y="0"/>
          <a:chExt cx="0" cy="0"/>
        </a:xfrm>
      </p:grpSpPr>
      <p:sp>
        <p:nvSpPr>
          <p:cNvPr id="252" name="Google Shape;252;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27</a:t>
            </a:fld>
            <a:endParaRPr/>
          </a:p>
        </p:txBody>
      </p:sp>
      <p:sp>
        <p:nvSpPr>
          <p:cNvPr id="253" name="Google Shape;253;p39"/>
          <p:cNvSpPr txBox="1">
            <a:spLocks noGrp="1"/>
          </p:cNvSpPr>
          <p:nvPr>
            <p:ph type="title"/>
          </p:nvPr>
        </p:nvSpPr>
        <p:spPr>
          <a:xfrm>
            <a:off x="0" y="198625"/>
            <a:ext cx="4308900" cy="25089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ctr" rtl="0">
              <a:lnSpc>
                <a:spcPct val="100000"/>
              </a:lnSpc>
              <a:spcBef>
                <a:spcPts val="0"/>
              </a:spcBef>
              <a:spcAft>
                <a:spcPts val="0"/>
              </a:spcAft>
              <a:buNone/>
            </a:pPr>
            <a:r>
              <a:rPr lang="en" sz="1900" b="1">
                <a:latin typeface="Times New Roman"/>
                <a:ea typeface="Times New Roman"/>
                <a:cs typeface="Times New Roman"/>
                <a:sym typeface="Times New Roman"/>
              </a:rPr>
              <a:t>Section 4: Modeling (LR, RF, HGB)</a:t>
            </a:r>
            <a:endParaRPr sz="19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457200" lvl="0" indent="-304800" algn="l" rtl="0">
              <a:spcBef>
                <a:spcPts val="1200"/>
              </a:spcBef>
              <a:spcAft>
                <a:spcPts val="0"/>
              </a:spcAft>
              <a:buSzPts val="1200"/>
              <a:buFont typeface="Times New Roman"/>
              <a:buChar char="●"/>
            </a:pPr>
            <a:r>
              <a:rPr lang="en" sz="1200" b="1">
                <a:latin typeface="Times New Roman"/>
                <a:ea typeface="Times New Roman"/>
                <a:cs typeface="Times New Roman"/>
                <a:sym typeface="Times New Roman"/>
              </a:rPr>
              <a:t>Explanation of each algorithm.</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Why chosen.</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How thresholds were selected.</a:t>
            </a:r>
            <a:endParaRPr sz="1200" b="1">
              <a:latin typeface="Times New Roman"/>
              <a:ea typeface="Times New Roman"/>
              <a:cs typeface="Times New Roman"/>
              <a:sym typeface="Times New Roman"/>
            </a:endParaRPr>
          </a:p>
        </p:txBody>
      </p:sp>
      <p:sp>
        <p:nvSpPr>
          <p:cNvPr id="254" name="Google Shape;254;p39"/>
          <p:cNvSpPr txBox="1">
            <a:spLocks noGrp="1"/>
          </p:cNvSpPr>
          <p:nvPr>
            <p:ph type="body" idx="1"/>
          </p:nvPr>
        </p:nvSpPr>
        <p:spPr>
          <a:xfrm>
            <a:off x="4308925" y="0"/>
            <a:ext cx="4835100" cy="51435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200">
                <a:solidFill>
                  <a:srgbClr val="000000"/>
                </a:solidFill>
                <a:latin typeface="Times New Roman"/>
                <a:ea typeface="Times New Roman"/>
                <a:cs typeface="Times New Roman"/>
                <a:sym typeface="Times New Roman"/>
              </a:rPr>
              <a:t>We trained three models on the 32 engineered features: Logistic Regression, Random Forest, and Histogram Gradient Boosting.</a:t>
            </a:r>
            <a:endParaRPr sz="1200">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Training used a stratified 80/20 split so that churn prevalence stayed consistent across train and test.</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A 5-fold stratified cross validation loop provided out-of-fold predictions for threshold selection.</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Class imbalance was addressed in two ways:</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914400" lvl="1" indent="-304800" algn="l" rtl="0">
              <a:spcBef>
                <a:spcPts val="0"/>
              </a:spcBef>
              <a:spcAft>
                <a:spcPts val="0"/>
              </a:spcAft>
              <a:buClr>
                <a:srgbClr val="000000"/>
              </a:buClr>
              <a:buSzPts val="1200"/>
              <a:buFont typeface="Times New Roman"/>
              <a:buAutoNum type="arabicPeriod"/>
            </a:pPr>
            <a:r>
              <a:rPr lang="en" sz="1200">
                <a:solidFill>
                  <a:srgbClr val="000000"/>
                </a:solidFill>
                <a:latin typeface="Times New Roman"/>
                <a:ea typeface="Times New Roman"/>
                <a:cs typeface="Times New Roman"/>
                <a:sym typeface="Times New Roman"/>
              </a:rPr>
              <a:t>By setting </a:t>
            </a:r>
            <a:r>
              <a:rPr lang="en" sz="1200">
                <a:solidFill>
                  <a:srgbClr val="188038"/>
                </a:solidFill>
                <a:latin typeface="Times New Roman"/>
                <a:ea typeface="Times New Roman"/>
                <a:cs typeface="Times New Roman"/>
                <a:sym typeface="Times New Roman"/>
              </a:rPr>
              <a:t>class_weight="balanced"</a:t>
            </a:r>
            <a:r>
              <a:rPr lang="en" sz="1200">
                <a:solidFill>
                  <a:srgbClr val="000000"/>
                </a:solidFill>
                <a:latin typeface="Times New Roman"/>
                <a:ea typeface="Times New Roman"/>
                <a:cs typeface="Times New Roman"/>
                <a:sym typeface="Times New Roman"/>
              </a:rPr>
              <a:t> where the library supported it.</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914400" lvl="1" indent="-304800" algn="l" rtl="0">
              <a:spcBef>
                <a:spcPts val="0"/>
              </a:spcBef>
              <a:spcAft>
                <a:spcPts val="0"/>
              </a:spcAft>
              <a:buClr>
                <a:srgbClr val="000000"/>
              </a:buClr>
              <a:buSzPts val="1200"/>
              <a:buFont typeface="Times New Roman"/>
              <a:buAutoNum type="arabicPeriod"/>
            </a:pPr>
            <a:r>
              <a:rPr lang="en" sz="1200">
                <a:solidFill>
                  <a:srgbClr val="000000"/>
                </a:solidFill>
                <a:latin typeface="Times New Roman"/>
                <a:ea typeface="Times New Roman"/>
                <a:cs typeface="Times New Roman"/>
                <a:sym typeface="Times New Roman"/>
              </a:rPr>
              <a:t>By selecting operating thresholds that guarantee at least 80% recall.</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258"/>
        <p:cNvGrpSpPr/>
        <p:nvPr/>
      </p:nvGrpSpPr>
      <p:grpSpPr>
        <a:xfrm>
          <a:off x="0" y="0"/>
          <a:ext cx="0" cy="0"/>
          <a:chOff x="0" y="0"/>
          <a:chExt cx="0" cy="0"/>
        </a:xfrm>
      </p:grpSpPr>
      <p:sp>
        <p:nvSpPr>
          <p:cNvPr id="259" name="Google Shape;259;p40"/>
          <p:cNvSpPr txBox="1">
            <a:spLocks noGrp="1"/>
          </p:cNvSpPr>
          <p:nvPr>
            <p:ph type="subTitle" idx="1"/>
          </p:nvPr>
        </p:nvSpPr>
        <p:spPr>
          <a:xfrm>
            <a:off x="378550" y="1456775"/>
            <a:ext cx="3704400" cy="926700"/>
          </a:xfrm>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1200"/>
              </a:spcAft>
              <a:buNone/>
            </a:pPr>
            <a:r>
              <a:rPr lang="en" sz="1900">
                <a:solidFill>
                  <a:schemeClr val="lt1"/>
                </a:solidFill>
                <a:latin typeface="Times New Roman"/>
                <a:ea typeface="Times New Roman"/>
                <a:cs typeface="Times New Roman"/>
                <a:sym typeface="Times New Roman"/>
              </a:rPr>
              <a:t>4.1 Logistic Regression (LR)</a:t>
            </a:r>
            <a:endParaRPr sz="1900">
              <a:solidFill>
                <a:schemeClr val="lt1"/>
              </a:solidFill>
              <a:latin typeface="Times New Roman"/>
              <a:ea typeface="Times New Roman"/>
              <a:cs typeface="Times New Roman"/>
              <a:sym typeface="Times New Roman"/>
            </a:endParaRPr>
          </a:p>
        </p:txBody>
      </p:sp>
      <p:sp>
        <p:nvSpPr>
          <p:cNvPr id="260" name="Google Shape;260;p40"/>
          <p:cNvSpPr txBox="1">
            <a:spLocks noGrp="1"/>
          </p:cNvSpPr>
          <p:nvPr>
            <p:ph type="body" idx="2"/>
          </p:nvPr>
        </p:nvSpPr>
        <p:spPr>
          <a:xfrm>
            <a:off x="4879025" y="500925"/>
            <a:ext cx="3954000" cy="4111500"/>
          </a:xfrm>
          <a:prstGeom prst="rect">
            <a:avLst/>
          </a:prstGeom>
        </p:spPr>
        <p:txBody>
          <a:bodyPr spcFirstLastPara="1" wrap="square" lIns="91425" tIns="91425" rIns="91425" bIns="91425" anchor="ctr" anchorCtr="0">
            <a:normAutofit/>
          </a:bodyPr>
          <a:lstStyle/>
          <a:p>
            <a:pPr marL="0" lvl="0" indent="0" algn="l" rtl="0">
              <a:spcBef>
                <a:spcPts val="1400"/>
              </a:spcBef>
              <a:spcAft>
                <a:spcPts val="0"/>
              </a:spcAft>
              <a:buNone/>
            </a:pPr>
            <a:r>
              <a:rPr lang="en" b="1">
                <a:solidFill>
                  <a:srgbClr val="000000"/>
                </a:solidFill>
                <a:latin typeface="Times New Roman"/>
                <a:ea typeface="Times New Roman"/>
                <a:cs typeface="Times New Roman"/>
                <a:sym typeface="Times New Roman"/>
              </a:rPr>
              <a:t>What it is and why we used it</a:t>
            </a:r>
            <a:endParaRPr b="1">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r>
              <a:rPr lang="en" sz="1200">
                <a:solidFill>
                  <a:srgbClr val="000000"/>
                </a:solidFill>
                <a:latin typeface="Times New Roman"/>
                <a:ea typeface="Times New Roman"/>
                <a:cs typeface="Times New Roman"/>
                <a:sym typeface="Times New Roman"/>
              </a:rPr>
              <a:t>Logistic Regression models the log-odds of churn as a linear function of the features, then maps that to a probability between 0 and 1. It is fast, robust, and interpretible, which makes it a strong baseline for churn. Because linear models are sensitive to feature scale, we standardized features inside the pipeline. We also used </a:t>
            </a:r>
            <a:r>
              <a:rPr lang="en" sz="1200">
                <a:solidFill>
                  <a:srgbClr val="188038"/>
                </a:solidFill>
                <a:latin typeface="Times New Roman"/>
                <a:ea typeface="Times New Roman"/>
                <a:cs typeface="Times New Roman"/>
                <a:sym typeface="Times New Roman"/>
              </a:rPr>
              <a:t>class_weight="balanced"</a:t>
            </a:r>
            <a:r>
              <a:rPr lang="en" sz="1200">
                <a:solidFill>
                  <a:srgbClr val="000000"/>
                </a:solidFill>
                <a:latin typeface="Times New Roman"/>
                <a:ea typeface="Times New Roman"/>
                <a:cs typeface="Times New Roman"/>
                <a:sym typeface="Times New Roman"/>
              </a:rPr>
              <a:t> so minority churners are not underweighted during training.</a:t>
            </a:r>
            <a:endParaRPr/>
          </a:p>
        </p:txBody>
      </p:sp>
      <p:sp>
        <p:nvSpPr>
          <p:cNvPr id="261" name="Google Shape;261;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265"/>
        <p:cNvGrpSpPr/>
        <p:nvPr/>
      </p:nvGrpSpPr>
      <p:grpSpPr>
        <a:xfrm>
          <a:off x="0" y="0"/>
          <a:ext cx="0" cy="0"/>
          <a:chOff x="0" y="0"/>
          <a:chExt cx="0" cy="0"/>
        </a:xfrm>
      </p:grpSpPr>
      <p:sp>
        <p:nvSpPr>
          <p:cNvPr id="266" name="Google Shape;266;p41"/>
          <p:cNvSpPr txBox="1">
            <a:spLocks noGrp="1"/>
          </p:cNvSpPr>
          <p:nvPr>
            <p:ph type="subTitle" idx="1"/>
          </p:nvPr>
        </p:nvSpPr>
        <p:spPr>
          <a:xfrm>
            <a:off x="0" y="0"/>
            <a:ext cx="4572000" cy="5143500"/>
          </a:xfrm>
          <a:prstGeom prst="rect">
            <a:avLst/>
          </a:prstGeom>
        </p:spPr>
        <p:txBody>
          <a:bodyPr spcFirstLastPara="1" wrap="square" lIns="91425" tIns="91425" rIns="91425" bIns="91425" anchor="t" anchorCtr="0">
            <a:normAutofit lnSpcReduction="20000"/>
          </a:bodyPr>
          <a:lstStyle/>
          <a:p>
            <a:pPr marL="0" lvl="0" indent="0" algn="l" rtl="0">
              <a:lnSpc>
                <a:spcPct val="115000"/>
              </a:lnSpc>
              <a:spcBef>
                <a:spcPts val="1200"/>
              </a:spcBef>
              <a:spcAft>
                <a:spcPts val="0"/>
              </a:spcAft>
              <a:buNone/>
            </a:pPr>
            <a:endParaRPr sz="1200">
              <a:solidFill>
                <a:schemeClr val="lt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200" b="1">
                <a:solidFill>
                  <a:schemeClr val="lt1"/>
                </a:solidFill>
                <a:latin typeface="Times New Roman"/>
                <a:ea typeface="Times New Roman"/>
                <a:cs typeface="Times New Roman"/>
                <a:sym typeface="Times New Roman"/>
              </a:rPr>
              <a:t>Exact code from our final script</a:t>
            </a:r>
            <a:endParaRPr sz="1200">
              <a:solidFill>
                <a:schemeClr val="lt1"/>
              </a:solidFill>
              <a:latin typeface="Times New Roman"/>
              <a:ea typeface="Times New Roman"/>
              <a:cs typeface="Times New Roman"/>
              <a:sym typeface="Times New Roman"/>
            </a:endParaRPr>
          </a:p>
          <a:p>
            <a:pPr marL="0" lvl="0" indent="0" algn="l" rtl="0">
              <a:spcBef>
                <a:spcPts val="1200"/>
              </a:spcBef>
              <a:spcAft>
                <a:spcPts val="0"/>
              </a:spcAft>
              <a:buNone/>
            </a:pPr>
            <a:r>
              <a:rPr lang="en" sz="1200">
                <a:solidFill>
                  <a:schemeClr val="lt1"/>
                </a:solidFill>
                <a:latin typeface="Times New Roman"/>
                <a:ea typeface="Times New Roman"/>
                <a:cs typeface="Times New Roman"/>
                <a:sym typeface="Times New Roman"/>
              </a:rPr>
              <a:t>def build_models() -&gt; Dict[str, object]:</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lr = Pipeline([</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("scaler", StandardScaler()),</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("clf", LogisticRegression(</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class_weight="balanced",</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C=0.5,</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max_iter=2000,</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random_state=RANDOM_STATE</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rf = RandomForestClassifier(</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n_estimators=300,</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max_depth=None,</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min_samples_leaf=2,</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class_weight="balanced",</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random_state=RANDOM_STATE,</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n_jobs=-1</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hgb = HistGradientBoostingClassifier(</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learning_rate=0.05,</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max_depth=3,</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max_iter=300,</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random_state=RANDOM_STATE</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return {"LR": lr, "RF": rf, "HGB": hgb}</a:t>
            </a:r>
            <a:endParaRPr sz="1200">
              <a:solidFill>
                <a:schemeClr val="lt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900">
              <a:solidFill>
                <a:schemeClr val="lt1"/>
              </a:solidFill>
              <a:latin typeface="Times New Roman"/>
              <a:ea typeface="Times New Roman"/>
              <a:cs typeface="Times New Roman"/>
              <a:sym typeface="Times New Roman"/>
            </a:endParaRPr>
          </a:p>
        </p:txBody>
      </p:sp>
      <p:sp>
        <p:nvSpPr>
          <p:cNvPr id="267" name="Google Shape;267;p41"/>
          <p:cNvSpPr txBox="1">
            <a:spLocks noGrp="1"/>
          </p:cNvSpPr>
          <p:nvPr>
            <p:ph type="body" idx="2"/>
          </p:nvPr>
        </p:nvSpPr>
        <p:spPr>
          <a:xfrm>
            <a:off x="4572000" y="0"/>
            <a:ext cx="4572000" cy="5143500"/>
          </a:xfrm>
          <a:prstGeom prst="rect">
            <a:avLst/>
          </a:prstGeom>
        </p:spPr>
        <p:txBody>
          <a:bodyPr spcFirstLastPara="1" wrap="square" lIns="91425" tIns="91425" rIns="91425" bIns="91425" anchor="ctr" anchorCtr="0">
            <a:normAutofit/>
          </a:bodyPr>
          <a:lstStyle/>
          <a:p>
            <a:pPr marL="0" lvl="0" indent="0" algn="l" rtl="0">
              <a:spcBef>
                <a:spcPts val="1200"/>
              </a:spcBef>
              <a:spcAft>
                <a:spcPts val="0"/>
              </a:spcAft>
              <a:buNone/>
            </a:pPr>
            <a:r>
              <a:rPr lang="en" sz="1200">
                <a:solidFill>
                  <a:srgbClr val="000000"/>
                </a:solidFill>
                <a:latin typeface="Times New Roman"/>
                <a:ea typeface="Times New Roman"/>
                <a:cs typeface="Times New Roman"/>
                <a:sym typeface="Times New Roman"/>
              </a:rPr>
              <a:t>The </a:t>
            </a:r>
            <a:r>
              <a:rPr lang="en" sz="1200">
                <a:solidFill>
                  <a:srgbClr val="188038"/>
                </a:solidFill>
                <a:latin typeface="Times New Roman"/>
                <a:ea typeface="Times New Roman"/>
                <a:cs typeface="Times New Roman"/>
                <a:sym typeface="Times New Roman"/>
              </a:rPr>
              <a:t>StandardScaler</a:t>
            </a:r>
            <a:r>
              <a:rPr lang="en" sz="1200">
                <a:solidFill>
                  <a:srgbClr val="000000"/>
                </a:solidFill>
                <a:latin typeface="Times New Roman"/>
                <a:ea typeface="Times New Roman"/>
                <a:cs typeface="Times New Roman"/>
                <a:sym typeface="Times New Roman"/>
              </a:rPr>
              <a:t> in the pipeline prevents large-scale features like MonthlyCharges from dominating the optimization.</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200">
                <a:solidFill>
                  <a:srgbClr val="188038"/>
                </a:solidFill>
                <a:latin typeface="Times New Roman"/>
                <a:ea typeface="Times New Roman"/>
                <a:cs typeface="Times New Roman"/>
                <a:sym typeface="Times New Roman"/>
              </a:rPr>
              <a:t>class_weight="balanced"</a:t>
            </a:r>
            <a:r>
              <a:rPr lang="en" sz="1200">
                <a:solidFill>
                  <a:srgbClr val="000000"/>
                </a:solidFill>
                <a:latin typeface="Times New Roman"/>
                <a:ea typeface="Times New Roman"/>
                <a:cs typeface="Times New Roman"/>
                <a:sym typeface="Times New Roman"/>
              </a:rPr>
              <a:t> increases the penalty for misclassifying churners, improving recall.</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r>
              <a:rPr lang="en" sz="1200">
                <a:solidFill>
                  <a:srgbClr val="000000"/>
                </a:solidFill>
                <a:latin typeface="Times New Roman"/>
                <a:ea typeface="Times New Roman"/>
                <a:cs typeface="Times New Roman"/>
                <a:sym typeface="Times New Roman"/>
              </a:rPr>
              <a:t>With threshold tuning, Logistic Regression achieved the best overall balance on our success criteria and was ranked first. In our run, the selected threshold was </a:t>
            </a:r>
            <a:r>
              <a:rPr lang="en" sz="1200" b="1">
                <a:solidFill>
                  <a:srgbClr val="000000"/>
                </a:solidFill>
                <a:latin typeface="Times New Roman"/>
                <a:ea typeface="Times New Roman"/>
                <a:cs typeface="Times New Roman"/>
                <a:sym typeface="Times New Roman"/>
              </a:rPr>
              <a:t>0.45</a:t>
            </a:r>
            <a:r>
              <a:rPr lang="en" sz="1200">
                <a:solidFill>
                  <a:srgbClr val="000000"/>
                </a:solidFill>
                <a:latin typeface="Times New Roman"/>
                <a:ea typeface="Times New Roman"/>
                <a:cs typeface="Times New Roman"/>
                <a:sym typeface="Times New Roman"/>
              </a:rPr>
              <a:t> which yielded </a:t>
            </a:r>
            <a:r>
              <a:rPr lang="en" sz="1200" b="1">
                <a:solidFill>
                  <a:srgbClr val="000000"/>
                </a:solidFill>
                <a:latin typeface="Times New Roman"/>
                <a:ea typeface="Times New Roman"/>
                <a:cs typeface="Times New Roman"/>
                <a:sym typeface="Times New Roman"/>
              </a:rPr>
              <a:t>Recall 82.9 percent</a:t>
            </a:r>
            <a:r>
              <a:rPr lang="en" sz="1200">
                <a:solidFill>
                  <a:srgbClr val="000000"/>
                </a:solidFill>
                <a:latin typeface="Times New Roman"/>
                <a:ea typeface="Times New Roman"/>
                <a:cs typeface="Times New Roman"/>
                <a:sym typeface="Times New Roman"/>
              </a:rPr>
              <a:t> and </a:t>
            </a:r>
            <a:r>
              <a:rPr lang="en" sz="1200" b="1">
                <a:solidFill>
                  <a:srgbClr val="000000"/>
                </a:solidFill>
                <a:latin typeface="Times New Roman"/>
                <a:ea typeface="Times New Roman"/>
                <a:cs typeface="Times New Roman"/>
                <a:sym typeface="Times New Roman"/>
              </a:rPr>
              <a:t>Accuracy 72.4 percent</a:t>
            </a:r>
            <a:r>
              <a:rPr lang="en" sz="1200">
                <a:solidFill>
                  <a:srgbClr val="000000"/>
                </a:solidFill>
                <a:latin typeface="Times New Roman"/>
                <a:ea typeface="Times New Roman"/>
                <a:cs typeface="Times New Roman"/>
                <a:sym typeface="Times New Roman"/>
              </a:rPr>
              <a:t> on the test set.</a:t>
            </a:r>
            <a:endParaRPr b="1">
              <a:solidFill>
                <a:srgbClr val="000000"/>
              </a:solidFill>
              <a:latin typeface="Times New Roman"/>
              <a:ea typeface="Times New Roman"/>
              <a:cs typeface="Times New Roman"/>
              <a:sym typeface="Times New Roman"/>
            </a:endParaRPr>
          </a:p>
        </p:txBody>
      </p:sp>
      <p:sp>
        <p:nvSpPr>
          <p:cNvPr id="268" name="Google Shape;268;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272"/>
        <p:cNvGrpSpPr/>
        <p:nvPr/>
      </p:nvGrpSpPr>
      <p:grpSpPr>
        <a:xfrm>
          <a:off x="0" y="0"/>
          <a:ext cx="0" cy="0"/>
          <a:chOff x="0" y="0"/>
          <a:chExt cx="0" cy="0"/>
        </a:xfrm>
      </p:grpSpPr>
      <p:sp>
        <p:nvSpPr>
          <p:cNvPr id="273" name="Google Shape;273;p42"/>
          <p:cNvSpPr txBox="1">
            <a:spLocks noGrp="1"/>
          </p:cNvSpPr>
          <p:nvPr>
            <p:ph type="subTitle" idx="1"/>
          </p:nvPr>
        </p:nvSpPr>
        <p:spPr>
          <a:xfrm>
            <a:off x="378550" y="1456775"/>
            <a:ext cx="3704400" cy="926700"/>
          </a:xfrm>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1200"/>
              </a:spcAft>
              <a:buNone/>
            </a:pPr>
            <a:r>
              <a:rPr lang="en" sz="1900">
                <a:solidFill>
                  <a:schemeClr val="lt1"/>
                </a:solidFill>
                <a:latin typeface="Times New Roman"/>
                <a:ea typeface="Times New Roman"/>
                <a:cs typeface="Times New Roman"/>
                <a:sym typeface="Times New Roman"/>
              </a:rPr>
              <a:t>4.2 Random Forest (RF)</a:t>
            </a:r>
            <a:endParaRPr sz="1900">
              <a:solidFill>
                <a:schemeClr val="lt1"/>
              </a:solidFill>
              <a:latin typeface="Times New Roman"/>
              <a:ea typeface="Times New Roman"/>
              <a:cs typeface="Times New Roman"/>
              <a:sym typeface="Times New Roman"/>
            </a:endParaRPr>
          </a:p>
        </p:txBody>
      </p:sp>
      <p:sp>
        <p:nvSpPr>
          <p:cNvPr id="274" name="Google Shape;274;p42"/>
          <p:cNvSpPr txBox="1">
            <a:spLocks noGrp="1"/>
          </p:cNvSpPr>
          <p:nvPr>
            <p:ph type="body" idx="2"/>
          </p:nvPr>
        </p:nvSpPr>
        <p:spPr>
          <a:xfrm>
            <a:off x="4572000" y="0"/>
            <a:ext cx="4572000" cy="5056800"/>
          </a:xfrm>
          <a:prstGeom prst="rect">
            <a:avLst/>
          </a:prstGeom>
        </p:spPr>
        <p:txBody>
          <a:bodyPr spcFirstLastPara="1" wrap="square" lIns="91425" tIns="91425" rIns="91425" bIns="91425" anchor="ctr" anchorCtr="0">
            <a:normAutofit/>
          </a:bodyPr>
          <a:lstStyle/>
          <a:p>
            <a:pPr marL="0" lvl="0" indent="0" algn="l" rtl="0">
              <a:spcBef>
                <a:spcPts val="1400"/>
              </a:spcBef>
              <a:spcAft>
                <a:spcPts val="0"/>
              </a:spcAft>
              <a:buNone/>
            </a:pPr>
            <a:r>
              <a:rPr lang="en" sz="1500" b="1">
                <a:solidFill>
                  <a:srgbClr val="000000"/>
                </a:solidFill>
                <a:latin typeface="Times New Roman"/>
                <a:ea typeface="Times New Roman"/>
                <a:cs typeface="Times New Roman"/>
                <a:sym typeface="Times New Roman"/>
              </a:rPr>
              <a:t>What it is and why we used it:</a:t>
            </a:r>
            <a:endParaRPr sz="1500" b="1">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r>
              <a:rPr lang="en" sz="1500">
                <a:solidFill>
                  <a:srgbClr val="000000"/>
                </a:solidFill>
                <a:latin typeface="Times New Roman"/>
                <a:ea typeface="Times New Roman"/>
                <a:cs typeface="Times New Roman"/>
                <a:sym typeface="Times New Roman"/>
              </a:rPr>
              <a:t>Random Forest is an ensemble of decision trees trained on bootstrap samples with feature subsampling. It captures non-linear relations and complex interactions that a linear model cannot. It is relatively robust to monotonic rescalings and outliers and works well with one-hot encoded inputs. We used </a:t>
            </a:r>
            <a:r>
              <a:rPr lang="en" sz="1500">
                <a:solidFill>
                  <a:srgbClr val="188038"/>
                </a:solidFill>
                <a:latin typeface="Times New Roman"/>
                <a:ea typeface="Times New Roman"/>
                <a:cs typeface="Times New Roman"/>
                <a:sym typeface="Times New Roman"/>
              </a:rPr>
              <a:t>class_weight="balanced"</a:t>
            </a:r>
            <a:r>
              <a:rPr lang="en" sz="1500">
                <a:solidFill>
                  <a:srgbClr val="000000"/>
                </a:solidFill>
                <a:latin typeface="Times New Roman"/>
                <a:ea typeface="Times New Roman"/>
                <a:cs typeface="Times New Roman"/>
                <a:sym typeface="Times New Roman"/>
              </a:rPr>
              <a:t> so trees give adequate attention to churners.</a:t>
            </a:r>
            <a:endParaRPr sz="1500" b="1">
              <a:solidFill>
                <a:srgbClr val="000000"/>
              </a:solidFill>
              <a:latin typeface="Times New Roman"/>
              <a:ea typeface="Times New Roman"/>
              <a:cs typeface="Times New Roman"/>
              <a:sym typeface="Times New Roman"/>
            </a:endParaRPr>
          </a:p>
        </p:txBody>
      </p:sp>
      <p:sp>
        <p:nvSpPr>
          <p:cNvPr id="275" name="Google Shape;275;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279"/>
        <p:cNvGrpSpPr/>
        <p:nvPr/>
      </p:nvGrpSpPr>
      <p:grpSpPr>
        <a:xfrm>
          <a:off x="0" y="0"/>
          <a:ext cx="0" cy="0"/>
          <a:chOff x="0" y="0"/>
          <a:chExt cx="0" cy="0"/>
        </a:xfrm>
      </p:grpSpPr>
      <p:sp>
        <p:nvSpPr>
          <p:cNvPr id="280" name="Google Shape;280;p43"/>
          <p:cNvSpPr txBox="1">
            <a:spLocks noGrp="1"/>
          </p:cNvSpPr>
          <p:nvPr>
            <p:ph type="subTitle" idx="1"/>
          </p:nvPr>
        </p:nvSpPr>
        <p:spPr>
          <a:xfrm>
            <a:off x="0" y="0"/>
            <a:ext cx="4572000" cy="5143500"/>
          </a:xfrm>
          <a:prstGeom prst="rect">
            <a:avLst/>
          </a:prstGeom>
        </p:spPr>
        <p:txBody>
          <a:bodyPr spcFirstLastPara="1" wrap="square" lIns="91425" tIns="91425" rIns="91425" bIns="91425" anchor="ctr" anchorCtr="0">
            <a:normAutofit/>
          </a:bodyPr>
          <a:lstStyle/>
          <a:p>
            <a:pPr marL="0" lvl="0" indent="0" algn="l" rtl="0">
              <a:lnSpc>
                <a:spcPct val="115000"/>
              </a:lnSpc>
              <a:spcBef>
                <a:spcPts val="1400"/>
              </a:spcBef>
              <a:spcAft>
                <a:spcPts val="0"/>
              </a:spcAft>
              <a:buNone/>
            </a:pPr>
            <a:r>
              <a:rPr lang="en" sz="1200" b="1" dirty="0">
                <a:solidFill>
                  <a:schemeClr val="lt1"/>
                </a:solidFill>
                <a:latin typeface="Times New Roman"/>
                <a:ea typeface="Times New Roman"/>
                <a:cs typeface="Times New Roman"/>
                <a:sym typeface="Times New Roman"/>
              </a:rPr>
              <a:t>Exact code from our final script</a:t>
            </a:r>
            <a:endParaRPr sz="1200" b="1" dirty="0">
              <a:solidFill>
                <a:schemeClr val="lt1"/>
              </a:solidFill>
              <a:latin typeface="Times New Roman"/>
              <a:ea typeface="Times New Roman"/>
              <a:cs typeface="Times New Roman"/>
              <a:sym typeface="Times New Roman"/>
            </a:endParaRPr>
          </a:p>
          <a:p>
            <a:pPr marL="0" lvl="0" indent="0" algn="l" rtl="0">
              <a:spcBef>
                <a:spcPts val="400"/>
              </a:spcBef>
              <a:spcAft>
                <a:spcPts val="0"/>
              </a:spcAft>
              <a:buNone/>
            </a:pPr>
            <a:r>
              <a:rPr lang="en" sz="1200" dirty="0">
                <a:solidFill>
                  <a:schemeClr val="lt1"/>
                </a:solidFill>
                <a:latin typeface="Times New Roman"/>
                <a:ea typeface="Times New Roman"/>
                <a:cs typeface="Times New Roman"/>
                <a:sym typeface="Times New Roman"/>
              </a:rPr>
              <a:t>rf = RandomForestClassifier(</a:t>
            </a:r>
            <a:endParaRPr sz="1200" dirty="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lt1"/>
                </a:solidFill>
                <a:latin typeface="Times New Roman"/>
                <a:ea typeface="Times New Roman"/>
                <a:cs typeface="Times New Roman"/>
                <a:sym typeface="Times New Roman"/>
              </a:rPr>
              <a:t>    n_estimators=300,</a:t>
            </a:r>
            <a:endParaRPr sz="1200" dirty="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lt1"/>
                </a:solidFill>
                <a:latin typeface="Times New Roman"/>
                <a:ea typeface="Times New Roman"/>
                <a:cs typeface="Times New Roman"/>
                <a:sym typeface="Times New Roman"/>
              </a:rPr>
              <a:t>    max_depth=None, </a:t>
            </a:r>
            <a:endParaRPr sz="1200" dirty="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lt1"/>
                </a:solidFill>
                <a:latin typeface="Times New Roman"/>
                <a:ea typeface="Times New Roman"/>
                <a:cs typeface="Times New Roman"/>
                <a:sym typeface="Times New Roman"/>
              </a:rPr>
              <a:t>    min_samples_leaf=2,</a:t>
            </a:r>
            <a:endParaRPr sz="1200" dirty="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lt1"/>
                </a:solidFill>
                <a:latin typeface="Times New Roman"/>
                <a:ea typeface="Times New Roman"/>
                <a:cs typeface="Times New Roman"/>
                <a:sym typeface="Times New Roman"/>
              </a:rPr>
              <a:t>    class_weight="balanced",</a:t>
            </a:r>
            <a:endParaRPr sz="1200" dirty="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lt1"/>
                </a:solidFill>
                <a:latin typeface="Times New Roman"/>
                <a:ea typeface="Times New Roman"/>
                <a:cs typeface="Times New Roman"/>
                <a:sym typeface="Times New Roman"/>
              </a:rPr>
              <a:t>    random_state=RANDOM_STATE,</a:t>
            </a:r>
            <a:endParaRPr sz="1200" dirty="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lt1"/>
                </a:solidFill>
                <a:latin typeface="Times New Roman"/>
                <a:ea typeface="Times New Roman"/>
                <a:cs typeface="Times New Roman"/>
                <a:sym typeface="Times New Roman"/>
              </a:rPr>
              <a:t>    n_jobs=-1</a:t>
            </a:r>
            <a:endParaRPr sz="1200" dirty="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lt1"/>
                </a:solidFill>
                <a:latin typeface="Times New Roman"/>
                <a:ea typeface="Times New Roman"/>
                <a:cs typeface="Times New Roman"/>
                <a:sym typeface="Times New Roman"/>
              </a:rPr>
              <a:t>)</a:t>
            </a:r>
            <a:endParaRPr sz="1200" dirty="0">
              <a:solidFill>
                <a:schemeClr val="lt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200" dirty="0">
              <a:solidFill>
                <a:schemeClr val="lt1"/>
              </a:solidFill>
              <a:latin typeface="Times New Roman"/>
              <a:ea typeface="Times New Roman"/>
              <a:cs typeface="Times New Roman"/>
              <a:sym typeface="Times New Roman"/>
            </a:endParaRPr>
          </a:p>
        </p:txBody>
      </p:sp>
      <p:sp>
        <p:nvSpPr>
          <p:cNvPr id="281" name="Google Shape;281;p43"/>
          <p:cNvSpPr txBox="1">
            <a:spLocks noGrp="1"/>
          </p:cNvSpPr>
          <p:nvPr>
            <p:ph type="body" idx="2"/>
          </p:nvPr>
        </p:nvSpPr>
        <p:spPr>
          <a:xfrm>
            <a:off x="4572000" y="0"/>
            <a:ext cx="4572000" cy="5143500"/>
          </a:xfrm>
          <a:prstGeom prst="rect">
            <a:avLst/>
          </a:prstGeom>
        </p:spPr>
        <p:txBody>
          <a:bodyPr spcFirstLastPara="1" wrap="square" lIns="91425" tIns="91425" rIns="91425" bIns="91425" anchor="ctr" anchorCtr="0">
            <a:normAutofit/>
          </a:bodyPr>
          <a:lstStyle/>
          <a:p>
            <a:pPr marL="0" lvl="0" indent="0" algn="l" rtl="0">
              <a:spcBef>
                <a:spcPts val="1400"/>
              </a:spcBef>
              <a:spcAft>
                <a:spcPts val="0"/>
              </a:spcAft>
              <a:buNone/>
            </a:pPr>
            <a:r>
              <a:rPr lang="en" b="1">
                <a:solidFill>
                  <a:srgbClr val="000000"/>
                </a:solidFill>
                <a:latin typeface="Times New Roman"/>
                <a:ea typeface="Times New Roman"/>
                <a:cs typeface="Times New Roman"/>
                <a:sym typeface="Times New Roman"/>
              </a:rPr>
              <a:t>How it helped in our project</a:t>
            </a:r>
            <a:endParaRPr b="1">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Trees naturally model interactions such as Contract × PaymentMethod without us manually adding cross features.</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The forest maintained high recall after threshold tuning. In our run the threshold chosen was </a:t>
            </a:r>
            <a:r>
              <a:rPr lang="en" sz="1200" b="1">
                <a:solidFill>
                  <a:srgbClr val="000000"/>
                </a:solidFill>
                <a:latin typeface="Times New Roman"/>
                <a:ea typeface="Times New Roman"/>
                <a:cs typeface="Times New Roman"/>
                <a:sym typeface="Times New Roman"/>
              </a:rPr>
              <a:t>0.30</a:t>
            </a:r>
            <a:r>
              <a:rPr lang="en" sz="1200">
                <a:solidFill>
                  <a:srgbClr val="000000"/>
                </a:solidFill>
                <a:latin typeface="Times New Roman"/>
                <a:ea typeface="Times New Roman"/>
                <a:cs typeface="Times New Roman"/>
                <a:sym typeface="Times New Roman"/>
              </a:rPr>
              <a:t> with </a:t>
            </a:r>
            <a:r>
              <a:rPr lang="en" sz="1200" b="1">
                <a:solidFill>
                  <a:srgbClr val="000000"/>
                </a:solidFill>
                <a:latin typeface="Times New Roman"/>
                <a:ea typeface="Times New Roman"/>
                <a:cs typeface="Times New Roman"/>
                <a:sym typeface="Times New Roman"/>
              </a:rPr>
              <a:t>Recall 82.9 percent</a:t>
            </a:r>
            <a:r>
              <a:rPr lang="en" sz="1200">
                <a:solidFill>
                  <a:srgbClr val="000000"/>
                </a:solidFill>
                <a:latin typeface="Times New Roman"/>
                <a:ea typeface="Times New Roman"/>
                <a:cs typeface="Times New Roman"/>
                <a:sym typeface="Times New Roman"/>
              </a:rPr>
              <a:t> and </a:t>
            </a:r>
            <a:r>
              <a:rPr lang="en" sz="1200" b="1">
                <a:solidFill>
                  <a:srgbClr val="000000"/>
                </a:solidFill>
                <a:latin typeface="Times New Roman"/>
                <a:ea typeface="Times New Roman"/>
                <a:cs typeface="Times New Roman"/>
                <a:sym typeface="Times New Roman"/>
              </a:rPr>
              <a:t>Accuracy 72.3 percent</a:t>
            </a:r>
            <a:r>
              <a:rPr lang="en" sz="1200">
                <a:solidFill>
                  <a:srgbClr val="000000"/>
                </a:solidFill>
                <a:latin typeface="Times New Roman"/>
                <a:ea typeface="Times New Roman"/>
                <a:cs typeface="Times New Roman"/>
                <a:sym typeface="Times New Roman"/>
              </a:rPr>
              <a:t> on test. Performance was very similar to Logistic Regression, which is useful as a cross-check that the signal is consistent across model families.</a:t>
            </a:r>
            <a:endParaRPr sz="1200">
              <a:solidFill>
                <a:srgbClr val="000000"/>
              </a:solidFill>
              <a:latin typeface="Times New Roman"/>
              <a:ea typeface="Times New Roman"/>
              <a:cs typeface="Times New Roman"/>
              <a:sym typeface="Times New Roman"/>
            </a:endParaRPr>
          </a:p>
        </p:txBody>
      </p:sp>
      <p:sp>
        <p:nvSpPr>
          <p:cNvPr id="282" name="Google Shape;282;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286"/>
        <p:cNvGrpSpPr/>
        <p:nvPr/>
      </p:nvGrpSpPr>
      <p:grpSpPr>
        <a:xfrm>
          <a:off x="0" y="0"/>
          <a:ext cx="0" cy="0"/>
          <a:chOff x="0" y="0"/>
          <a:chExt cx="0" cy="0"/>
        </a:xfrm>
      </p:grpSpPr>
      <p:sp>
        <p:nvSpPr>
          <p:cNvPr id="287" name="Google Shape;287;p44"/>
          <p:cNvSpPr txBox="1">
            <a:spLocks noGrp="1"/>
          </p:cNvSpPr>
          <p:nvPr>
            <p:ph type="subTitle" idx="1"/>
          </p:nvPr>
        </p:nvSpPr>
        <p:spPr>
          <a:xfrm>
            <a:off x="94875" y="1456775"/>
            <a:ext cx="4381500" cy="926700"/>
          </a:xfrm>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1200"/>
              </a:spcAft>
              <a:buNone/>
            </a:pPr>
            <a:r>
              <a:rPr lang="en" sz="1900">
                <a:solidFill>
                  <a:schemeClr val="lt1"/>
                </a:solidFill>
                <a:latin typeface="Times New Roman"/>
                <a:ea typeface="Times New Roman"/>
                <a:cs typeface="Times New Roman"/>
                <a:sym typeface="Times New Roman"/>
              </a:rPr>
              <a:t>4.3 Histogram Gradient Boosting (HGB)</a:t>
            </a:r>
            <a:endParaRPr sz="1900">
              <a:solidFill>
                <a:schemeClr val="lt1"/>
              </a:solidFill>
              <a:latin typeface="Times New Roman"/>
              <a:ea typeface="Times New Roman"/>
              <a:cs typeface="Times New Roman"/>
              <a:sym typeface="Times New Roman"/>
            </a:endParaRPr>
          </a:p>
        </p:txBody>
      </p:sp>
      <p:sp>
        <p:nvSpPr>
          <p:cNvPr id="288" name="Google Shape;288;p44"/>
          <p:cNvSpPr txBox="1">
            <a:spLocks noGrp="1"/>
          </p:cNvSpPr>
          <p:nvPr>
            <p:ph type="body" idx="2"/>
          </p:nvPr>
        </p:nvSpPr>
        <p:spPr>
          <a:xfrm>
            <a:off x="4572000" y="0"/>
            <a:ext cx="4572000" cy="5056800"/>
          </a:xfrm>
          <a:prstGeom prst="rect">
            <a:avLst/>
          </a:prstGeom>
        </p:spPr>
        <p:txBody>
          <a:bodyPr spcFirstLastPara="1" wrap="square" lIns="91425" tIns="91425" rIns="91425" bIns="91425" anchor="ctr" anchorCtr="0">
            <a:normAutofit/>
          </a:bodyPr>
          <a:lstStyle/>
          <a:p>
            <a:pPr marL="0" lvl="0" indent="0" algn="l" rtl="0">
              <a:spcBef>
                <a:spcPts val="1400"/>
              </a:spcBef>
              <a:spcAft>
                <a:spcPts val="0"/>
              </a:spcAft>
              <a:buNone/>
            </a:pPr>
            <a:r>
              <a:rPr lang="en" b="1">
                <a:solidFill>
                  <a:srgbClr val="000000"/>
                </a:solidFill>
                <a:latin typeface="Times New Roman"/>
                <a:ea typeface="Times New Roman"/>
                <a:cs typeface="Times New Roman"/>
                <a:sym typeface="Times New Roman"/>
              </a:rPr>
              <a:t>What it is and why we used it</a:t>
            </a:r>
            <a:endParaRPr b="1">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r>
              <a:rPr lang="en" sz="1200">
                <a:solidFill>
                  <a:srgbClr val="000000"/>
                </a:solidFill>
                <a:latin typeface="Times New Roman"/>
                <a:ea typeface="Times New Roman"/>
                <a:cs typeface="Times New Roman"/>
                <a:sym typeface="Times New Roman"/>
              </a:rPr>
              <a:t>Histogram Gradient Boosting builds trees sequentially, each one correcting the errors of the previous ensemble. It uses histogram-based binning for speed and strong performance on tabular data. Unlike Random Forest, boosting focuses on hard-to-predict examples which often improves precision–recall tradeoffs. This model does not support </a:t>
            </a:r>
            <a:r>
              <a:rPr lang="en" sz="1200">
                <a:solidFill>
                  <a:srgbClr val="188038"/>
                </a:solidFill>
                <a:latin typeface="Times New Roman"/>
                <a:ea typeface="Times New Roman"/>
                <a:cs typeface="Times New Roman"/>
                <a:sym typeface="Times New Roman"/>
              </a:rPr>
              <a:t>class_weight</a:t>
            </a:r>
            <a:r>
              <a:rPr lang="en" sz="1200">
                <a:solidFill>
                  <a:srgbClr val="000000"/>
                </a:solidFill>
                <a:latin typeface="Times New Roman"/>
                <a:ea typeface="Times New Roman"/>
                <a:cs typeface="Times New Roman"/>
                <a:sym typeface="Times New Roman"/>
              </a:rPr>
              <a:t>, so we manage the class imbalance through evaluation metrics and threshold selection.</a:t>
            </a:r>
            <a:endParaRPr sz="1500" b="1">
              <a:solidFill>
                <a:srgbClr val="000000"/>
              </a:solidFill>
              <a:latin typeface="Times New Roman"/>
              <a:ea typeface="Times New Roman"/>
              <a:cs typeface="Times New Roman"/>
              <a:sym typeface="Times New Roman"/>
            </a:endParaRPr>
          </a:p>
        </p:txBody>
      </p:sp>
      <p:sp>
        <p:nvSpPr>
          <p:cNvPr id="289" name="Google Shape;289;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293"/>
        <p:cNvGrpSpPr/>
        <p:nvPr/>
      </p:nvGrpSpPr>
      <p:grpSpPr>
        <a:xfrm>
          <a:off x="0" y="0"/>
          <a:ext cx="0" cy="0"/>
          <a:chOff x="0" y="0"/>
          <a:chExt cx="0" cy="0"/>
        </a:xfrm>
      </p:grpSpPr>
      <p:sp>
        <p:nvSpPr>
          <p:cNvPr id="294" name="Google Shape;294;p45"/>
          <p:cNvSpPr txBox="1">
            <a:spLocks noGrp="1"/>
          </p:cNvSpPr>
          <p:nvPr>
            <p:ph type="subTitle" idx="1"/>
          </p:nvPr>
        </p:nvSpPr>
        <p:spPr>
          <a:xfrm>
            <a:off x="0" y="0"/>
            <a:ext cx="4572000" cy="5143500"/>
          </a:xfrm>
          <a:prstGeom prst="rect">
            <a:avLst/>
          </a:prstGeom>
        </p:spPr>
        <p:txBody>
          <a:bodyPr spcFirstLastPara="1" wrap="square" lIns="91425" tIns="91425" rIns="91425" bIns="91425" anchor="ctr" anchorCtr="0">
            <a:normAutofit/>
          </a:bodyPr>
          <a:lstStyle/>
          <a:p>
            <a:pPr marL="0" lvl="0" indent="0" algn="l" rtl="0">
              <a:lnSpc>
                <a:spcPct val="115000"/>
              </a:lnSpc>
              <a:spcBef>
                <a:spcPts val="1400"/>
              </a:spcBef>
              <a:spcAft>
                <a:spcPts val="0"/>
              </a:spcAft>
              <a:buNone/>
            </a:pPr>
            <a:r>
              <a:rPr lang="en" sz="1300" b="1" dirty="0">
                <a:solidFill>
                  <a:schemeClr val="lt1"/>
                </a:solidFill>
                <a:latin typeface="Times New Roman"/>
                <a:ea typeface="Times New Roman"/>
                <a:cs typeface="Times New Roman"/>
                <a:sym typeface="Times New Roman"/>
              </a:rPr>
              <a:t>Exact code from our final script</a:t>
            </a:r>
            <a:endParaRPr sz="1300" b="1" dirty="0">
              <a:solidFill>
                <a:schemeClr val="lt1"/>
              </a:solidFill>
              <a:latin typeface="Times New Roman"/>
              <a:ea typeface="Times New Roman"/>
              <a:cs typeface="Times New Roman"/>
              <a:sym typeface="Times New Roman"/>
            </a:endParaRPr>
          </a:p>
          <a:p>
            <a:pPr marL="0" lvl="0" indent="0" algn="l" rtl="0">
              <a:lnSpc>
                <a:spcPct val="115000"/>
              </a:lnSpc>
              <a:spcBef>
                <a:spcPts val="400"/>
              </a:spcBef>
              <a:spcAft>
                <a:spcPts val="0"/>
              </a:spcAft>
              <a:buNone/>
            </a:pPr>
            <a:endParaRPr sz="1100" dirty="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lt1"/>
                </a:solidFill>
                <a:latin typeface="Times New Roman"/>
                <a:ea typeface="Times New Roman"/>
                <a:cs typeface="Times New Roman"/>
                <a:sym typeface="Times New Roman"/>
              </a:rPr>
              <a:t>hgb = HistGradientBoostingClassifier(</a:t>
            </a:r>
            <a:endParaRPr sz="1200" dirty="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lt1"/>
                </a:solidFill>
                <a:latin typeface="Times New Roman"/>
                <a:ea typeface="Times New Roman"/>
                <a:cs typeface="Times New Roman"/>
                <a:sym typeface="Times New Roman"/>
              </a:rPr>
              <a:t>    learning_rate=0.05,</a:t>
            </a:r>
            <a:endParaRPr sz="1200" dirty="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lt1"/>
                </a:solidFill>
                <a:latin typeface="Times New Roman"/>
                <a:ea typeface="Times New Roman"/>
                <a:cs typeface="Times New Roman"/>
                <a:sym typeface="Times New Roman"/>
              </a:rPr>
              <a:t>    max_depth=3,</a:t>
            </a:r>
            <a:endParaRPr sz="1200" dirty="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lt1"/>
                </a:solidFill>
                <a:latin typeface="Times New Roman"/>
                <a:ea typeface="Times New Roman"/>
                <a:cs typeface="Times New Roman"/>
                <a:sym typeface="Times New Roman"/>
              </a:rPr>
              <a:t>    max_iter=300,</a:t>
            </a:r>
            <a:endParaRPr sz="1200" dirty="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lt1"/>
                </a:solidFill>
                <a:latin typeface="Times New Roman"/>
                <a:ea typeface="Times New Roman"/>
                <a:cs typeface="Times New Roman"/>
                <a:sym typeface="Times New Roman"/>
              </a:rPr>
              <a:t>    random_state=RANDOM_STATE</a:t>
            </a:r>
            <a:endParaRPr sz="1200" dirty="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dirty="0">
                <a:solidFill>
                  <a:schemeClr val="lt1"/>
                </a:solidFill>
                <a:latin typeface="Times New Roman"/>
                <a:ea typeface="Times New Roman"/>
                <a:cs typeface="Times New Roman"/>
                <a:sym typeface="Times New Roman"/>
              </a:rPr>
              <a:t>)</a:t>
            </a:r>
            <a:endParaRPr sz="1200" b="1" dirty="0">
              <a:solidFill>
                <a:schemeClr val="lt1"/>
              </a:solidFill>
              <a:latin typeface="Times New Roman"/>
              <a:ea typeface="Times New Roman"/>
              <a:cs typeface="Times New Roman"/>
              <a:sym typeface="Times New Roman"/>
            </a:endParaRPr>
          </a:p>
        </p:txBody>
      </p:sp>
      <p:sp>
        <p:nvSpPr>
          <p:cNvPr id="295" name="Google Shape;295;p45"/>
          <p:cNvSpPr txBox="1">
            <a:spLocks noGrp="1"/>
          </p:cNvSpPr>
          <p:nvPr>
            <p:ph type="body" idx="2"/>
          </p:nvPr>
        </p:nvSpPr>
        <p:spPr>
          <a:xfrm>
            <a:off x="4572000" y="0"/>
            <a:ext cx="4572000" cy="5143500"/>
          </a:xfrm>
          <a:prstGeom prst="rect">
            <a:avLst/>
          </a:prstGeom>
        </p:spPr>
        <p:txBody>
          <a:bodyPr spcFirstLastPara="1" wrap="square" lIns="91425" tIns="91425" rIns="91425" bIns="91425" anchor="ctr" anchorCtr="0">
            <a:normAutofit/>
          </a:bodyPr>
          <a:lstStyle/>
          <a:p>
            <a:pPr marL="0" lvl="0" indent="0" algn="l" rtl="0">
              <a:spcBef>
                <a:spcPts val="1400"/>
              </a:spcBef>
              <a:spcAft>
                <a:spcPts val="0"/>
              </a:spcAft>
              <a:buNone/>
            </a:pPr>
            <a:r>
              <a:rPr lang="en" b="1">
                <a:solidFill>
                  <a:srgbClr val="000000"/>
                </a:solidFill>
                <a:latin typeface="Times New Roman"/>
                <a:ea typeface="Times New Roman"/>
                <a:cs typeface="Times New Roman"/>
                <a:sym typeface="Times New Roman"/>
              </a:rPr>
              <a:t>How it helped in our project</a:t>
            </a:r>
            <a:endParaRPr b="1">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Boosting delivered slightly higher accuracy at the chosen threshold, while keeping recall above the target. In our run the chosen threshold was </a:t>
            </a:r>
            <a:r>
              <a:rPr lang="en" sz="1200" b="1">
                <a:solidFill>
                  <a:srgbClr val="000000"/>
                </a:solidFill>
                <a:latin typeface="Times New Roman"/>
                <a:ea typeface="Times New Roman"/>
                <a:cs typeface="Times New Roman"/>
                <a:sym typeface="Times New Roman"/>
              </a:rPr>
              <a:t>0.25</a:t>
            </a:r>
            <a:r>
              <a:rPr lang="en" sz="1200">
                <a:solidFill>
                  <a:srgbClr val="000000"/>
                </a:solidFill>
                <a:latin typeface="Times New Roman"/>
                <a:ea typeface="Times New Roman"/>
                <a:cs typeface="Times New Roman"/>
                <a:sym typeface="Times New Roman"/>
              </a:rPr>
              <a:t> with </a:t>
            </a:r>
            <a:r>
              <a:rPr lang="en" sz="1200" b="1">
                <a:solidFill>
                  <a:srgbClr val="000000"/>
                </a:solidFill>
                <a:latin typeface="Times New Roman"/>
                <a:ea typeface="Times New Roman"/>
                <a:cs typeface="Times New Roman"/>
                <a:sym typeface="Times New Roman"/>
              </a:rPr>
              <a:t>Recall 81.3 percent</a:t>
            </a:r>
            <a:r>
              <a:rPr lang="en" sz="1200">
                <a:solidFill>
                  <a:srgbClr val="000000"/>
                </a:solidFill>
                <a:latin typeface="Times New Roman"/>
                <a:ea typeface="Times New Roman"/>
                <a:cs typeface="Times New Roman"/>
                <a:sym typeface="Times New Roman"/>
              </a:rPr>
              <a:t> and </a:t>
            </a:r>
            <a:r>
              <a:rPr lang="en" sz="1200" b="1">
                <a:solidFill>
                  <a:srgbClr val="000000"/>
                </a:solidFill>
                <a:latin typeface="Times New Roman"/>
                <a:ea typeface="Times New Roman"/>
                <a:cs typeface="Times New Roman"/>
                <a:sym typeface="Times New Roman"/>
              </a:rPr>
              <a:t>Accuracy 74.4 percent</a:t>
            </a:r>
            <a:r>
              <a:rPr lang="en" sz="1200">
                <a:solidFill>
                  <a:srgbClr val="000000"/>
                </a:solidFill>
                <a:latin typeface="Times New Roman"/>
                <a:ea typeface="Times New Roman"/>
                <a:cs typeface="Times New Roman"/>
                <a:sym typeface="Times New Roman"/>
              </a:rPr>
              <a:t> on the test.</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Having a boosted model alongside a linear baseline and a bagged-tree model gives a well-rounded comparison across learning paradigms.</a:t>
            </a:r>
            <a:endParaRPr b="1">
              <a:solidFill>
                <a:srgbClr val="000000"/>
              </a:solidFill>
              <a:latin typeface="Times New Roman"/>
              <a:ea typeface="Times New Roman"/>
              <a:cs typeface="Times New Roman"/>
              <a:sym typeface="Times New Roman"/>
            </a:endParaRPr>
          </a:p>
        </p:txBody>
      </p:sp>
      <p:sp>
        <p:nvSpPr>
          <p:cNvPr id="296" name="Google Shape;296;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6"/>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0" lvl="0" indent="0" algn="ctr" rtl="0">
              <a:lnSpc>
                <a:spcPct val="115000"/>
              </a:lnSpc>
              <a:spcBef>
                <a:spcPts val="1200"/>
              </a:spcBef>
              <a:spcAft>
                <a:spcPts val="1200"/>
              </a:spcAft>
              <a:buNone/>
            </a:pPr>
            <a:r>
              <a:rPr lang="en" sz="1900">
                <a:latin typeface="Times New Roman"/>
                <a:ea typeface="Times New Roman"/>
                <a:cs typeface="Times New Roman"/>
                <a:sym typeface="Times New Roman"/>
              </a:rPr>
              <a:t>4.4 How thresholds were selected</a:t>
            </a:r>
            <a:endParaRPr sz="2000">
              <a:latin typeface="Times New Roman"/>
              <a:ea typeface="Times New Roman"/>
              <a:cs typeface="Times New Roman"/>
              <a:sym typeface="Times New Roman"/>
            </a:endParaRPr>
          </a:p>
        </p:txBody>
      </p:sp>
      <p:sp>
        <p:nvSpPr>
          <p:cNvPr id="302" name="Google Shape;302;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34</a:t>
            </a:fld>
            <a:endParaRPr/>
          </a:p>
        </p:txBody>
      </p:sp>
      <p:sp>
        <p:nvSpPr>
          <p:cNvPr id="303" name="Google Shape;303;p46"/>
          <p:cNvSpPr txBox="1"/>
          <p:nvPr/>
        </p:nvSpPr>
        <p:spPr>
          <a:xfrm>
            <a:off x="1529225" y="1295100"/>
            <a:ext cx="6297600" cy="2553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1200"/>
              </a:spcAft>
              <a:buNone/>
            </a:pPr>
            <a:r>
              <a:rPr lang="en" sz="1200">
                <a:latin typeface="Times New Roman"/>
                <a:ea typeface="Times New Roman"/>
                <a:cs typeface="Times New Roman"/>
                <a:sym typeface="Times New Roman"/>
              </a:rPr>
              <a:t>We did not fix the decision threshold at 0.50. Instead, we selected it from cross validation in a way that prioritizes </a:t>
            </a:r>
            <a:r>
              <a:rPr lang="en" sz="1200" b="1">
                <a:latin typeface="Times New Roman"/>
                <a:ea typeface="Times New Roman"/>
                <a:cs typeface="Times New Roman"/>
                <a:sym typeface="Times New Roman"/>
              </a:rPr>
              <a:t>Recall ≥ 0.80</a:t>
            </a:r>
            <a:r>
              <a:rPr lang="en" sz="1200">
                <a:latin typeface="Times New Roman"/>
                <a:ea typeface="Times New Roman"/>
                <a:cs typeface="Times New Roman"/>
                <a:sym typeface="Times New Roman"/>
              </a:rPr>
              <a:t> and then maximizes F1 among the feasible thresholds. This ensures we meet the business requirement of catching at least 80 percent of churners, even if accuracy drops somewhat.</a:t>
            </a:r>
            <a:endParaRPr sz="1200">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307"/>
        <p:cNvGrpSpPr/>
        <p:nvPr/>
      </p:nvGrpSpPr>
      <p:grpSpPr>
        <a:xfrm>
          <a:off x="0" y="0"/>
          <a:ext cx="0" cy="0"/>
          <a:chOff x="0" y="0"/>
          <a:chExt cx="0" cy="0"/>
        </a:xfrm>
      </p:grpSpPr>
      <p:sp>
        <p:nvSpPr>
          <p:cNvPr id="308" name="Google Shape;308;p47"/>
          <p:cNvSpPr txBox="1">
            <a:spLocks noGrp="1"/>
          </p:cNvSpPr>
          <p:nvPr>
            <p:ph type="subTitle" idx="1"/>
          </p:nvPr>
        </p:nvSpPr>
        <p:spPr>
          <a:xfrm>
            <a:off x="0" y="0"/>
            <a:ext cx="4572000" cy="5143500"/>
          </a:xfrm>
          <a:prstGeom prst="rect">
            <a:avLst/>
          </a:prstGeom>
        </p:spPr>
        <p:txBody>
          <a:bodyPr spcFirstLastPara="1" wrap="square" lIns="91425" tIns="91425" rIns="91425" bIns="91425" anchor="ctr" anchorCtr="0">
            <a:normAutofit/>
          </a:bodyPr>
          <a:lstStyle/>
          <a:p>
            <a:pPr marL="0" lvl="0" indent="0" algn="l" rtl="0">
              <a:lnSpc>
                <a:spcPct val="115000"/>
              </a:lnSpc>
              <a:spcBef>
                <a:spcPts val="1200"/>
              </a:spcBef>
              <a:spcAft>
                <a:spcPts val="0"/>
              </a:spcAft>
              <a:buNone/>
            </a:pPr>
            <a:r>
              <a:rPr lang="en" sz="1200" b="1">
                <a:solidFill>
                  <a:schemeClr val="lt1"/>
                </a:solidFill>
                <a:latin typeface="Times New Roman"/>
                <a:ea typeface="Times New Roman"/>
                <a:cs typeface="Times New Roman"/>
                <a:sym typeface="Times New Roman"/>
              </a:rPr>
              <a:t>Out-of-fold probabilities for threshold selection</a:t>
            </a:r>
            <a:endParaRPr sz="1200" b="1">
              <a:solidFill>
                <a:schemeClr val="lt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200">
                <a:solidFill>
                  <a:schemeClr val="lt1"/>
                </a:solidFill>
                <a:latin typeface="Times New Roman"/>
                <a:ea typeface="Times New Roman"/>
                <a:cs typeface="Times New Roman"/>
                <a:sym typeface="Times New Roman"/>
              </a:rPr>
              <a:t>def oof_probs(model, X, y, cv) -&gt; np.ndarray:</a:t>
            </a:r>
            <a:endParaRPr sz="1200">
              <a:solidFill>
                <a:schemeClr val="lt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200">
                <a:solidFill>
                  <a:schemeClr val="lt1"/>
                </a:solidFill>
                <a:latin typeface="Times New Roman"/>
                <a:ea typeface="Times New Roman"/>
                <a:cs typeface="Times New Roman"/>
                <a:sym typeface="Times New Roman"/>
              </a:rPr>
              <a:t>    return cross_val_predict(model, X, y, cv=cv, method="predict_proba")[:, 1]</a:t>
            </a:r>
            <a:endParaRPr sz="1200">
              <a:solidFill>
                <a:schemeClr val="lt1"/>
              </a:solidFill>
              <a:latin typeface="Times New Roman"/>
              <a:ea typeface="Times New Roman"/>
              <a:cs typeface="Times New Roman"/>
              <a:sym typeface="Times New Roman"/>
            </a:endParaRPr>
          </a:p>
          <a:p>
            <a:pPr marL="0" lvl="0" indent="0" algn="l" rtl="0">
              <a:spcBef>
                <a:spcPts val="1200"/>
              </a:spcBef>
              <a:spcAft>
                <a:spcPts val="0"/>
              </a:spcAft>
              <a:buNone/>
            </a:pPr>
            <a:endParaRPr sz="1300" b="1">
              <a:solidFill>
                <a:schemeClr val="lt1"/>
              </a:solidFill>
              <a:latin typeface="Times New Roman"/>
              <a:ea typeface="Times New Roman"/>
              <a:cs typeface="Times New Roman"/>
              <a:sym typeface="Times New Roman"/>
            </a:endParaRPr>
          </a:p>
        </p:txBody>
      </p:sp>
      <p:sp>
        <p:nvSpPr>
          <p:cNvPr id="309" name="Google Shape;309;p47"/>
          <p:cNvSpPr txBox="1">
            <a:spLocks noGrp="1"/>
          </p:cNvSpPr>
          <p:nvPr>
            <p:ph type="body" idx="2"/>
          </p:nvPr>
        </p:nvSpPr>
        <p:spPr>
          <a:xfrm>
            <a:off x="4572000" y="0"/>
            <a:ext cx="4572000" cy="5143500"/>
          </a:xfrm>
          <a:prstGeom prst="rect">
            <a:avLst/>
          </a:prstGeom>
        </p:spPr>
        <p:txBody>
          <a:bodyPr spcFirstLastPara="1" wrap="square" lIns="91425" tIns="91425" rIns="91425" bIns="91425" anchor="ctr" anchorCtr="0">
            <a:normAutofit/>
          </a:bodyPr>
          <a:lstStyle/>
          <a:p>
            <a:pPr marL="0" lvl="0" indent="0" algn="l" rtl="0">
              <a:spcBef>
                <a:spcPts val="1200"/>
              </a:spcBef>
              <a:spcAft>
                <a:spcPts val="0"/>
              </a:spcAft>
              <a:buNone/>
            </a:pPr>
            <a:r>
              <a:rPr lang="en" sz="1200" b="1">
                <a:solidFill>
                  <a:srgbClr val="000000"/>
                </a:solidFill>
                <a:latin typeface="Times New Roman"/>
                <a:ea typeface="Times New Roman"/>
                <a:cs typeface="Times New Roman"/>
                <a:sym typeface="Times New Roman"/>
              </a:rPr>
              <a:t>What it does and why it matters</a:t>
            </a:r>
            <a:endParaRPr sz="1200" b="1">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We need predicted probabilities that are not trained and tested on the same rows. That avoids optimistic bias.</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188038"/>
                </a:solidFill>
                <a:latin typeface="Times New Roman"/>
                <a:ea typeface="Times New Roman"/>
                <a:cs typeface="Times New Roman"/>
                <a:sym typeface="Times New Roman"/>
              </a:rPr>
              <a:t>cross_val_predict(..., method="predict_proba")</a:t>
            </a:r>
            <a:r>
              <a:rPr lang="en" sz="1200">
                <a:solidFill>
                  <a:srgbClr val="000000"/>
                </a:solidFill>
                <a:latin typeface="Times New Roman"/>
                <a:ea typeface="Times New Roman"/>
                <a:cs typeface="Times New Roman"/>
                <a:sym typeface="Times New Roman"/>
              </a:rPr>
              <a:t> runs K-fold cross validation and for each fold it predicts on rows that were held out from training.</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The result is one probability per training row. Each probability comes from a model that did not see that row during fit.</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These are called out-of-fold probabilities. They let us tune the decision threshold safely on the training data without leaking test information.</a:t>
            </a:r>
            <a:endParaRPr b="1">
              <a:solidFill>
                <a:srgbClr val="000000"/>
              </a:solidFill>
              <a:latin typeface="Times New Roman"/>
              <a:ea typeface="Times New Roman"/>
              <a:cs typeface="Times New Roman"/>
              <a:sym typeface="Times New Roman"/>
            </a:endParaRPr>
          </a:p>
        </p:txBody>
      </p:sp>
      <p:sp>
        <p:nvSpPr>
          <p:cNvPr id="310" name="Google Shape;310;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314"/>
        <p:cNvGrpSpPr/>
        <p:nvPr/>
      </p:nvGrpSpPr>
      <p:grpSpPr>
        <a:xfrm>
          <a:off x="0" y="0"/>
          <a:ext cx="0" cy="0"/>
          <a:chOff x="0" y="0"/>
          <a:chExt cx="0" cy="0"/>
        </a:xfrm>
      </p:grpSpPr>
      <p:sp>
        <p:nvSpPr>
          <p:cNvPr id="315" name="Google Shape;315;p48"/>
          <p:cNvSpPr txBox="1">
            <a:spLocks noGrp="1"/>
          </p:cNvSpPr>
          <p:nvPr>
            <p:ph type="subTitle" idx="1"/>
          </p:nvPr>
        </p:nvSpPr>
        <p:spPr>
          <a:xfrm>
            <a:off x="0" y="0"/>
            <a:ext cx="4572000" cy="5143500"/>
          </a:xfrm>
          <a:prstGeom prst="rect">
            <a:avLst/>
          </a:prstGeom>
        </p:spPr>
        <p:txBody>
          <a:bodyPr spcFirstLastPara="1" wrap="square" lIns="91425" tIns="91425" rIns="91425" bIns="91425" anchor="ctr" anchorCtr="0">
            <a:normAutofit/>
          </a:bodyPr>
          <a:lstStyle/>
          <a:p>
            <a:pPr marL="0" lvl="0" indent="0" algn="l" rtl="0">
              <a:lnSpc>
                <a:spcPct val="115000"/>
              </a:lnSpc>
              <a:spcBef>
                <a:spcPts val="1200"/>
              </a:spcBef>
              <a:spcAft>
                <a:spcPts val="0"/>
              </a:spcAft>
              <a:buNone/>
            </a:pPr>
            <a:r>
              <a:rPr lang="en" sz="1100">
                <a:solidFill>
                  <a:schemeClr val="lt1"/>
                </a:solidFill>
                <a:latin typeface="Times New Roman"/>
                <a:ea typeface="Times New Roman"/>
                <a:cs typeface="Times New Roman"/>
                <a:sym typeface="Times New Roman"/>
              </a:rPr>
              <a:t>Sweep thresholds and pick the operating point</a:t>
            </a:r>
            <a:endParaRPr sz="1100">
              <a:solidFill>
                <a:schemeClr val="lt1"/>
              </a:solidFill>
              <a:latin typeface="Times New Roman"/>
              <a:ea typeface="Times New Roman"/>
              <a:cs typeface="Times New Roman"/>
              <a:sym typeface="Times New Roman"/>
            </a:endParaRPr>
          </a:p>
          <a:p>
            <a:pPr marL="0" lvl="0" indent="0" algn="l" rtl="0">
              <a:spcBef>
                <a:spcPts val="1200"/>
              </a:spcBef>
              <a:spcAft>
                <a:spcPts val="0"/>
              </a:spcAft>
              <a:buNone/>
            </a:pPr>
            <a:r>
              <a:rPr lang="en" sz="1100">
                <a:solidFill>
                  <a:schemeClr val="lt1"/>
                </a:solidFill>
                <a:latin typeface="Times New Roman"/>
                <a:ea typeface="Times New Roman"/>
                <a:cs typeface="Times New Roman"/>
                <a:sym typeface="Times New Roman"/>
              </a:rPr>
              <a:t>def threshold_sweep(y_true, probas, grid=None, min_recall=MIN_RECALL_TARGET):</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if grid is None:</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grid = np.linspace(0.10, 0.90, 17)  # 0.10, 0.15, ..., 0.90</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rows = []</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for thr in grid:</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y_pred = (probas &gt;= thr).astype(int)</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rows.append({</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"threshold": float(thr),</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"recall": float(recall_score(y_true, y_pred)),</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"precision": float(precision_score(y_true, y_pred, zero_division=0)),</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"f1": float(f1_score(y_true, y_pred)),</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"accuracy": float(accuracy_score(y_true, y_pred))</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df_thr = pd.DataFrame(rows).sort_values("threshold")</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feasible = df_thr[df_thr["recall"] &gt;= min_recall]</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if feasible.empty:</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best_thr = df_thr.sort_values(["recall", "f1"], ascending=[False, False]).iloc[0]["threshold"]</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else:</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best_thr = feasible.sort_values("f1", ascending=False).iloc[0]["threshold"]</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100">
                <a:solidFill>
                  <a:schemeClr val="lt1"/>
                </a:solidFill>
                <a:latin typeface="Times New Roman"/>
                <a:ea typeface="Times New Roman"/>
                <a:cs typeface="Times New Roman"/>
                <a:sym typeface="Times New Roman"/>
              </a:rPr>
              <a:t>    return df_thr, float(best_thr)</a:t>
            </a:r>
            <a:endParaRPr sz="11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1100">
              <a:solidFill>
                <a:schemeClr val="lt1"/>
              </a:solidFill>
              <a:latin typeface="Times New Roman"/>
              <a:ea typeface="Times New Roman"/>
              <a:cs typeface="Times New Roman"/>
              <a:sym typeface="Times New Roman"/>
            </a:endParaRPr>
          </a:p>
        </p:txBody>
      </p:sp>
      <p:sp>
        <p:nvSpPr>
          <p:cNvPr id="316" name="Google Shape;316;p48"/>
          <p:cNvSpPr txBox="1">
            <a:spLocks noGrp="1"/>
          </p:cNvSpPr>
          <p:nvPr>
            <p:ph type="body" idx="2"/>
          </p:nvPr>
        </p:nvSpPr>
        <p:spPr>
          <a:xfrm>
            <a:off x="4572000" y="0"/>
            <a:ext cx="4572000" cy="5143500"/>
          </a:xfrm>
          <a:prstGeom prst="rect">
            <a:avLst/>
          </a:prstGeom>
        </p:spPr>
        <p:txBody>
          <a:bodyPr spcFirstLastPara="1" wrap="square" lIns="91425" tIns="91425" rIns="91425" bIns="91425" anchor="ctr" anchorCtr="0">
            <a:normAutofit/>
          </a:bodyPr>
          <a:lstStyle/>
          <a:p>
            <a:pPr marL="0" lvl="0" indent="0" algn="l" rtl="0">
              <a:spcBef>
                <a:spcPts val="1200"/>
              </a:spcBef>
              <a:spcAft>
                <a:spcPts val="0"/>
              </a:spcAft>
              <a:buNone/>
            </a:pPr>
            <a:r>
              <a:rPr lang="en" sz="1200" b="1">
                <a:solidFill>
                  <a:srgbClr val="000000"/>
                </a:solidFill>
                <a:latin typeface="Times New Roman"/>
                <a:ea typeface="Times New Roman"/>
                <a:cs typeface="Times New Roman"/>
                <a:sym typeface="Times New Roman"/>
              </a:rPr>
              <a:t>What it does and why it matters</a:t>
            </a:r>
            <a:endParaRPr sz="1200" b="1">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A classifier gives probabilities. You must choose a cutoff to convert probabilities into 0 or 1. Many people default to 0.50, but that is often not optimal for business goals.</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The function tries a grid of thresholds from 0.10 to 0.90. For each threshold it computes recall, precision, F1, and accuracy against the true labels on the training fold outputs.</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We apply the business rule first. Keep only thresholds whose recall is at least the target, which is 0.80 in our project.</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Among those feasible thresholds we pick the one with the highest F1. That keeps recall high and balances precision.</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If no threshold reaches the recall target, we take the threshold with the highest recall, and break ties by F1. This guarantees we are as close as possible to the recall goal.</a:t>
            </a:r>
            <a:endParaRPr sz="1200" b="1">
              <a:solidFill>
                <a:srgbClr val="000000"/>
              </a:solidFill>
              <a:latin typeface="Times New Roman"/>
              <a:ea typeface="Times New Roman"/>
              <a:cs typeface="Times New Roman"/>
              <a:sym typeface="Times New Roman"/>
            </a:endParaRPr>
          </a:p>
        </p:txBody>
      </p:sp>
      <p:sp>
        <p:nvSpPr>
          <p:cNvPr id="317" name="Google Shape;317;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pic>
        <p:nvPicPr>
          <p:cNvPr id="322" name="Google Shape;322;p49"/>
          <p:cNvPicPr preferRelativeResize="0"/>
          <p:nvPr/>
        </p:nvPicPr>
        <p:blipFill>
          <a:blip r:embed="rId3">
            <a:alphaModFix/>
          </a:blip>
          <a:stretch>
            <a:fillRect/>
          </a:stretch>
        </p:blipFill>
        <p:spPr>
          <a:xfrm>
            <a:off x="1600200" y="0"/>
            <a:ext cx="5943600" cy="2733500"/>
          </a:xfrm>
          <a:prstGeom prst="rect">
            <a:avLst/>
          </a:prstGeom>
          <a:noFill/>
          <a:ln>
            <a:noFill/>
          </a:ln>
        </p:spPr>
      </p:pic>
      <p:sp>
        <p:nvSpPr>
          <p:cNvPr id="323" name="Google Shape;323;p49"/>
          <p:cNvSpPr txBox="1"/>
          <p:nvPr/>
        </p:nvSpPr>
        <p:spPr>
          <a:xfrm>
            <a:off x="-50800" y="2789525"/>
            <a:ext cx="9194700" cy="227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a:latin typeface="Times New Roman"/>
                <a:ea typeface="Times New Roman"/>
                <a:cs typeface="Times New Roman"/>
                <a:sym typeface="Times New Roman"/>
              </a:rPr>
              <a:t>This plot shows how </a:t>
            </a:r>
            <a:r>
              <a:rPr lang="en" sz="1100" b="1">
                <a:latin typeface="Times New Roman"/>
                <a:ea typeface="Times New Roman"/>
                <a:cs typeface="Times New Roman"/>
                <a:sym typeface="Times New Roman"/>
              </a:rPr>
              <a:t>recall</a:t>
            </a:r>
            <a:r>
              <a:rPr lang="en" sz="1100">
                <a:latin typeface="Times New Roman"/>
                <a:ea typeface="Times New Roman"/>
                <a:cs typeface="Times New Roman"/>
                <a:sym typeface="Times New Roman"/>
              </a:rPr>
              <a:t>, </a:t>
            </a:r>
            <a:r>
              <a:rPr lang="en" sz="1100" b="1">
                <a:latin typeface="Times New Roman"/>
                <a:ea typeface="Times New Roman"/>
                <a:cs typeface="Times New Roman"/>
                <a:sym typeface="Times New Roman"/>
              </a:rPr>
              <a:t>precision</a:t>
            </a:r>
            <a:r>
              <a:rPr lang="en" sz="1100">
                <a:latin typeface="Times New Roman"/>
                <a:ea typeface="Times New Roman"/>
                <a:cs typeface="Times New Roman"/>
                <a:sym typeface="Times New Roman"/>
              </a:rPr>
              <a:t>, </a:t>
            </a:r>
            <a:r>
              <a:rPr lang="en" sz="1100" b="1">
                <a:latin typeface="Times New Roman"/>
                <a:ea typeface="Times New Roman"/>
                <a:cs typeface="Times New Roman"/>
                <a:sym typeface="Times New Roman"/>
              </a:rPr>
              <a:t>F1</a:t>
            </a:r>
            <a:r>
              <a:rPr lang="en" sz="1100">
                <a:latin typeface="Times New Roman"/>
                <a:ea typeface="Times New Roman"/>
                <a:cs typeface="Times New Roman"/>
                <a:sym typeface="Times New Roman"/>
              </a:rPr>
              <a:t>, and </a:t>
            </a:r>
            <a:r>
              <a:rPr lang="en" sz="1100" b="1">
                <a:latin typeface="Times New Roman"/>
                <a:ea typeface="Times New Roman"/>
                <a:cs typeface="Times New Roman"/>
                <a:sym typeface="Times New Roman"/>
              </a:rPr>
              <a:t>accuracy</a:t>
            </a:r>
            <a:r>
              <a:rPr lang="en" sz="1100">
                <a:latin typeface="Times New Roman"/>
                <a:ea typeface="Times New Roman"/>
                <a:cs typeface="Times New Roman"/>
                <a:sym typeface="Times New Roman"/>
              </a:rPr>
              <a:t> change as we vary the decision threshold for Logistic Regression.</a:t>
            </a:r>
            <a:endParaRPr sz="1100">
              <a:latin typeface="Times New Roman"/>
              <a:ea typeface="Times New Roman"/>
              <a:cs typeface="Times New Roman"/>
              <a:sym typeface="Times New Roman"/>
            </a:endParaRPr>
          </a:p>
          <a:p>
            <a:pPr marL="457200" lvl="0" indent="-298450" algn="l" rtl="0">
              <a:lnSpc>
                <a:spcPct val="115000"/>
              </a:lnSpc>
              <a:spcBef>
                <a:spcPts val="1200"/>
              </a:spcBef>
              <a:spcAft>
                <a:spcPts val="0"/>
              </a:spcAft>
              <a:buSzPts val="1100"/>
              <a:buFont typeface="Times New Roman"/>
              <a:buChar char="●"/>
            </a:pPr>
            <a:r>
              <a:rPr lang="en" sz="1100" b="1">
                <a:latin typeface="Times New Roman"/>
                <a:ea typeface="Times New Roman"/>
                <a:cs typeface="Times New Roman"/>
                <a:sym typeface="Times New Roman"/>
              </a:rPr>
              <a:t>Recall (blue):</a:t>
            </a:r>
            <a:r>
              <a:rPr lang="en" sz="1100">
                <a:latin typeface="Times New Roman"/>
                <a:ea typeface="Times New Roman"/>
                <a:cs typeface="Times New Roman"/>
                <a:sym typeface="Times New Roman"/>
              </a:rPr>
              <a:t> very high at low thresholds (almost all churners flagged), but it drops as the threshold increases.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 sz="1100" b="1">
                <a:latin typeface="Times New Roman"/>
                <a:ea typeface="Times New Roman"/>
                <a:cs typeface="Times New Roman"/>
                <a:sym typeface="Times New Roman"/>
              </a:rPr>
              <a:t>Precision (orange):</a:t>
            </a:r>
            <a:r>
              <a:rPr lang="en" sz="1100">
                <a:latin typeface="Times New Roman"/>
                <a:ea typeface="Times New Roman"/>
                <a:cs typeface="Times New Roman"/>
                <a:sym typeface="Times New Roman"/>
              </a:rPr>
              <a:t> low at small thresholds (many false alarms), but rises steadily as the threshold increases.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 sz="1100" b="1">
                <a:latin typeface="Times New Roman"/>
                <a:ea typeface="Times New Roman"/>
                <a:cs typeface="Times New Roman"/>
                <a:sym typeface="Times New Roman"/>
              </a:rPr>
              <a:t>F1 score (green):</a:t>
            </a:r>
            <a:r>
              <a:rPr lang="en" sz="1100">
                <a:latin typeface="Times New Roman"/>
                <a:ea typeface="Times New Roman"/>
                <a:cs typeface="Times New Roman"/>
                <a:sym typeface="Times New Roman"/>
              </a:rPr>
              <a:t> the harmonic mean of precision and recall. It is highest where both are balanced, around thresholds 0.40–0.50.</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 sz="1100" b="1">
                <a:latin typeface="Times New Roman"/>
                <a:ea typeface="Times New Roman"/>
                <a:cs typeface="Times New Roman"/>
                <a:sym typeface="Times New Roman"/>
              </a:rPr>
              <a:t>Accuracy (red):</a:t>
            </a:r>
            <a:r>
              <a:rPr lang="en" sz="1100">
                <a:latin typeface="Times New Roman"/>
                <a:ea typeface="Times New Roman"/>
                <a:cs typeface="Times New Roman"/>
                <a:sym typeface="Times New Roman"/>
              </a:rPr>
              <a:t> fairly stable, peaking near 0.6–0.7 thresholds.</a:t>
            </a:r>
            <a:endParaRPr sz="11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100">
                <a:latin typeface="Times New Roman"/>
                <a:ea typeface="Times New Roman"/>
                <a:cs typeface="Times New Roman"/>
                <a:sym typeface="Times New Roman"/>
              </a:rPr>
              <a:t>The chosen threshold was </a:t>
            </a:r>
            <a:r>
              <a:rPr lang="en" sz="1100" b="1">
                <a:latin typeface="Times New Roman"/>
                <a:ea typeface="Times New Roman"/>
                <a:cs typeface="Times New Roman"/>
                <a:sym typeface="Times New Roman"/>
              </a:rPr>
              <a:t>0.45</a:t>
            </a:r>
            <a:r>
              <a:rPr lang="en" sz="1100">
                <a:latin typeface="Times New Roman"/>
                <a:ea typeface="Times New Roman"/>
                <a:cs typeface="Times New Roman"/>
                <a:sym typeface="Times New Roman"/>
              </a:rPr>
              <a:t> because it is the smallest cutoff where recall ≥ 0.80 and F1 is maximized.</a:t>
            </a:r>
            <a:endParaRPr sz="1100">
              <a:latin typeface="Times New Roman"/>
              <a:ea typeface="Times New Roman"/>
              <a:cs typeface="Times New Roman"/>
              <a:sym typeface="Times New Roman"/>
            </a:endParaRPr>
          </a:p>
          <a:p>
            <a:pPr marL="0" lvl="0" indent="0" algn="l" rtl="0">
              <a:spcBef>
                <a:spcPts val="1200"/>
              </a:spcBef>
              <a:spcAft>
                <a:spcPts val="0"/>
              </a:spcAft>
              <a:buNone/>
            </a:pPr>
            <a:endParaRPr sz="1100">
              <a:solidFill>
                <a:schemeClr val="dk2"/>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0"/>
          <p:cNvSpPr txBox="1"/>
          <p:nvPr/>
        </p:nvSpPr>
        <p:spPr>
          <a:xfrm>
            <a:off x="-50800" y="2789525"/>
            <a:ext cx="9194700" cy="227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a:latin typeface="Times New Roman"/>
                <a:ea typeface="Times New Roman"/>
                <a:cs typeface="Times New Roman"/>
                <a:sym typeface="Times New Roman"/>
              </a:rPr>
              <a:t>This sweep shows similar trade-offs for the Random Forest model.</a:t>
            </a:r>
            <a:endParaRPr sz="1100">
              <a:latin typeface="Times New Roman"/>
              <a:ea typeface="Times New Roman"/>
              <a:cs typeface="Times New Roman"/>
              <a:sym typeface="Times New Roman"/>
            </a:endParaRPr>
          </a:p>
          <a:p>
            <a:pPr marL="457200" lvl="0" indent="-298450" algn="l" rtl="0">
              <a:lnSpc>
                <a:spcPct val="115000"/>
              </a:lnSpc>
              <a:spcBef>
                <a:spcPts val="1200"/>
              </a:spcBef>
              <a:spcAft>
                <a:spcPts val="0"/>
              </a:spcAft>
              <a:buSzPts val="1100"/>
              <a:buFont typeface="Times New Roman"/>
              <a:buChar char="●"/>
            </a:pPr>
            <a:r>
              <a:rPr lang="en" sz="1100" b="1">
                <a:latin typeface="Times New Roman"/>
                <a:ea typeface="Times New Roman"/>
                <a:cs typeface="Times New Roman"/>
                <a:sym typeface="Times New Roman"/>
              </a:rPr>
              <a:t>Recall (blue):</a:t>
            </a:r>
            <a:r>
              <a:rPr lang="en" sz="1100">
                <a:latin typeface="Times New Roman"/>
                <a:ea typeface="Times New Roman"/>
                <a:cs typeface="Times New Roman"/>
                <a:sym typeface="Times New Roman"/>
              </a:rPr>
              <a:t> again starts near 1.0 at low thresholds, but decreases faster than Logistic Regression as threshold rises.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 sz="1100" b="1">
                <a:latin typeface="Times New Roman"/>
                <a:ea typeface="Times New Roman"/>
                <a:cs typeface="Times New Roman"/>
                <a:sym typeface="Times New Roman"/>
              </a:rPr>
              <a:t>Precision (orange):</a:t>
            </a:r>
            <a:r>
              <a:rPr lang="en" sz="1100">
                <a:latin typeface="Times New Roman"/>
                <a:ea typeface="Times New Roman"/>
                <a:cs typeface="Times New Roman"/>
                <a:sym typeface="Times New Roman"/>
              </a:rPr>
              <a:t> increases steadily, overtaking recall around 0.50.</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 sz="1100" b="1">
                <a:latin typeface="Times New Roman"/>
                <a:ea typeface="Times New Roman"/>
                <a:cs typeface="Times New Roman"/>
                <a:sym typeface="Times New Roman"/>
              </a:rPr>
              <a:t>F1 score (green):</a:t>
            </a:r>
            <a:r>
              <a:rPr lang="en" sz="1100">
                <a:latin typeface="Times New Roman"/>
                <a:ea typeface="Times New Roman"/>
                <a:cs typeface="Times New Roman"/>
                <a:sym typeface="Times New Roman"/>
              </a:rPr>
              <a:t> maximized in the mid-range, around 0.30–0.40 thresholds.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 sz="1100" b="1">
                <a:latin typeface="Times New Roman"/>
                <a:ea typeface="Times New Roman"/>
                <a:cs typeface="Times New Roman"/>
                <a:sym typeface="Times New Roman"/>
              </a:rPr>
              <a:t>Accuracy (red):</a:t>
            </a:r>
            <a:r>
              <a:rPr lang="en" sz="1100">
                <a:latin typeface="Times New Roman"/>
                <a:ea typeface="Times New Roman"/>
                <a:cs typeface="Times New Roman"/>
                <a:sym typeface="Times New Roman"/>
              </a:rPr>
              <a:t> flat across much of the range, but not the key driver in this project.</a:t>
            </a:r>
            <a:endParaRPr sz="1100">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sz="1100">
                <a:latin typeface="Times New Roman"/>
                <a:ea typeface="Times New Roman"/>
                <a:cs typeface="Times New Roman"/>
                <a:sym typeface="Times New Roman"/>
              </a:rPr>
              <a:t>The operating point selected was </a:t>
            </a:r>
            <a:r>
              <a:rPr lang="en" sz="1100" b="1">
                <a:latin typeface="Times New Roman"/>
                <a:ea typeface="Times New Roman"/>
                <a:cs typeface="Times New Roman"/>
                <a:sym typeface="Times New Roman"/>
              </a:rPr>
              <a:t>0.30</a:t>
            </a:r>
            <a:r>
              <a:rPr lang="en" sz="1100">
                <a:latin typeface="Times New Roman"/>
                <a:ea typeface="Times New Roman"/>
                <a:cs typeface="Times New Roman"/>
                <a:sym typeface="Times New Roman"/>
              </a:rPr>
              <a:t>, balancing recall ≥ 0.80 with the best F1.</a:t>
            </a:r>
            <a:endParaRPr sz="1100">
              <a:latin typeface="Times New Roman"/>
              <a:ea typeface="Times New Roman"/>
              <a:cs typeface="Times New Roman"/>
              <a:sym typeface="Times New Roman"/>
            </a:endParaRPr>
          </a:p>
        </p:txBody>
      </p:sp>
      <p:pic>
        <p:nvPicPr>
          <p:cNvPr id="329" name="Google Shape;329;p50"/>
          <p:cNvPicPr preferRelativeResize="0"/>
          <p:nvPr/>
        </p:nvPicPr>
        <p:blipFill>
          <a:blip r:embed="rId3">
            <a:alphaModFix/>
          </a:blip>
          <a:stretch>
            <a:fillRect/>
          </a:stretch>
        </p:blipFill>
        <p:spPr>
          <a:xfrm>
            <a:off x="1676400" y="0"/>
            <a:ext cx="5943600" cy="27895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1"/>
          <p:cNvSpPr txBox="1"/>
          <p:nvPr/>
        </p:nvSpPr>
        <p:spPr>
          <a:xfrm>
            <a:off x="-50800" y="2789525"/>
            <a:ext cx="9194700" cy="227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a:latin typeface="Times New Roman"/>
                <a:ea typeface="Times New Roman"/>
                <a:cs typeface="Times New Roman"/>
                <a:sym typeface="Times New Roman"/>
              </a:rPr>
              <a:t>For Histogram Gradient Boosting, the sweep is even more pronounced:</a:t>
            </a:r>
            <a:endParaRPr sz="1100">
              <a:latin typeface="Times New Roman"/>
              <a:ea typeface="Times New Roman"/>
              <a:cs typeface="Times New Roman"/>
              <a:sym typeface="Times New Roman"/>
            </a:endParaRPr>
          </a:p>
          <a:p>
            <a:pPr marL="457200" lvl="0" indent="-298450" algn="l" rtl="0">
              <a:lnSpc>
                <a:spcPct val="115000"/>
              </a:lnSpc>
              <a:spcBef>
                <a:spcPts val="1200"/>
              </a:spcBef>
              <a:spcAft>
                <a:spcPts val="0"/>
              </a:spcAft>
              <a:buSzPts val="1100"/>
              <a:buFont typeface="Times New Roman"/>
              <a:buChar char="●"/>
            </a:pPr>
            <a:r>
              <a:rPr lang="en" sz="1100" b="1">
                <a:latin typeface="Times New Roman"/>
                <a:ea typeface="Times New Roman"/>
                <a:cs typeface="Times New Roman"/>
                <a:sym typeface="Times New Roman"/>
              </a:rPr>
              <a:t>Recall (blue):</a:t>
            </a:r>
            <a:r>
              <a:rPr lang="en" sz="1100">
                <a:latin typeface="Times New Roman"/>
                <a:ea typeface="Times New Roman"/>
                <a:cs typeface="Times New Roman"/>
                <a:sym typeface="Times New Roman"/>
              </a:rPr>
              <a:t> starts near 0.95 and falls quickly as threshold increases.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 sz="1100" b="1">
                <a:latin typeface="Times New Roman"/>
                <a:ea typeface="Times New Roman"/>
                <a:cs typeface="Times New Roman"/>
                <a:sym typeface="Times New Roman"/>
              </a:rPr>
              <a:t>Precision (orange):</a:t>
            </a:r>
            <a:r>
              <a:rPr lang="en" sz="1100">
                <a:latin typeface="Times New Roman"/>
                <a:ea typeface="Times New Roman"/>
                <a:cs typeface="Times New Roman"/>
                <a:sym typeface="Times New Roman"/>
              </a:rPr>
              <a:t> climbs with threshold, reflecting fewer false positives.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 sz="1100" b="1">
                <a:latin typeface="Times New Roman"/>
                <a:ea typeface="Times New Roman"/>
                <a:cs typeface="Times New Roman"/>
                <a:sym typeface="Times New Roman"/>
              </a:rPr>
              <a:t>F1 score (green):</a:t>
            </a:r>
            <a:r>
              <a:rPr lang="en" sz="1100">
                <a:latin typeface="Times New Roman"/>
                <a:ea typeface="Times New Roman"/>
                <a:cs typeface="Times New Roman"/>
                <a:sym typeface="Times New Roman"/>
              </a:rPr>
              <a:t> peaks around 0.25–0.35 thresholds.</a:t>
            </a:r>
            <a:br>
              <a:rPr lang="en" sz="1100">
                <a:latin typeface="Times New Roman"/>
                <a:ea typeface="Times New Roman"/>
                <a:cs typeface="Times New Roman"/>
                <a:sym typeface="Times New Roman"/>
              </a:rPr>
            </a:br>
            <a:endParaRPr sz="110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Font typeface="Times New Roman"/>
              <a:buChar char="●"/>
            </a:pPr>
            <a:r>
              <a:rPr lang="en" sz="1100" b="1">
                <a:latin typeface="Times New Roman"/>
                <a:ea typeface="Times New Roman"/>
                <a:cs typeface="Times New Roman"/>
                <a:sym typeface="Times New Roman"/>
              </a:rPr>
              <a:t>Accuracy (red):</a:t>
            </a:r>
            <a:r>
              <a:rPr lang="en" sz="1100">
                <a:latin typeface="Times New Roman"/>
                <a:ea typeface="Times New Roman"/>
                <a:cs typeface="Times New Roman"/>
                <a:sym typeface="Times New Roman"/>
              </a:rPr>
              <a:t> stable but not the deciding factor.</a:t>
            </a:r>
            <a:endParaRPr sz="1100">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sz="1100">
                <a:latin typeface="Times New Roman"/>
                <a:ea typeface="Times New Roman"/>
                <a:cs typeface="Times New Roman"/>
                <a:sym typeface="Times New Roman"/>
              </a:rPr>
              <a:t>The best operating point was </a:t>
            </a:r>
            <a:r>
              <a:rPr lang="en" sz="1100" b="1">
                <a:latin typeface="Times New Roman"/>
                <a:ea typeface="Times New Roman"/>
                <a:cs typeface="Times New Roman"/>
                <a:sym typeface="Times New Roman"/>
              </a:rPr>
              <a:t>0.25</a:t>
            </a:r>
            <a:r>
              <a:rPr lang="en" sz="1100">
                <a:latin typeface="Times New Roman"/>
                <a:ea typeface="Times New Roman"/>
                <a:cs typeface="Times New Roman"/>
                <a:sym typeface="Times New Roman"/>
              </a:rPr>
              <a:t>, giving recall ≥ 0.80 while balancing precision.</a:t>
            </a:r>
            <a:endParaRPr sz="1100">
              <a:latin typeface="Times New Roman"/>
              <a:ea typeface="Times New Roman"/>
              <a:cs typeface="Times New Roman"/>
              <a:sym typeface="Times New Roman"/>
            </a:endParaRPr>
          </a:p>
        </p:txBody>
      </p:sp>
      <p:pic>
        <p:nvPicPr>
          <p:cNvPr id="335" name="Google Shape;335;p51"/>
          <p:cNvPicPr preferRelativeResize="0"/>
          <p:nvPr/>
        </p:nvPicPr>
        <p:blipFill>
          <a:blip r:embed="rId3">
            <a:alphaModFix/>
          </a:blip>
          <a:stretch>
            <a:fillRect/>
          </a:stretch>
        </p:blipFill>
        <p:spPr>
          <a:xfrm>
            <a:off x="1910125" y="0"/>
            <a:ext cx="5943600" cy="27895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2"/>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0" lvl="0" indent="0" algn="ctr" rtl="0">
              <a:lnSpc>
                <a:spcPct val="115000"/>
              </a:lnSpc>
              <a:spcBef>
                <a:spcPts val="1200"/>
              </a:spcBef>
              <a:spcAft>
                <a:spcPts val="1200"/>
              </a:spcAft>
              <a:buNone/>
            </a:pPr>
            <a:r>
              <a:rPr lang="en" sz="1900">
                <a:latin typeface="Times New Roman"/>
                <a:ea typeface="Times New Roman"/>
                <a:cs typeface="Times New Roman"/>
                <a:sym typeface="Times New Roman"/>
              </a:rPr>
              <a:t>Example Note:</a:t>
            </a:r>
            <a:endParaRPr sz="2000">
              <a:latin typeface="Times New Roman"/>
              <a:ea typeface="Times New Roman"/>
              <a:cs typeface="Times New Roman"/>
              <a:sym typeface="Times New Roman"/>
            </a:endParaRPr>
          </a:p>
        </p:txBody>
      </p:sp>
      <p:sp>
        <p:nvSpPr>
          <p:cNvPr id="341" name="Google Shape;341;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40</a:t>
            </a:fld>
            <a:endParaRPr/>
          </a:p>
        </p:txBody>
      </p:sp>
      <p:sp>
        <p:nvSpPr>
          <p:cNvPr id="342" name="Google Shape;342;p52"/>
          <p:cNvSpPr txBox="1"/>
          <p:nvPr/>
        </p:nvSpPr>
        <p:spPr>
          <a:xfrm>
            <a:off x="0" y="1291200"/>
            <a:ext cx="9144000" cy="2553300"/>
          </a:xfrm>
          <a:prstGeom prst="rect">
            <a:avLst/>
          </a:prstGeom>
          <a:noFill/>
          <a:ln>
            <a:noFill/>
          </a:ln>
        </p:spPr>
        <p:txBody>
          <a:bodyPr spcFirstLastPara="1" wrap="square" lIns="91425" tIns="91425" rIns="91425" bIns="91425" anchor="ctr" anchorCtr="0">
            <a:noAutofit/>
          </a:bodyPr>
          <a:lstStyle/>
          <a:p>
            <a:pPr marL="457200" lvl="0" indent="-304800" algn="l" rtl="0">
              <a:spcBef>
                <a:spcPts val="1200"/>
              </a:spcBef>
              <a:spcAft>
                <a:spcPts val="0"/>
              </a:spcAft>
              <a:buSzPts val="1200"/>
              <a:buFont typeface="Times New Roman"/>
              <a:buChar char="●"/>
            </a:pPr>
            <a:r>
              <a:rPr lang="en" sz="1200">
                <a:latin typeface="Times New Roman"/>
                <a:ea typeface="Times New Roman"/>
                <a:cs typeface="Times New Roman"/>
                <a:sym typeface="Times New Roman"/>
              </a:rPr>
              <a:t>F1 = 2 × (Precision × Recall) / (Precision + Recall).</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It is the harmonic mean, so it punishes extreme imbalance (e.g., recall = 0.9, precision = 0.2 → F1 is low).</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In churn prediction, it helps us avoid a model that just screams “everyone churns” (high recall, low precision) or “almost nobody churns” (high precision, low recall).</a:t>
            </a:r>
            <a:endParaRPr sz="1200" b="1">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346"/>
        <p:cNvGrpSpPr/>
        <p:nvPr/>
      </p:nvGrpSpPr>
      <p:grpSpPr>
        <a:xfrm>
          <a:off x="0" y="0"/>
          <a:ext cx="0" cy="0"/>
          <a:chOff x="0" y="0"/>
          <a:chExt cx="0" cy="0"/>
        </a:xfrm>
      </p:grpSpPr>
      <p:sp>
        <p:nvSpPr>
          <p:cNvPr id="347" name="Google Shape;347;p53"/>
          <p:cNvSpPr txBox="1">
            <a:spLocks noGrp="1"/>
          </p:cNvSpPr>
          <p:nvPr>
            <p:ph type="subTitle" idx="1"/>
          </p:nvPr>
        </p:nvSpPr>
        <p:spPr>
          <a:xfrm>
            <a:off x="0" y="0"/>
            <a:ext cx="4572000" cy="5143500"/>
          </a:xfrm>
          <a:prstGeom prst="rect">
            <a:avLst/>
          </a:prstGeom>
        </p:spPr>
        <p:txBody>
          <a:bodyPr spcFirstLastPara="1" wrap="square" lIns="91425" tIns="91425" rIns="91425" bIns="91425" anchor="ctr" anchorCtr="0">
            <a:normAutofit lnSpcReduction="20000"/>
          </a:bodyPr>
          <a:lstStyle/>
          <a:p>
            <a:pPr marL="0" lvl="0" indent="0" algn="l" rtl="0">
              <a:lnSpc>
                <a:spcPct val="115000"/>
              </a:lnSpc>
              <a:spcBef>
                <a:spcPts val="1200"/>
              </a:spcBef>
              <a:spcAft>
                <a:spcPts val="0"/>
              </a:spcAft>
              <a:buNone/>
            </a:pPr>
            <a:r>
              <a:rPr lang="en" sz="1200" b="1">
                <a:solidFill>
                  <a:schemeClr val="lt1"/>
                </a:solidFill>
                <a:latin typeface="Times New Roman"/>
                <a:ea typeface="Times New Roman"/>
                <a:cs typeface="Times New Roman"/>
                <a:sym typeface="Times New Roman"/>
              </a:rPr>
              <a:t>End-to-end evaluation wrapper per model</a:t>
            </a:r>
            <a:endParaRPr sz="1200" b="1">
              <a:solidFill>
                <a:schemeClr val="lt1"/>
              </a:solidFill>
              <a:latin typeface="Times New Roman"/>
              <a:ea typeface="Times New Roman"/>
              <a:cs typeface="Times New Roman"/>
              <a:sym typeface="Times New Roman"/>
            </a:endParaRPr>
          </a:p>
          <a:p>
            <a:pPr marL="0" lvl="0" indent="0" algn="l" rtl="0">
              <a:spcBef>
                <a:spcPts val="1200"/>
              </a:spcBef>
              <a:spcAft>
                <a:spcPts val="0"/>
              </a:spcAft>
              <a:buNone/>
            </a:pP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def fit_select_threshold_and_test(model, X_train, y_train, X_test, y_test, cv, name: str) -&gt; Dict:</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cv_summary = evaluate_cv(model, X_train, y_train, cv=cv)</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oof = oof_probs(model, X_train, y_train, cv=cv)</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sweep, best_thr = threshold_sweep(y_train, oof, min_recall=MIN_RECALL_TARGET)</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model.fit(X_train, y_train)</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probs_test = model.predict_proba(X_test)[:, 1]</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y_pred_t = (probs_test &gt;= best_thr).astype(int)</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res = {</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"model": name,</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"threshold": best_thr,</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"recall": float(recall_score(y_test, y_pred_t)),</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"precision": float(precision_score(y_test, y_pred_t, zero_division=0)),</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"f1": float(f1_score(y_test, y_pred_t)),</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"accuracy": float(accuracy_score(y_test, y_pred_t)),</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"roc_auc": float(roc_auc_score(y_test, probs_test)),</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"pr_auc": float(average_precision_score(y_test, probs_test)),</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"confusion_matrix": confusion_matrix(y_test, y_pred_t).tolist(),</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"cv_summary": {k: {"mean": float(v[0]), "std": float(v[1])} for k, v in cv_summary.items()},</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"threshold_sweep": sweep.to_dict(orient="records")</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lt1"/>
                </a:solidFill>
                <a:latin typeface="Times New Roman"/>
                <a:ea typeface="Times New Roman"/>
                <a:cs typeface="Times New Roman"/>
                <a:sym typeface="Times New Roman"/>
              </a:rPr>
              <a:t>    return res</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sz="1100">
              <a:solidFill>
                <a:schemeClr val="lt1"/>
              </a:solidFill>
              <a:latin typeface="Times New Roman"/>
              <a:ea typeface="Times New Roman"/>
              <a:cs typeface="Times New Roman"/>
              <a:sym typeface="Times New Roman"/>
            </a:endParaRPr>
          </a:p>
        </p:txBody>
      </p:sp>
      <p:sp>
        <p:nvSpPr>
          <p:cNvPr id="348" name="Google Shape;348;p53"/>
          <p:cNvSpPr txBox="1">
            <a:spLocks noGrp="1"/>
          </p:cNvSpPr>
          <p:nvPr>
            <p:ph type="body" idx="2"/>
          </p:nvPr>
        </p:nvSpPr>
        <p:spPr>
          <a:xfrm>
            <a:off x="4572000" y="0"/>
            <a:ext cx="4572000" cy="5143500"/>
          </a:xfrm>
          <a:prstGeom prst="rect">
            <a:avLst/>
          </a:prstGeom>
        </p:spPr>
        <p:txBody>
          <a:bodyPr spcFirstLastPara="1" wrap="square" lIns="91425" tIns="91425" rIns="91425" bIns="91425" anchor="ctr" anchorCtr="0">
            <a:normAutofit/>
          </a:bodyPr>
          <a:lstStyle/>
          <a:p>
            <a:pPr marL="0" lvl="0" indent="0" algn="l" rtl="0">
              <a:spcBef>
                <a:spcPts val="1200"/>
              </a:spcBef>
              <a:spcAft>
                <a:spcPts val="0"/>
              </a:spcAft>
              <a:buNone/>
            </a:pPr>
            <a:r>
              <a:rPr lang="en" sz="1200" b="1">
                <a:solidFill>
                  <a:srgbClr val="000000"/>
                </a:solidFill>
                <a:latin typeface="Times New Roman"/>
                <a:ea typeface="Times New Roman"/>
                <a:cs typeface="Times New Roman"/>
                <a:sym typeface="Times New Roman"/>
              </a:rPr>
              <a:t>What it does and why it matters</a:t>
            </a:r>
            <a:endParaRPr sz="1200" b="1">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Step 1. Summarize cross validation. </a:t>
            </a:r>
            <a:r>
              <a:rPr lang="en" sz="1200">
                <a:solidFill>
                  <a:srgbClr val="188038"/>
                </a:solidFill>
                <a:latin typeface="Times New Roman"/>
                <a:ea typeface="Times New Roman"/>
                <a:cs typeface="Times New Roman"/>
                <a:sym typeface="Times New Roman"/>
              </a:rPr>
              <a:t>evaluate_cv</a:t>
            </a:r>
            <a:r>
              <a:rPr lang="en" sz="1200">
                <a:solidFill>
                  <a:srgbClr val="000000"/>
                </a:solidFill>
                <a:latin typeface="Times New Roman"/>
                <a:ea typeface="Times New Roman"/>
                <a:cs typeface="Times New Roman"/>
                <a:sym typeface="Times New Roman"/>
              </a:rPr>
              <a:t> runs 5-fold CV on the training split and reports mean and standard deviation for recall, F1, ROC-AUC, and PR-AUC. This shows stability across folds.</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Step 2. Compute out-of-fold probabilities on the training split. This creates unbiased probabilities for threshold tuning.</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Step 3. Run the threshold sweep to choose the best operating point that meets the recall target and maximizes F1.</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Step 4. Fit the model once on the full training split using all rows.</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Step 5. Predict probabilities on the untouched test split, apply the chosen threshold, and compute final test metrics. We report recall, precision, F1, accuracy, ROC-AUC, PR-AUC, and the confusion matrix as [[TN, FP], [FN, TP]].</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Step 6. Return everything in a dictionary. We also store the whole threshold curve for plots and reporting later.</a:t>
            </a:r>
            <a:endParaRPr sz="1200" b="1">
              <a:solidFill>
                <a:srgbClr val="000000"/>
              </a:solidFill>
              <a:latin typeface="Times New Roman"/>
              <a:ea typeface="Times New Roman"/>
              <a:cs typeface="Times New Roman"/>
              <a:sym typeface="Times New Roman"/>
            </a:endParaRPr>
          </a:p>
        </p:txBody>
      </p:sp>
      <p:sp>
        <p:nvSpPr>
          <p:cNvPr id="349" name="Google Shape;349;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4"/>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0" lvl="0" indent="0" algn="ctr" rtl="0">
              <a:lnSpc>
                <a:spcPct val="115000"/>
              </a:lnSpc>
              <a:spcBef>
                <a:spcPts val="1200"/>
              </a:spcBef>
              <a:spcAft>
                <a:spcPts val="1200"/>
              </a:spcAft>
              <a:buNone/>
            </a:pPr>
            <a:r>
              <a:rPr lang="en" sz="1900">
                <a:latin typeface="Times New Roman"/>
                <a:ea typeface="Times New Roman"/>
                <a:cs typeface="Times New Roman"/>
                <a:sym typeface="Times New Roman"/>
              </a:rPr>
              <a:t>Why this wrapper is correct for our business goal</a:t>
            </a:r>
            <a:endParaRPr sz="2000">
              <a:latin typeface="Times New Roman"/>
              <a:ea typeface="Times New Roman"/>
              <a:cs typeface="Times New Roman"/>
              <a:sym typeface="Times New Roman"/>
            </a:endParaRPr>
          </a:p>
        </p:txBody>
      </p:sp>
      <p:sp>
        <p:nvSpPr>
          <p:cNvPr id="355" name="Google Shape;355;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42</a:t>
            </a:fld>
            <a:endParaRPr/>
          </a:p>
        </p:txBody>
      </p:sp>
      <p:sp>
        <p:nvSpPr>
          <p:cNvPr id="356" name="Google Shape;356;p54"/>
          <p:cNvSpPr txBox="1"/>
          <p:nvPr/>
        </p:nvSpPr>
        <p:spPr>
          <a:xfrm>
            <a:off x="0" y="1291200"/>
            <a:ext cx="9144000" cy="3852300"/>
          </a:xfrm>
          <a:prstGeom prst="rect">
            <a:avLst/>
          </a:prstGeom>
          <a:noFill/>
          <a:ln>
            <a:noFill/>
          </a:ln>
        </p:spPr>
        <p:txBody>
          <a:bodyPr spcFirstLastPara="1" wrap="square" lIns="91425" tIns="91425" rIns="91425" bIns="91425" anchor="t" anchorCtr="0">
            <a:noAutofit/>
          </a:bodyPr>
          <a:lstStyle/>
          <a:p>
            <a:pPr marL="457200" lvl="0" indent="-304800" algn="l" rtl="0">
              <a:lnSpc>
                <a:spcPct val="100000"/>
              </a:lnSpc>
              <a:spcBef>
                <a:spcPts val="1200"/>
              </a:spcBef>
              <a:spcAft>
                <a:spcPts val="0"/>
              </a:spcAft>
              <a:buSzPts val="1200"/>
              <a:buFont typeface="Times New Roman"/>
              <a:buChar char="●"/>
            </a:pPr>
            <a:r>
              <a:rPr lang="en" sz="1200" b="1">
                <a:latin typeface="Times New Roman"/>
                <a:ea typeface="Times New Roman"/>
                <a:cs typeface="Times New Roman"/>
                <a:sym typeface="Times New Roman"/>
              </a:rPr>
              <a:t>Business need → recall first.</a:t>
            </a:r>
            <a:br>
              <a:rPr lang="en" sz="1200" b="1">
                <a:latin typeface="Times New Roman"/>
                <a:ea typeface="Times New Roman"/>
                <a:cs typeface="Times New Roman"/>
                <a:sym typeface="Times New Roman"/>
              </a:rPr>
            </a:br>
            <a:r>
              <a:rPr lang="en" sz="1200">
                <a:latin typeface="Times New Roman"/>
                <a:ea typeface="Times New Roman"/>
                <a:cs typeface="Times New Roman"/>
                <a:sym typeface="Times New Roman"/>
              </a:rPr>
              <a:t> The company cares most about catching churners early so retention teams can act. That is recall.</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00000"/>
              </a:lnSpc>
              <a:spcBef>
                <a:spcPts val="0"/>
              </a:spcBef>
              <a:spcAft>
                <a:spcPts val="0"/>
              </a:spcAft>
              <a:buSzPts val="1200"/>
              <a:buFont typeface="Times New Roman"/>
              <a:buChar char="●"/>
            </a:pPr>
            <a:r>
              <a:rPr lang="en" sz="1200" b="1">
                <a:latin typeface="Times New Roman"/>
                <a:ea typeface="Times New Roman"/>
                <a:cs typeface="Times New Roman"/>
                <a:sym typeface="Times New Roman"/>
              </a:rPr>
              <a:t>Thresholds tuned only on training folds.</a:t>
            </a:r>
            <a:br>
              <a:rPr lang="en" sz="1200" b="1">
                <a:latin typeface="Times New Roman"/>
                <a:ea typeface="Times New Roman"/>
                <a:cs typeface="Times New Roman"/>
                <a:sym typeface="Times New Roman"/>
              </a:rPr>
            </a:br>
            <a:r>
              <a:rPr lang="en" sz="1200">
                <a:latin typeface="Times New Roman"/>
                <a:ea typeface="Times New Roman"/>
                <a:cs typeface="Times New Roman"/>
                <a:sym typeface="Times New Roman"/>
              </a:rPr>
              <a:t> We sweep thresholds using out-of-fold probabilities from cross validation, so the test set stays completely clean for the final report.</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00000"/>
              </a:lnSpc>
              <a:spcBef>
                <a:spcPts val="0"/>
              </a:spcBef>
              <a:spcAft>
                <a:spcPts val="0"/>
              </a:spcAft>
              <a:buSzPts val="1200"/>
              <a:buFont typeface="Times New Roman"/>
              <a:buChar char="●"/>
            </a:pPr>
            <a:r>
              <a:rPr lang="en" sz="1200" b="1">
                <a:latin typeface="Times New Roman"/>
                <a:ea typeface="Times New Roman"/>
                <a:cs typeface="Times New Roman"/>
                <a:sym typeface="Times New Roman"/>
              </a:rPr>
              <a:t>Recall enforced during threshold selection.</a:t>
            </a:r>
            <a:br>
              <a:rPr lang="en" sz="1200" b="1">
                <a:latin typeface="Times New Roman"/>
                <a:ea typeface="Times New Roman"/>
                <a:cs typeface="Times New Roman"/>
                <a:sym typeface="Times New Roman"/>
              </a:rPr>
            </a:br>
            <a:r>
              <a:rPr lang="en" sz="1200">
                <a:latin typeface="Times New Roman"/>
                <a:ea typeface="Times New Roman"/>
                <a:cs typeface="Times New Roman"/>
                <a:sym typeface="Times New Roman"/>
              </a:rPr>
              <a:t> We keep only thresholds that reach at least 80 percent recall on the training folds, not after the fact. That directly supports the requirement to capture 4 out of 5 churners.</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00000"/>
              </a:lnSpc>
              <a:spcBef>
                <a:spcPts val="0"/>
              </a:spcBef>
              <a:spcAft>
                <a:spcPts val="0"/>
              </a:spcAft>
              <a:buSzPts val="1200"/>
              <a:buFont typeface="Times New Roman"/>
              <a:buChar char="●"/>
            </a:pPr>
            <a:r>
              <a:rPr lang="en" sz="1200" b="1">
                <a:latin typeface="Times New Roman"/>
                <a:ea typeface="Times New Roman"/>
                <a:cs typeface="Times New Roman"/>
                <a:sym typeface="Times New Roman"/>
              </a:rPr>
              <a:t>Balanced choice via F1.</a:t>
            </a:r>
            <a:br>
              <a:rPr lang="en" sz="1200" b="1">
                <a:latin typeface="Times New Roman"/>
                <a:ea typeface="Times New Roman"/>
                <a:cs typeface="Times New Roman"/>
                <a:sym typeface="Times New Roman"/>
              </a:rPr>
            </a:br>
            <a:r>
              <a:rPr lang="en" sz="1200">
                <a:latin typeface="Times New Roman"/>
                <a:ea typeface="Times New Roman"/>
                <a:cs typeface="Times New Roman"/>
                <a:sym typeface="Times New Roman"/>
              </a:rPr>
              <a:t> Among thresholds that meet the recall constraint, we pick the one with the highest F1 score to avoid precision collapsing.</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00000"/>
              </a:lnSpc>
              <a:spcBef>
                <a:spcPts val="0"/>
              </a:spcBef>
              <a:spcAft>
                <a:spcPts val="0"/>
              </a:spcAft>
              <a:buSzPts val="1200"/>
              <a:buFont typeface="Times New Roman"/>
              <a:buChar char="●"/>
            </a:pPr>
            <a:r>
              <a:rPr lang="en" sz="1200" b="1">
                <a:latin typeface="Times New Roman"/>
                <a:ea typeface="Times New Roman"/>
                <a:cs typeface="Times New Roman"/>
                <a:sym typeface="Times New Roman"/>
              </a:rPr>
              <a:t>Transparent justification.</a:t>
            </a:r>
            <a:br>
              <a:rPr lang="en" sz="1200" b="1">
                <a:latin typeface="Times New Roman"/>
                <a:ea typeface="Times New Roman"/>
                <a:cs typeface="Times New Roman"/>
                <a:sym typeface="Times New Roman"/>
              </a:rPr>
            </a:br>
            <a:r>
              <a:rPr lang="en" sz="1200">
                <a:latin typeface="Times New Roman"/>
                <a:ea typeface="Times New Roman"/>
                <a:cs typeface="Times New Roman"/>
                <a:sym typeface="Times New Roman"/>
              </a:rPr>
              <a:t> Returning the full sweep table means we can always show why a particular cutoff was chosen, e.g., with a slide chart.</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00000"/>
              </a:lnSpc>
              <a:spcBef>
                <a:spcPts val="0"/>
              </a:spcBef>
              <a:spcAft>
                <a:spcPts val="0"/>
              </a:spcAft>
              <a:buSzPts val="1200"/>
              <a:buFont typeface="Times New Roman"/>
              <a:buChar char="●"/>
            </a:pPr>
            <a:r>
              <a:rPr lang="en" sz="1200" b="1">
                <a:latin typeface="Times New Roman"/>
                <a:ea typeface="Times New Roman"/>
                <a:cs typeface="Times New Roman"/>
                <a:sym typeface="Times New Roman"/>
              </a:rPr>
              <a:t>Final operating points.</a:t>
            </a:r>
            <a:br>
              <a:rPr lang="en" sz="1200" b="1">
                <a:latin typeface="Times New Roman"/>
                <a:ea typeface="Times New Roman"/>
                <a:cs typeface="Times New Roman"/>
                <a:sym typeface="Times New Roman"/>
              </a:rPr>
            </a:br>
            <a:r>
              <a:rPr lang="en" sz="1200">
                <a:latin typeface="Times New Roman"/>
                <a:ea typeface="Times New Roman"/>
                <a:cs typeface="Times New Roman"/>
                <a:sym typeface="Times New Roman"/>
              </a:rPr>
              <a:t> This procedure gave </a:t>
            </a:r>
            <a:r>
              <a:rPr lang="en" sz="1200" b="1">
                <a:latin typeface="Times New Roman"/>
                <a:ea typeface="Times New Roman"/>
                <a:cs typeface="Times New Roman"/>
                <a:sym typeface="Times New Roman"/>
              </a:rPr>
              <a:t>0.45</a:t>
            </a:r>
            <a:r>
              <a:rPr lang="en" sz="1200">
                <a:latin typeface="Times New Roman"/>
                <a:ea typeface="Times New Roman"/>
                <a:cs typeface="Times New Roman"/>
                <a:sym typeface="Times New Roman"/>
              </a:rPr>
              <a:t> for Logistic Regression, </a:t>
            </a:r>
            <a:r>
              <a:rPr lang="en" sz="1200" b="1">
                <a:latin typeface="Times New Roman"/>
                <a:ea typeface="Times New Roman"/>
                <a:cs typeface="Times New Roman"/>
                <a:sym typeface="Times New Roman"/>
              </a:rPr>
              <a:t>0.30</a:t>
            </a:r>
            <a:r>
              <a:rPr lang="en" sz="1200">
                <a:latin typeface="Times New Roman"/>
                <a:ea typeface="Times New Roman"/>
                <a:cs typeface="Times New Roman"/>
                <a:sym typeface="Times New Roman"/>
              </a:rPr>
              <a:t> for Random Forest, and </a:t>
            </a:r>
            <a:r>
              <a:rPr lang="en" sz="1200" b="1">
                <a:latin typeface="Times New Roman"/>
                <a:ea typeface="Times New Roman"/>
                <a:cs typeface="Times New Roman"/>
                <a:sym typeface="Times New Roman"/>
              </a:rPr>
              <a:t>0.25</a:t>
            </a:r>
            <a:r>
              <a:rPr lang="en" sz="1200">
                <a:latin typeface="Times New Roman"/>
                <a:ea typeface="Times New Roman"/>
                <a:cs typeface="Times New Roman"/>
                <a:sym typeface="Times New Roman"/>
              </a:rPr>
              <a:t> for Histogram Gradient Boosting.</a:t>
            </a:r>
            <a:br>
              <a:rPr lang="en" sz="1200">
                <a:latin typeface="Times New Roman"/>
                <a:ea typeface="Times New Roman"/>
                <a:cs typeface="Times New Roman"/>
                <a:sym typeface="Times New Roman"/>
              </a:rPr>
            </a:br>
            <a:r>
              <a:rPr lang="en" sz="1200">
                <a:latin typeface="Times New Roman"/>
                <a:ea typeface="Times New Roman"/>
                <a:cs typeface="Times New Roman"/>
                <a:sym typeface="Times New Roman"/>
              </a:rPr>
              <a:t> These cutoffs produced recall in the </a:t>
            </a:r>
            <a:r>
              <a:rPr lang="en" sz="1200" b="1">
                <a:latin typeface="Times New Roman"/>
                <a:ea typeface="Times New Roman"/>
                <a:cs typeface="Times New Roman"/>
                <a:sym typeface="Times New Roman"/>
              </a:rPr>
              <a:t>81–83 %</a:t>
            </a:r>
            <a:r>
              <a:rPr lang="en" sz="1200">
                <a:latin typeface="Times New Roman"/>
                <a:ea typeface="Times New Roman"/>
                <a:cs typeface="Times New Roman"/>
                <a:sym typeface="Times New Roman"/>
              </a:rPr>
              <a:t> range while accuracy landed in the </a:t>
            </a:r>
            <a:r>
              <a:rPr lang="en" sz="1200" b="1">
                <a:latin typeface="Times New Roman"/>
                <a:ea typeface="Times New Roman"/>
                <a:cs typeface="Times New Roman"/>
                <a:sym typeface="Times New Roman"/>
              </a:rPr>
              <a:t>72–74 %</a:t>
            </a:r>
            <a:r>
              <a:rPr lang="en" sz="1200">
                <a:latin typeface="Times New Roman"/>
                <a:ea typeface="Times New Roman"/>
                <a:cs typeface="Times New Roman"/>
                <a:sym typeface="Times New Roman"/>
              </a:rPr>
              <a:t> range, consistent with the recall-first business objective.</a:t>
            </a:r>
            <a:endParaRPr sz="1200">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55"/>
          <p:cNvSpPr txBox="1">
            <a:spLocks noGrp="1"/>
          </p:cNvSpPr>
          <p:nvPr>
            <p:ph type="title"/>
          </p:nvPr>
        </p:nvSpPr>
        <p:spPr>
          <a:xfrm>
            <a:off x="311725" y="0"/>
            <a:ext cx="8520600" cy="1291200"/>
          </a:xfrm>
          <a:prstGeom prst="rect">
            <a:avLst/>
          </a:prstGeom>
        </p:spPr>
        <p:txBody>
          <a:bodyPr spcFirstLastPara="1" wrap="square" lIns="91425" tIns="91425" rIns="91425" bIns="91425" anchor="ctr" anchorCtr="0">
            <a:normAutofit/>
          </a:bodyPr>
          <a:lstStyle/>
          <a:p>
            <a:pPr marL="0" lvl="0" indent="0" algn="ctr" rtl="0">
              <a:lnSpc>
                <a:spcPct val="115000"/>
              </a:lnSpc>
              <a:spcBef>
                <a:spcPts val="1200"/>
              </a:spcBef>
              <a:spcAft>
                <a:spcPts val="1200"/>
              </a:spcAft>
              <a:buNone/>
            </a:pPr>
            <a:r>
              <a:rPr lang="en" sz="1900">
                <a:latin typeface="Times New Roman"/>
                <a:ea typeface="Times New Roman"/>
                <a:cs typeface="Times New Roman"/>
                <a:sym typeface="Times New Roman"/>
              </a:rPr>
              <a:t>4.5 How these three complement each other</a:t>
            </a:r>
            <a:endParaRPr sz="2000">
              <a:latin typeface="Times New Roman"/>
              <a:ea typeface="Times New Roman"/>
              <a:cs typeface="Times New Roman"/>
              <a:sym typeface="Times New Roman"/>
            </a:endParaRPr>
          </a:p>
        </p:txBody>
      </p:sp>
      <p:sp>
        <p:nvSpPr>
          <p:cNvPr id="362" name="Google Shape;362;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43</a:t>
            </a:fld>
            <a:endParaRPr/>
          </a:p>
        </p:txBody>
      </p:sp>
      <p:sp>
        <p:nvSpPr>
          <p:cNvPr id="363" name="Google Shape;363;p55"/>
          <p:cNvSpPr txBox="1"/>
          <p:nvPr/>
        </p:nvSpPr>
        <p:spPr>
          <a:xfrm>
            <a:off x="0" y="1291200"/>
            <a:ext cx="9144000" cy="38523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SzPts val="1200"/>
              <a:buFont typeface="Times New Roman"/>
              <a:buChar char="●"/>
            </a:pPr>
            <a:r>
              <a:rPr lang="en" sz="1100" b="1" dirty="0">
                <a:latin typeface="Times New Roman"/>
                <a:ea typeface="Times New Roman"/>
                <a:cs typeface="Times New Roman"/>
                <a:sym typeface="Times New Roman"/>
              </a:rPr>
              <a:t>Logistic Regression (baseline + transparency).</a:t>
            </a:r>
            <a:br>
              <a:rPr lang="en" sz="1100" b="1" dirty="0">
                <a:latin typeface="Times New Roman"/>
                <a:ea typeface="Times New Roman"/>
                <a:cs typeface="Times New Roman"/>
                <a:sym typeface="Times New Roman"/>
              </a:rPr>
            </a:br>
            <a:r>
              <a:rPr lang="en" sz="1100" dirty="0">
                <a:latin typeface="Times New Roman"/>
                <a:ea typeface="Times New Roman"/>
                <a:cs typeface="Times New Roman"/>
                <a:sym typeface="Times New Roman"/>
              </a:rPr>
              <a:t> Provides a simple, interpretable baseline with coefficients that clearly show how each feature pushes churn risk up or down.</a:t>
            </a:r>
            <a:br>
              <a:rPr lang="en" sz="1100" dirty="0">
                <a:latin typeface="Times New Roman"/>
                <a:ea typeface="Times New Roman"/>
                <a:cs typeface="Times New Roman"/>
                <a:sym typeface="Times New Roman"/>
              </a:rPr>
            </a:br>
            <a:r>
              <a:rPr lang="en" sz="1100" dirty="0">
                <a:latin typeface="Times New Roman"/>
                <a:ea typeface="Times New Roman"/>
                <a:cs typeface="Times New Roman"/>
                <a:sym typeface="Times New Roman"/>
              </a:rPr>
              <a:t> Outputs calibrated probabilities that are easy to communicate to business teams.</a:t>
            </a:r>
            <a:br>
              <a:rPr lang="en" sz="1100" dirty="0">
                <a:latin typeface="Times New Roman"/>
                <a:ea typeface="Times New Roman"/>
                <a:cs typeface="Times New Roman"/>
                <a:sym typeface="Times New Roman"/>
              </a:rPr>
            </a:br>
            <a:endParaRPr sz="1100" dirty="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100" b="1" dirty="0">
                <a:latin typeface="Times New Roman"/>
                <a:ea typeface="Times New Roman"/>
                <a:cs typeface="Times New Roman"/>
                <a:sym typeface="Times New Roman"/>
              </a:rPr>
              <a:t>Random Forest (robust non-linear learner).</a:t>
            </a:r>
            <a:br>
              <a:rPr lang="en" sz="1100" b="1" dirty="0">
                <a:latin typeface="Times New Roman"/>
                <a:ea typeface="Times New Roman"/>
                <a:cs typeface="Times New Roman"/>
                <a:sym typeface="Times New Roman"/>
              </a:rPr>
            </a:br>
            <a:r>
              <a:rPr lang="en" sz="1100" dirty="0">
                <a:latin typeface="Times New Roman"/>
                <a:ea typeface="Times New Roman"/>
                <a:cs typeface="Times New Roman"/>
                <a:sym typeface="Times New Roman"/>
              </a:rPr>
              <a:t> Captures non-linearities and feature interactions automatically.</a:t>
            </a:r>
            <a:br>
              <a:rPr lang="en" sz="1100" dirty="0">
                <a:latin typeface="Times New Roman"/>
                <a:ea typeface="Times New Roman"/>
                <a:cs typeface="Times New Roman"/>
                <a:sym typeface="Times New Roman"/>
              </a:rPr>
            </a:br>
            <a:r>
              <a:rPr lang="en" sz="1100" dirty="0">
                <a:latin typeface="Times New Roman"/>
                <a:ea typeface="Times New Roman"/>
                <a:cs typeface="Times New Roman"/>
                <a:sym typeface="Times New Roman"/>
              </a:rPr>
              <a:t> Resistant to noise and performs well on tabular data with minimal tuning.</a:t>
            </a:r>
            <a:br>
              <a:rPr lang="en" sz="1100" dirty="0">
                <a:latin typeface="Times New Roman"/>
                <a:ea typeface="Times New Roman"/>
                <a:cs typeface="Times New Roman"/>
                <a:sym typeface="Times New Roman"/>
              </a:rPr>
            </a:br>
            <a:endParaRPr sz="1100" dirty="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100" b="1" dirty="0">
                <a:latin typeface="Times New Roman"/>
                <a:ea typeface="Times New Roman"/>
                <a:cs typeface="Times New Roman"/>
                <a:sym typeface="Times New Roman"/>
              </a:rPr>
              <a:t>Histogram Gradient Boosting (high accuracy + efficiency).</a:t>
            </a:r>
            <a:br>
              <a:rPr lang="en" sz="1100" b="1" dirty="0">
                <a:latin typeface="Times New Roman"/>
                <a:ea typeface="Times New Roman"/>
                <a:cs typeface="Times New Roman"/>
                <a:sym typeface="Times New Roman"/>
              </a:rPr>
            </a:br>
            <a:r>
              <a:rPr lang="en" sz="1100" dirty="0">
                <a:latin typeface="Times New Roman"/>
                <a:ea typeface="Times New Roman"/>
                <a:cs typeface="Times New Roman"/>
                <a:sym typeface="Times New Roman"/>
              </a:rPr>
              <a:t> Often delivers the strongest performance on structured data.</a:t>
            </a:r>
            <a:br>
              <a:rPr lang="en" sz="1100" dirty="0">
                <a:latin typeface="Times New Roman"/>
                <a:ea typeface="Times New Roman"/>
                <a:cs typeface="Times New Roman"/>
                <a:sym typeface="Times New Roman"/>
              </a:rPr>
            </a:br>
            <a:r>
              <a:rPr lang="en" sz="1100" dirty="0">
                <a:latin typeface="Times New Roman"/>
                <a:ea typeface="Times New Roman"/>
                <a:cs typeface="Times New Roman"/>
                <a:sym typeface="Times New Roman"/>
              </a:rPr>
              <a:t> Produces smooth probability estimates and handles missing values and continuous features efficiently.</a:t>
            </a:r>
            <a:br>
              <a:rPr lang="en" sz="1100" dirty="0">
                <a:latin typeface="Times New Roman"/>
                <a:ea typeface="Times New Roman"/>
                <a:cs typeface="Times New Roman"/>
                <a:sym typeface="Times New Roman"/>
              </a:rPr>
            </a:br>
            <a:endParaRPr sz="1100" dirty="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100" b="1" dirty="0">
                <a:latin typeface="Times New Roman"/>
                <a:ea typeface="Times New Roman"/>
                <a:cs typeface="Times New Roman"/>
                <a:sym typeface="Times New Roman"/>
              </a:rPr>
              <a:t>Together as a portfolio.</a:t>
            </a:r>
            <a:br>
              <a:rPr lang="en" sz="1100" b="1" dirty="0">
                <a:latin typeface="Times New Roman"/>
                <a:ea typeface="Times New Roman"/>
                <a:cs typeface="Times New Roman"/>
                <a:sym typeface="Times New Roman"/>
              </a:rPr>
            </a:br>
            <a:r>
              <a:rPr lang="en" sz="1100" dirty="0">
                <a:latin typeface="Times New Roman"/>
                <a:ea typeface="Times New Roman"/>
                <a:cs typeface="Times New Roman"/>
                <a:sym typeface="Times New Roman"/>
              </a:rPr>
              <a:t> Logistic Regression ensures interpretability, Random Forest ensures robustness, and Gradient Boosting pushes accuracy higher.</a:t>
            </a:r>
            <a:br>
              <a:rPr lang="en" sz="1100" dirty="0">
                <a:latin typeface="Times New Roman"/>
                <a:ea typeface="Times New Roman"/>
                <a:cs typeface="Times New Roman"/>
                <a:sym typeface="Times New Roman"/>
              </a:rPr>
            </a:br>
            <a:r>
              <a:rPr lang="en" sz="1100" dirty="0">
                <a:latin typeface="Times New Roman"/>
                <a:ea typeface="Times New Roman"/>
                <a:cs typeface="Times New Roman"/>
                <a:sym typeface="Times New Roman"/>
              </a:rPr>
              <a:t> Running all three and comparing them gives both credibility (business transparency) and performance (technical strength).</a:t>
            </a:r>
            <a:endParaRPr sz="1100" dirty="0">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sz="1100" dirty="0">
                <a:latin typeface="Times New Roman"/>
                <a:ea typeface="Times New Roman"/>
                <a:cs typeface="Times New Roman"/>
                <a:sym typeface="Times New Roman"/>
              </a:rPr>
              <a:t>In Section 5 we will compare all three with cross validation metrics and the final test results, and explain why accuracy lands in the low 70s when we enforce recall around 80 percent.</a:t>
            </a:r>
            <a:endParaRPr sz="1100" b="1" dirty="0">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367"/>
        <p:cNvGrpSpPr/>
        <p:nvPr/>
      </p:nvGrpSpPr>
      <p:grpSpPr>
        <a:xfrm>
          <a:off x="0" y="0"/>
          <a:ext cx="0" cy="0"/>
          <a:chOff x="0" y="0"/>
          <a:chExt cx="0" cy="0"/>
        </a:xfrm>
      </p:grpSpPr>
      <p:sp>
        <p:nvSpPr>
          <p:cNvPr id="368" name="Google Shape;368;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44</a:t>
            </a:fld>
            <a:endParaRPr/>
          </a:p>
        </p:txBody>
      </p:sp>
      <p:sp>
        <p:nvSpPr>
          <p:cNvPr id="369" name="Google Shape;369;p56"/>
          <p:cNvSpPr txBox="1">
            <a:spLocks noGrp="1"/>
          </p:cNvSpPr>
          <p:nvPr>
            <p:ph type="title"/>
          </p:nvPr>
        </p:nvSpPr>
        <p:spPr>
          <a:xfrm>
            <a:off x="0" y="198625"/>
            <a:ext cx="4308900" cy="25089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ctr" rtl="0">
              <a:lnSpc>
                <a:spcPct val="100000"/>
              </a:lnSpc>
              <a:spcBef>
                <a:spcPts val="0"/>
              </a:spcBef>
              <a:spcAft>
                <a:spcPts val="0"/>
              </a:spcAft>
              <a:buNone/>
            </a:pPr>
            <a:r>
              <a:rPr lang="en" sz="1900" b="1">
                <a:latin typeface="Times New Roman"/>
                <a:ea typeface="Times New Roman"/>
                <a:cs typeface="Times New Roman"/>
                <a:sym typeface="Times New Roman"/>
              </a:rPr>
              <a:t>Section 5: Evaluation and Reporting</a:t>
            </a:r>
            <a:endParaRPr sz="19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457200" lvl="0" indent="-304800" algn="l" rtl="0">
              <a:spcBef>
                <a:spcPts val="1200"/>
              </a:spcBef>
              <a:spcAft>
                <a:spcPts val="0"/>
              </a:spcAft>
              <a:buSzPts val="1200"/>
              <a:buFont typeface="Times New Roman"/>
              <a:buChar char="●"/>
            </a:pPr>
            <a:r>
              <a:rPr lang="en" sz="1200" b="1">
                <a:latin typeface="Times New Roman"/>
                <a:ea typeface="Times New Roman"/>
                <a:cs typeface="Times New Roman"/>
                <a:sym typeface="Times New Roman"/>
              </a:rPr>
              <a:t>Metrics (Recall, F1, ROC-AUC, PR-AUC, Accuracy).</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Success criteria (Recall ≥80%, Accuracy ≥70%).</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Results table.</a:t>
            </a:r>
            <a:endParaRPr sz="1200" b="1">
              <a:latin typeface="Times New Roman"/>
              <a:ea typeface="Times New Roman"/>
              <a:cs typeface="Times New Roman"/>
              <a:sym typeface="Times New Roman"/>
            </a:endParaRPr>
          </a:p>
        </p:txBody>
      </p:sp>
      <p:sp>
        <p:nvSpPr>
          <p:cNvPr id="370" name="Google Shape;370;p56"/>
          <p:cNvSpPr txBox="1">
            <a:spLocks noGrp="1"/>
          </p:cNvSpPr>
          <p:nvPr>
            <p:ph type="body" idx="1"/>
          </p:nvPr>
        </p:nvSpPr>
        <p:spPr>
          <a:xfrm>
            <a:off x="4308925" y="0"/>
            <a:ext cx="4835100" cy="51435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None/>
            </a:pPr>
            <a:r>
              <a:rPr lang="en" b="1">
                <a:solidFill>
                  <a:srgbClr val="000000"/>
                </a:solidFill>
                <a:latin typeface="Times New Roman"/>
                <a:ea typeface="Times New Roman"/>
                <a:cs typeface="Times New Roman"/>
                <a:sym typeface="Times New Roman"/>
              </a:rPr>
              <a:t>5.1 Metrics We Report</a:t>
            </a:r>
            <a:endParaRPr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rgbClr val="000000"/>
                </a:solidFill>
                <a:latin typeface="Times New Roman"/>
                <a:ea typeface="Times New Roman"/>
                <a:cs typeface="Times New Roman"/>
                <a:sym typeface="Times New Roman"/>
              </a:rPr>
              <a:t>We used five key metrics to judge our models:</a:t>
            </a:r>
            <a:endParaRPr sz="1200" b="1">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Recall: Measures how many actual churners we successfully catch. This was our primary business metric, since missing a churner means losing a customer.</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Precision: Measures how many predicted churners were truly churners. This was tracked but not enforced as a target.</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F1 Score: The harmonic mean of precision and recall. It balances both and is useful when neither metric alone gives the full story.</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ROC-AUC: The area under the Receiver Operating Characteristic curve. It summarizes overall ranking quality across thresholds.</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PR-AUC: The area under the Precision-Recall curve. It focuses on the minority (churn) class and is more informative under imbalance.</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Accuracy: The share of total correct predictions. This was our secondary business metric, with a requirement of ≥70%.</a:t>
            </a:r>
            <a:endParaRPr sz="1200">
              <a:solidFill>
                <a:srgbClr val="000000"/>
              </a:solidFill>
              <a:latin typeface="Times New Roman"/>
              <a:ea typeface="Times New Roman"/>
              <a:cs typeface="Times New Roman"/>
              <a:sym typeface="Times New Roman"/>
            </a:endParaRPr>
          </a:p>
          <a:p>
            <a:pPr marL="0" lvl="0" indent="0" algn="just" rtl="0">
              <a:spcBef>
                <a:spcPts val="1200"/>
              </a:spcBef>
              <a:spcAft>
                <a:spcPts val="1200"/>
              </a:spcAft>
              <a:buNone/>
            </a:pPr>
            <a:endParaRPr>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374"/>
        <p:cNvGrpSpPr/>
        <p:nvPr/>
      </p:nvGrpSpPr>
      <p:grpSpPr>
        <a:xfrm>
          <a:off x="0" y="0"/>
          <a:ext cx="0" cy="0"/>
          <a:chOff x="0" y="0"/>
          <a:chExt cx="0" cy="0"/>
        </a:xfrm>
      </p:grpSpPr>
      <p:sp>
        <p:nvSpPr>
          <p:cNvPr id="375" name="Google Shape;375;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45</a:t>
            </a:fld>
            <a:endParaRPr/>
          </a:p>
        </p:txBody>
      </p:sp>
      <p:sp>
        <p:nvSpPr>
          <p:cNvPr id="376" name="Google Shape;376;p57"/>
          <p:cNvSpPr txBox="1">
            <a:spLocks noGrp="1"/>
          </p:cNvSpPr>
          <p:nvPr>
            <p:ph type="title" idx="4294967295"/>
          </p:nvPr>
        </p:nvSpPr>
        <p:spPr>
          <a:xfrm>
            <a:off x="0" y="0"/>
            <a:ext cx="4308900" cy="5143500"/>
          </a:xfrm>
          <a:prstGeom prst="rect">
            <a:avLst/>
          </a:prstGeom>
        </p:spPr>
        <p:txBody>
          <a:bodyPr spcFirstLastPara="1" wrap="square" lIns="91425" tIns="91425" rIns="91425" bIns="91425" anchor="t" anchorCtr="0">
            <a:noAutofit/>
          </a:bodyPr>
          <a:lstStyle/>
          <a:p>
            <a:pPr marL="0" lvl="0" indent="0" algn="l" rtl="0">
              <a:lnSpc>
                <a:spcPct val="100000"/>
              </a:lnSpc>
              <a:spcBef>
                <a:spcPts val="1400"/>
              </a:spcBef>
              <a:spcAft>
                <a:spcPts val="0"/>
              </a:spcAft>
              <a:buNone/>
            </a:pPr>
            <a:r>
              <a:rPr lang="en" sz="1100" b="1">
                <a:solidFill>
                  <a:srgbClr val="000000"/>
                </a:solidFill>
                <a:latin typeface="Times New Roman"/>
                <a:ea typeface="Times New Roman"/>
                <a:cs typeface="Times New Roman"/>
                <a:sym typeface="Times New Roman"/>
              </a:rPr>
              <a:t>5.2 Success Criteria</a:t>
            </a:r>
            <a:endParaRPr sz="1100" b="1">
              <a:solidFill>
                <a:srgbClr val="000000"/>
              </a:solidFill>
              <a:latin typeface="Times New Roman"/>
              <a:ea typeface="Times New Roman"/>
              <a:cs typeface="Times New Roman"/>
              <a:sym typeface="Times New Roman"/>
            </a:endParaRPr>
          </a:p>
          <a:p>
            <a:pPr marL="457200" lvl="0" indent="-298450" algn="l" rtl="0">
              <a:lnSpc>
                <a:spcPct val="100000"/>
              </a:lnSpc>
              <a:spcBef>
                <a:spcPts val="120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Recall ≥ 80% to ensure we catch at least 4 out of 5 churners.</a:t>
            </a:r>
            <a:br>
              <a:rPr lang="en" sz="1100">
                <a:solidFill>
                  <a:srgbClr val="000000"/>
                </a:solidFill>
                <a:latin typeface="Times New Roman"/>
                <a:ea typeface="Times New Roman"/>
                <a:cs typeface="Times New Roman"/>
                <a:sym typeface="Times New Roman"/>
              </a:rPr>
            </a:br>
            <a:endParaRPr sz="1100">
              <a:solidFill>
                <a:srgbClr val="000000"/>
              </a:solidFill>
              <a:latin typeface="Times New Roman"/>
              <a:ea typeface="Times New Roman"/>
              <a:cs typeface="Times New Roman"/>
              <a:sym typeface="Times New Roman"/>
            </a:endParaRPr>
          </a:p>
          <a:p>
            <a:pPr marL="457200" lvl="0" indent="-298450" algn="l" rtl="0">
              <a:lnSpc>
                <a:spcPct val="100000"/>
              </a:lnSpc>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Accuracy ≥ 70% so that predictions are not random or misleading.</a:t>
            </a:r>
            <a:endParaRPr sz="1100">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r>
              <a:rPr lang="en" sz="1100">
                <a:solidFill>
                  <a:srgbClr val="000000"/>
                </a:solidFill>
                <a:latin typeface="Times New Roman"/>
                <a:ea typeface="Times New Roman"/>
                <a:cs typeface="Times New Roman"/>
                <a:sym typeface="Times New Roman"/>
              </a:rPr>
              <a:t>Both criteria must be satisfied for a model to be considered successful.</a:t>
            </a:r>
            <a:endParaRPr sz="1100">
              <a:solidFill>
                <a:srgbClr val="000000"/>
              </a:solidFill>
              <a:latin typeface="Times New Roman"/>
              <a:ea typeface="Times New Roman"/>
              <a:cs typeface="Times New Roman"/>
              <a:sym typeface="Times New Roman"/>
            </a:endParaRPr>
          </a:p>
          <a:p>
            <a:pPr marL="0" lvl="0" indent="0" algn="l" rtl="0">
              <a:lnSpc>
                <a:spcPct val="100000"/>
              </a:lnSpc>
              <a:spcBef>
                <a:spcPts val="1400"/>
              </a:spcBef>
              <a:spcAft>
                <a:spcPts val="0"/>
              </a:spcAft>
              <a:buNone/>
            </a:pPr>
            <a:r>
              <a:rPr lang="en" sz="1100" b="1">
                <a:solidFill>
                  <a:srgbClr val="000000"/>
                </a:solidFill>
                <a:latin typeface="Times New Roman"/>
                <a:ea typeface="Times New Roman"/>
                <a:cs typeface="Times New Roman"/>
                <a:sym typeface="Times New Roman"/>
              </a:rPr>
              <a:t>5.3 Cross-Validation Results</a:t>
            </a:r>
            <a:endParaRPr sz="1100" b="1">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r>
              <a:rPr lang="en" sz="1100">
                <a:solidFill>
                  <a:srgbClr val="000000"/>
                </a:solidFill>
                <a:latin typeface="Times New Roman"/>
                <a:ea typeface="Times New Roman"/>
                <a:cs typeface="Times New Roman"/>
                <a:sym typeface="Times New Roman"/>
              </a:rPr>
              <a:t>Using 5-fold stratified cross-validation on the training set, we observed consistent performance across folds. All three models met the recall ≥ 80% target with accuracy landing around the low 70s.</a:t>
            </a:r>
            <a:endParaRPr sz="1100" b="1">
              <a:solidFill>
                <a:srgbClr val="000000"/>
              </a:solidFill>
              <a:latin typeface="Times New Roman"/>
              <a:ea typeface="Times New Roman"/>
              <a:cs typeface="Times New Roman"/>
              <a:sym typeface="Times New Roman"/>
            </a:endParaRPr>
          </a:p>
          <a:p>
            <a:pPr marL="0" lvl="0" indent="0" algn="l" rtl="0">
              <a:lnSpc>
                <a:spcPct val="100000"/>
              </a:lnSpc>
              <a:spcBef>
                <a:spcPts val="1400"/>
              </a:spcBef>
              <a:spcAft>
                <a:spcPts val="0"/>
              </a:spcAft>
              <a:buNone/>
            </a:pPr>
            <a:r>
              <a:rPr lang="en" sz="1100" b="1">
                <a:solidFill>
                  <a:srgbClr val="000000"/>
                </a:solidFill>
                <a:latin typeface="Times New Roman"/>
                <a:ea typeface="Times New Roman"/>
                <a:cs typeface="Times New Roman"/>
                <a:sym typeface="Times New Roman"/>
              </a:rPr>
              <a:t>5.4 Final Test Results</a:t>
            </a:r>
            <a:endParaRPr sz="1100" b="1">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r>
              <a:rPr lang="en" sz="1100">
                <a:solidFill>
                  <a:srgbClr val="000000"/>
                </a:solidFill>
                <a:latin typeface="Times New Roman"/>
                <a:ea typeface="Times New Roman"/>
                <a:cs typeface="Times New Roman"/>
                <a:sym typeface="Times New Roman"/>
              </a:rPr>
              <a:t>On the held-out test set, all three models satisfied the success criteria:</a:t>
            </a:r>
            <a:endParaRPr sz="1100">
              <a:solidFill>
                <a:srgbClr val="000000"/>
              </a:solidFill>
              <a:latin typeface="Times New Roman"/>
              <a:ea typeface="Times New Roman"/>
              <a:cs typeface="Times New Roman"/>
              <a:sym typeface="Times New Roman"/>
            </a:endParaRPr>
          </a:p>
          <a:p>
            <a:pPr marL="457200" lvl="0" indent="-298450" algn="l" rtl="0">
              <a:lnSpc>
                <a:spcPct val="100000"/>
              </a:lnSpc>
              <a:spcBef>
                <a:spcPts val="120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Logistic Regression (best model) – Recall 82.9%, Accuracy 72.4%</a:t>
            </a:r>
            <a:endParaRPr sz="1100">
              <a:solidFill>
                <a:srgbClr val="000000"/>
              </a:solidFill>
              <a:latin typeface="Times New Roman"/>
              <a:ea typeface="Times New Roman"/>
              <a:cs typeface="Times New Roman"/>
              <a:sym typeface="Times New Roman"/>
            </a:endParaRPr>
          </a:p>
          <a:p>
            <a:pPr marL="457200" lvl="0" indent="-298450" algn="l" rtl="0">
              <a:lnSpc>
                <a:spcPct val="100000"/>
              </a:lnSpc>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Random Forest – Recall 82.9%, Accuracy 72.3%</a:t>
            </a:r>
            <a:endParaRPr sz="1100">
              <a:solidFill>
                <a:srgbClr val="000000"/>
              </a:solidFill>
              <a:latin typeface="Times New Roman"/>
              <a:ea typeface="Times New Roman"/>
              <a:cs typeface="Times New Roman"/>
              <a:sym typeface="Times New Roman"/>
            </a:endParaRPr>
          </a:p>
          <a:p>
            <a:pPr marL="457200" lvl="0" indent="-298450" algn="l" rtl="0">
              <a:lnSpc>
                <a:spcPct val="100000"/>
              </a:lnSpc>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Histogram Gradient Boosting – Recall 81.3%, Accuracy 74.4%</a:t>
            </a:r>
            <a:endParaRPr sz="1100">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1200"/>
              </a:spcAft>
              <a:buNone/>
            </a:pPr>
            <a:r>
              <a:rPr lang="en" sz="1200">
                <a:solidFill>
                  <a:srgbClr val="000000"/>
                </a:solidFill>
                <a:latin typeface="Times New Roman"/>
                <a:ea typeface="Times New Roman"/>
                <a:cs typeface="Times New Roman"/>
                <a:sym typeface="Times New Roman"/>
              </a:rPr>
              <a:t>Although Histogram Gradient Boosting showed slightly higher accuracy, Logistic Regression was selected as the best model due to its transparency, interpretability, and stable probability outputs, which are easier to communicate to non-technical stakeholders.</a:t>
            </a:r>
            <a:endParaRPr sz="1100">
              <a:solidFill>
                <a:srgbClr val="000000"/>
              </a:solidFill>
              <a:latin typeface="Times New Roman"/>
              <a:ea typeface="Times New Roman"/>
              <a:cs typeface="Times New Roman"/>
              <a:sym typeface="Times New Roman"/>
            </a:endParaRPr>
          </a:p>
        </p:txBody>
      </p:sp>
      <p:sp>
        <p:nvSpPr>
          <p:cNvPr id="377" name="Google Shape;377;p57"/>
          <p:cNvSpPr txBox="1">
            <a:spLocks noGrp="1"/>
          </p:cNvSpPr>
          <p:nvPr>
            <p:ph type="body" idx="4294967295"/>
          </p:nvPr>
        </p:nvSpPr>
        <p:spPr>
          <a:xfrm>
            <a:off x="4308925" y="0"/>
            <a:ext cx="4835100" cy="5143500"/>
          </a:xfrm>
          <a:prstGeom prst="rect">
            <a:avLst/>
          </a:prstGeom>
        </p:spPr>
        <p:txBody>
          <a:bodyPr spcFirstLastPara="1" wrap="square" lIns="91425" tIns="91425" rIns="91425" bIns="91425" anchor="t" anchorCtr="0">
            <a:noAutofit/>
          </a:bodyPr>
          <a:lstStyle/>
          <a:p>
            <a:pPr marL="0" lvl="0" indent="0" algn="l" rtl="0">
              <a:lnSpc>
                <a:spcPct val="100000"/>
              </a:lnSpc>
              <a:spcBef>
                <a:spcPts val="1400"/>
              </a:spcBef>
              <a:spcAft>
                <a:spcPts val="0"/>
              </a:spcAft>
              <a:buNone/>
            </a:pPr>
            <a:r>
              <a:rPr lang="en" sz="700" b="1">
                <a:solidFill>
                  <a:srgbClr val="000000"/>
                </a:solidFill>
                <a:latin typeface="Times New Roman"/>
                <a:ea typeface="Times New Roman"/>
                <a:cs typeface="Times New Roman"/>
                <a:sym typeface="Times New Roman"/>
              </a:rPr>
              <a:t>5.5 Why Logistic Regression is the Best Model</a:t>
            </a:r>
            <a:endParaRPr sz="700" b="1">
              <a:solidFill>
                <a:srgbClr val="000000"/>
              </a:solidFill>
              <a:latin typeface="Times New Roman"/>
              <a:ea typeface="Times New Roman"/>
              <a:cs typeface="Times New Roman"/>
              <a:sym typeface="Times New Roman"/>
            </a:endParaRPr>
          </a:p>
          <a:p>
            <a:pPr marL="457200" lvl="0" indent="-273050" algn="l" rtl="0">
              <a:lnSpc>
                <a:spcPct val="100000"/>
              </a:lnSpc>
              <a:spcBef>
                <a:spcPts val="1200"/>
              </a:spcBef>
              <a:spcAft>
                <a:spcPts val="0"/>
              </a:spcAft>
              <a:buClr>
                <a:srgbClr val="000000"/>
              </a:buClr>
              <a:buSzPts val="700"/>
              <a:buFont typeface="Times New Roman"/>
              <a:buChar char="●"/>
            </a:pPr>
            <a:r>
              <a:rPr lang="en" sz="700" b="1">
                <a:solidFill>
                  <a:srgbClr val="000000"/>
                </a:solidFill>
                <a:latin typeface="Times New Roman"/>
                <a:ea typeface="Times New Roman"/>
                <a:cs typeface="Times New Roman"/>
                <a:sym typeface="Times New Roman"/>
              </a:rPr>
              <a:t>Interpretability</a:t>
            </a:r>
            <a:r>
              <a:rPr lang="en" sz="700">
                <a:solidFill>
                  <a:srgbClr val="000000"/>
                </a:solidFill>
                <a:latin typeface="Times New Roman"/>
                <a:ea typeface="Times New Roman"/>
                <a:cs typeface="Times New Roman"/>
                <a:sym typeface="Times New Roman"/>
              </a:rPr>
              <a:t>: coefficients directly show how features affect churn risk.</a:t>
            </a:r>
            <a:br>
              <a:rPr lang="en" sz="700">
                <a:solidFill>
                  <a:srgbClr val="000000"/>
                </a:solidFill>
                <a:latin typeface="Times New Roman"/>
                <a:ea typeface="Times New Roman"/>
                <a:cs typeface="Times New Roman"/>
                <a:sym typeface="Times New Roman"/>
              </a:rPr>
            </a:br>
            <a:endParaRPr sz="700">
              <a:solidFill>
                <a:srgbClr val="000000"/>
              </a:solidFill>
              <a:latin typeface="Times New Roman"/>
              <a:ea typeface="Times New Roman"/>
              <a:cs typeface="Times New Roman"/>
              <a:sym typeface="Times New Roman"/>
            </a:endParaRPr>
          </a:p>
          <a:p>
            <a:pPr marL="457200" lvl="0" indent="-273050" algn="l" rtl="0">
              <a:lnSpc>
                <a:spcPct val="100000"/>
              </a:lnSpc>
              <a:spcBef>
                <a:spcPts val="0"/>
              </a:spcBef>
              <a:spcAft>
                <a:spcPts val="0"/>
              </a:spcAft>
              <a:buClr>
                <a:srgbClr val="000000"/>
              </a:buClr>
              <a:buSzPts val="700"/>
              <a:buFont typeface="Times New Roman"/>
              <a:buChar char="●"/>
            </a:pPr>
            <a:r>
              <a:rPr lang="en" sz="700" b="1">
                <a:solidFill>
                  <a:srgbClr val="000000"/>
                </a:solidFill>
                <a:latin typeface="Times New Roman"/>
                <a:ea typeface="Times New Roman"/>
                <a:cs typeface="Times New Roman"/>
                <a:sym typeface="Times New Roman"/>
              </a:rPr>
              <a:t>Stability</a:t>
            </a:r>
            <a:r>
              <a:rPr lang="en" sz="700">
                <a:solidFill>
                  <a:srgbClr val="000000"/>
                </a:solidFill>
                <a:latin typeface="Times New Roman"/>
                <a:ea typeface="Times New Roman"/>
                <a:cs typeface="Times New Roman"/>
                <a:sym typeface="Times New Roman"/>
              </a:rPr>
              <a:t>: less sensitive to hyperparameters than Random Forest or HGB.</a:t>
            </a:r>
            <a:br>
              <a:rPr lang="en" sz="700">
                <a:solidFill>
                  <a:srgbClr val="000000"/>
                </a:solidFill>
                <a:latin typeface="Times New Roman"/>
                <a:ea typeface="Times New Roman"/>
                <a:cs typeface="Times New Roman"/>
                <a:sym typeface="Times New Roman"/>
              </a:rPr>
            </a:br>
            <a:endParaRPr sz="700">
              <a:solidFill>
                <a:srgbClr val="000000"/>
              </a:solidFill>
              <a:latin typeface="Times New Roman"/>
              <a:ea typeface="Times New Roman"/>
              <a:cs typeface="Times New Roman"/>
              <a:sym typeface="Times New Roman"/>
            </a:endParaRPr>
          </a:p>
          <a:p>
            <a:pPr marL="457200" lvl="0" indent="-273050" algn="l" rtl="0">
              <a:lnSpc>
                <a:spcPct val="100000"/>
              </a:lnSpc>
              <a:spcBef>
                <a:spcPts val="0"/>
              </a:spcBef>
              <a:spcAft>
                <a:spcPts val="0"/>
              </a:spcAft>
              <a:buClr>
                <a:srgbClr val="000000"/>
              </a:buClr>
              <a:buSzPts val="700"/>
              <a:buFont typeface="Times New Roman"/>
              <a:buChar char="●"/>
            </a:pPr>
            <a:r>
              <a:rPr lang="en" sz="700" b="1">
                <a:solidFill>
                  <a:srgbClr val="000000"/>
                </a:solidFill>
                <a:latin typeface="Times New Roman"/>
                <a:ea typeface="Times New Roman"/>
                <a:cs typeface="Times New Roman"/>
                <a:sym typeface="Times New Roman"/>
              </a:rPr>
              <a:t>Business usability</a:t>
            </a:r>
            <a:r>
              <a:rPr lang="en" sz="700">
                <a:solidFill>
                  <a:srgbClr val="000000"/>
                </a:solidFill>
                <a:latin typeface="Times New Roman"/>
                <a:ea typeface="Times New Roman"/>
                <a:cs typeface="Times New Roman"/>
                <a:sym typeface="Times New Roman"/>
              </a:rPr>
              <a:t>: probabilities can be shared with retention teams as risk scores.</a:t>
            </a:r>
            <a:br>
              <a:rPr lang="en" sz="700">
                <a:solidFill>
                  <a:srgbClr val="000000"/>
                </a:solidFill>
                <a:latin typeface="Times New Roman"/>
                <a:ea typeface="Times New Roman"/>
                <a:cs typeface="Times New Roman"/>
                <a:sym typeface="Times New Roman"/>
              </a:rPr>
            </a:br>
            <a:endParaRPr sz="700">
              <a:solidFill>
                <a:srgbClr val="000000"/>
              </a:solidFill>
              <a:latin typeface="Times New Roman"/>
              <a:ea typeface="Times New Roman"/>
              <a:cs typeface="Times New Roman"/>
              <a:sym typeface="Times New Roman"/>
            </a:endParaRPr>
          </a:p>
          <a:p>
            <a:pPr marL="457200" lvl="0" indent="-273050" algn="l" rtl="0">
              <a:lnSpc>
                <a:spcPct val="100000"/>
              </a:lnSpc>
              <a:spcBef>
                <a:spcPts val="0"/>
              </a:spcBef>
              <a:spcAft>
                <a:spcPts val="0"/>
              </a:spcAft>
              <a:buClr>
                <a:srgbClr val="000000"/>
              </a:buClr>
              <a:buSzPts val="700"/>
              <a:buFont typeface="Times New Roman"/>
              <a:buChar char="●"/>
            </a:pPr>
            <a:r>
              <a:rPr lang="en" sz="700" b="1">
                <a:solidFill>
                  <a:srgbClr val="000000"/>
                </a:solidFill>
                <a:latin typeface="Times New Roman"/>
                <a:ea typeface="Times New Roman"/>
                <a:cs typeface="Times New Roman"/>
                <a:sym typeface="Times New Roman"/>
              </a:rPr>
              <a:t>Performance balance</a:t>
            </a:r>
            <a:r>
              <a:rPr lang="en" sz="700">
                <a:solidFill>
                  <a:srgbClr val="000000"/>
                </a:solidFill>
                <a:latin typeface="Times New Roman"/>
                <a:ea typeface="Times New Roman"/>
                <a:cs typeface="Times New Roman"/>
                <a:sym typeface="Times New Roman"/>
              </a:rPr>
              <a:t>: while HGB had marginally higher accuracy, Logistic Regression matched recall at 82.9% and achieved the required accuracy above 70%. Its transparency makes it the stronger choice for deployment.</a:t>
            </a:r>
            <a:endParaRPr sz="700">
              <a:solidFill>
                <a:srgbClr val="000000"/>
              </a:solidFill>
              <a:latin typeface="Times New Roman"/>
              <a:ea typeface="Times New Roman"/>
              <a:cs typeface="Times New Roman"/>
              <a:sym typeface="Times New Roman"/>
            </a:endParaRPr>
          </a:p>
          <a:p>
            <a:pPr marL="0" lvl="0" indent="0" algn="l" rtl="0">
              <a:lnSpc>
                <a:spcPct val="100000"/>
              </a:lnSpc>
              <a:spcBef>
                <a:spcPts val="1400"/>
              </a:spcBef>
              <a:spcAft>
                <a:spcPts val="0"/>
              </a:spcAft>
              <a:buNone/>
            </a:pPr>
            <a:r>
              <a:rPr lang="en" sz="700" b="1">
                <a:solidFill>
                  <a:srgbClr val="000000"/>
                </a:solidFill>
                <a:latin typeface="Times New Roman"/>
                <a:ea typeface="Times New Roman"/>
                <a:cs typeface="Times New Roman"/>
                <a:sym typeface="Times New Roman"/>
              </a:rPr>
              <a:t>5.6 Why Accuracy Lands in the Low 70s (and not 85%)</a:t>
            </a:r>
            <a:endParaRPr sz="700" b="1">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r>
              <a:rPr lang="en" sz="700">
                <a:solidFill>
                  <a:srgbClr val="000000"/>
                </a:solidFill>
                <a:latin typeface="Times New Roman"/>
                <a:ea typeface="Times New Roman"/>
                <a:cs typeface="Times New Roman"/>
                <a:sym typeface="Times New Roman"/>
              </a:rPr>
              <a:t>It is tempting to expect 85–90% accuracy because many machine learning case studies report such numbers. But in this business problem, that level of accuracy is not achievable without breaking the recall requirement.</a:t>
            </a:r>
            <a:endParaRPr sz="700">
              <a:solidFill>
                <a:srgbClr val="000000"/>
              </a:solidFill>
              <a:latin typeface="Times New Roman"/>
              <a:ea typeface="Times New Roman"/>
              <a:cs typeface="Times New Roman"/>
              <a:sym typeface="Times New Roman"/>
            </a:endParaRPr>
          </a:p>
          <a:p>
            <a:pPr marL="457200" lvl="0" indent="-273050" algn="l" rtl="0">
              <a:lnSpc>
                <a:spcPct val="100000"/>
              </a:lnSpc>
              <a:spcBef>
                <a:spcPts val="1200"/>
              </a:spcBef>
              <a:spcAft>
                <a:spcPts val="0"/>
              </a:spcAft>
              <a:buClr>
                <a:srgbClr val="000000"/>
              </a:buClr>
              <a:buSzPts val="700"/>
              <a:buFont typeface="Times New Roman"/>
              <a:buChar char="●"/>
            </a:pPr>
            <a:r>
              <a:rPr lang="en" sz="700" b="1">
                <a:solidFill>
                  <a:srgbClr val="000000"/>
                </a:solidFill>
                <a:latin typeface="Times New Roman"/>
                <a:ea typeface="Times New Roman"/>
                <a:cs typeface="Times New Roman"/>
                <a:sym typeface="Times New Roman"/>
              </a:rPr>
              <a:t>Class Imbalance</a:t>
            </a:r>
            <a:br>
              <a:rPr lang="en" sz="700">
                <a:solidFill>
                  <a:srgbClr val="000000"/>
                </a:solidFill>
                <a:latin typeface="Times New Roman"/>
                <a:ea typeface="Times New Roman"/>
                <a:cs typeface="Times New Roman"/>
                <a:sym typeface="Times New Roman"/>
              </a:rPr>
            </a:br>
            <a:r>
              <a:rPr lang="en" sz="700">
                <a:solidFill>
                  <a:srgbClr val="000000"/>
                </a:solidFill>
                <a:latin typeface="Times New Roman"/>
                <a:ea typeface="Times New Roman"/>
                <a:cs typeface="Times New Roman"/>
                <a:sym typeface="Times New Roman"/>
              </a:rPr>
              <a:t> Only 26.5% of customers churn. A trivial model predicting “loyal” for everyone already achieves 73.5% accuracy. That sets a deceptive baseline. High accuracy here does not mean good business performance.</a:t>
            </a:r>
            <a:br>
              <a:rPr lang="en" sz="700">
                <a:solidFill>
                  <a:srgbClr val="000000"/>
                </a:solidFill>
                <a:latin typeface="Times New Roman"/>
                <a:ea typeface="Times New Roman"/>
                <a:cs typeface="Times New Roman"/>
                <a:sym typeface="Times New Roman"/>
              </a:rPr>
            </a:br>
            <a:endParaRPr sz="700">
              <a:solidFill>
                <a:srgbClr val="000000"/>
              </a:solidFill>
              <a:latin typeface="Times New Roman"/>
              <a:ea typeface="Times New Roman"/>
              <a:cs typeface="Times New Roman"/>
              <a:sym typeface="Times New Roman"/>
            </a:endParaRPr>
          </a:p>
          <a:p>
            <a:pPr marL="457200" lvl="0" indent="-273050" algn="l" rtl="0">
              <a:lnSpc>
                <a:spcPct val="100000"/>
              </a:lnSpc>
              <a:spcBef>
                <a:spcPts val="0"/>
              </a:spcBef>
              <a:spcAft>
                <a:spcPts val="0"/>
              </a:spcAft>
              <a:buClr>
                <a:srgbClr val="000000"/>
              </a:buClr>
              <a:buSzPts val="700"/>
              <a:buFont typeface="Times New Roman"/>
              <a:buChar char="●"/>
            </a:pPr>
            <a:r>
              <a:rPr lang="en" sz="700" b="1">
                <a:solidFill>
                  <a:srgbClr val="000000"/>
                </a:solidFill>
                <a:latin typeface="Times New Roman"/>
                <a:ea typeface="Times New Roman"/>
                <a:cs typeface="Times New Roman"/>
                <a:sym typeface="Times New Roman"/>
              </a:rPr>
              <a:t>Tradeoff Between Recall and Accuracy</a:t>
            </a:r>
            <a:br>
              <a:rPr lang="en" sz="700">
                <a:solidFill>
                  <a:srgbClr val="000000"/>
                </a:solidFill>
                <a:latin typeface="Times New Roman"/>
                <a:ea typeface="Times New Roman"/>
                <a:cs typeface="Times New Roman"/>
                <a:sym typeface="Times New Roman"/>
              </a:rPr>
            </a:br>
            <a:r>
              <a:rPr lang="en" sz="700">
                <a:solidFill>
                  <a:srgbClr val="000000"/>
                </a:solidFill>
                <a:latin typeface="Times New Roman"/>
                <a:ea typeface="Times New Roman"/>
                <a:cs typeface="Times New Roman"/>
                <a:sym typeface="Times New Roman"/>
              </a:rPr>
              <a:t> If we pushed for 85% accuracy, the model would choose a high cutoff (around 0.60–0.65). That increases precision but drops recall to ~60%, meaning we’d miss 40% of churners. From a business perspective, that is unacceptable.</a:t>
            </a:r>
            <a:br>
              <a:rPr lang="en" sz="700">
                <a:solidFill>
                  <a:srgbClr val="000000"/>
                </a:solidFill>
                <a:latin typeface="Times New Roman"/>
                <a:ea typeface="Times New Roman"/>
                <a:cs typeface="Times New Roman"/>
                <a:sym typeface="Times New Roman"/>
              </a:rPr>
            </a:br>
            <a:endParaRPr sz="700">
              <a:solidFill>
                <a:srgbClr val="000000"/>
              </a:solidFill>
              <a:latin typeface="Times New Roman"/>
              <a:ea typeface="Times New Roman"/>
              <a:cs typeface="Times New Roman"/>
              <a:sym typeface="Times New Roman"/>
            </a:endParaRPr>
          </a:p>
          <a:p>
            <a:pPr marL="457200" lvl="0" indent="-273050" algn="l" rtl="0">
              <a:lnSpc>
                <a:spcPct val="100000"/>
              </a:lnSpc>
              <a:spcBef>
                <a:spcPts val="0"/>
              </a:spcBef>
              <a:spcAft>
                <a:spcPts val="0"/>
              </a:spcAft>
              <a:buClr>
                <a:srgbClr val="000000"/>
              </a:buClr>
              <a:buSzPts val="700"/>
              <a:buFont typeface="Times New Roman"/>
              <a:buChar char="●"/>
            </a:pPr>
            <a:r>
              <a:rPr lang="en" sz="700" b="1">
                <a:solidFill>
                  <a:srgbClr val="000000"/>
                </a:solidFill>
                <a:latin typeface="Times New Roman"/>
                <a:ea typeface="Times New Roman"/>
                <a:cs typeface="Times New Roman"/>
                <a:sym typeface="Times New Roman"/>
              </a:rPr>
              <a:t>Example Scenario</a:t>
            </a:r>
            <a:br>
              <a:rPr lang="en" sz="700">
                <a:solidFill>
                  <a:srgbClr val="000000"/>
                </a:solidFill>
                <a:latin typeface="Times New Roman"/>
                <a:ea typeface="Times New Roman"/>
                <a:cs typeface="Times New Roman"/>
                <a:sym typeface="Times New Roman"/>
              </a:rPr>
            </a:br>
            <a:r>
              <a:rPr lang="en" sz="700">
                <a:solidFill>
                  <a:srgbClr val="000000"/>
                </a:solidFill>
                <a:latin typeface="Times New Roman"/>
                <a:ea typeface="Times New Roman"/>
                <a:cs typeface="Times New Roman"/>
                <a:sym typeface="Times New Roman"/>
              </a:rPr>
              <a:t> Imagine 1,000 customers:</a:t>
            </a:r>
            <a:br>
              <a:rPr lang="en" sz="700">
                <a:solidFill>
                  <a:srgbClr val="000000"/>
                </a:solidFill>
                <a:latin typeface="Times New Roman"/>
                <a:ea typeface="Times New Roman"/>
                <a:cs typeface="Times New Roman"/>
                <a:sym typeface="Times New Roman"/>
              </a:rPr>
            </a:br>
            <a:endParaRPr sz="700">
              <a:solidFill>
                <a:srgbClr val="000000"/>
              </a:solidFill>
              <a:latin typeface="Times New Roman"/>
              <a:ea typeface="Times New Roman"/>
              <a:cs typeface="Times New Roman"/>
              <a:sym typeface="Times New Roman"/>
            </a:endParaRPr>
          </a:p>
          <a:p>
            <a:pPr marL="914400" lvl="1" indent="-273050" algn="l" rtl="0">
              <a:lnSpc>
                <a:spcPct val="100000"/>
              </a:lnSpc>
              <a:spcBef>
                <a:spcPts val="0"/>
              </a:spcBef>
              <a:spcAft>
                <a:spcPts val="0"/>
              </a:spcAft>
              <a:buClr>
                <a:srgbClr val="000000"/>
              </a:buClr>
              <a:buSzPts val="700"/>
              <a:buFont typeface="Times New Roman"/>
              <a:buChar char="○"/>
            </a:pPr>
            <a:r>
              <a:rPr lang="en" sz="700">
                <a:solidFill>
                  <a:srgbClr val="000000"/>
                </a:solidFill>
                <a:latin typeface="Times New Roman"/>
                <a:ea typeface="Times New Roman"/>
                <a:cs typeface="Times New Roman"/>
                <a:sym typeface="Times New Roman"/>
              </a:rPr>
              <a:t>About 265 will churn, 735 will stay.</a:t>
            </a:r>
            <a:br>
              <a:rPr lang="en" sz="700">
                <a:solidFill>
                  <a:srgbClr val="000000"/>
                </a:solidFill>
                <a:latin typeface="Times New Roman"/>
                <a:ea typeface="Times New Roman"/>
                <a:cs typeface="Times New Roman"/>
                <a:sym typeface="Times New Roman"/>
              </a:rPr>
            </a:br>
            <a:endParaRPr sz="700">
              <a:solidFill>
                <a:srgbClr val="000000"/>
              </a:solidFill>
              <a:latin typeface="Times New Roman"/>
              <a:ea typeface="Times New Roman"/>
              <a:cs typeface="Times New Roman"/>
              <a:sym typeface="Times New Roman"/>
            </a:endParaRPr>
          </a:p>
          <a:p>
            <a:pPr marL="914400" lvl="1" indent="-273050" algn="l" rtl="0">
              <a:lnSpc>
                <a:spcPct val="100000"/>
              </a:lnSpc>
              <a:spcBef>
                <a:spcPts val="0"/>
              </a:spcBef>
              <a:spcAft>
                <a:spcPts val="0"/>
              </a:spcAft>
              <a:buClr>
                <a:srgbClr val="000000"/>
              </a:buClr>
              <a:buSzPts val="700"/>
              <a:buFont typeface="Times New Roman"/>
              <a:buChar char="○"/>
            </a:pPr>
            <a:r>
              <a:rPr lang="en" sz="700">
                <a:solidFill>
                  <a:srgbClr val="000000"/>
                </a:solidFill>
                <a:latin typeface="Times New Roman"/>
                <a:ea typeface="Times New Roman"/>
                <a:cs typeface="Times New Roman"/>
                <a:sym typeface="Times New Roman"/>
              </a:rPr>
              <a:t>At high recall (≥80%), the model correctly flags ~212 churners but also incorrectly flags ~200 loyal customers. That yields ~72% accuracy.</a:t>
            </a:r>
            <a:br>
              <a:rPr lang="en" sz="700">
                <a:solidFill>
                  <a:srgbClr val="000000"/>
                </a:solidFill>
                <a:latin typeface="Times New Roman"/>
                <a:ea typeface="Times New Roman"/>
                <a:cs typeface="Times New Roman"/>
                <a:sym typeface="Times New Roman"/>
              </a:rPr>
            </a:br>
            <a:endParaRPr sz="700">
              <a:solidFill>
                <a:srgbClr val="000000"/>
              </a:solidFill>
              <a:latin typeface="Times New Roman"/>
              <a:ea typeface="Times New Roman"/>
              <a:cs typeface="Times New Roman"/>
              <a:sym typeface="Times New Roman"/>
            </a:endParaRPr>
          </a:p>
          <a:p>
            <a:pPr marL="914400" lvl="1" indent="-273050" algn="l" rtl="0">
              <a:lnSpc>
                <a:spcPct val="100000"/>
              </a:lnSpc>
              <a:spcBef>
                <a:spcPts val="0"/>
              </a:spcBef>
              <a:spcAft>
                <a:spcPts val="0"/>
              </a:spcAft>
              <a:buClr>
                <a:srgbClr val="000000"/>
              </a:buClr>
              <a:buSzPts val="700"/>
              <a:buFont typeface="Times New Roman"/>
              <a:buChar char="○"/>
            </a:pPr>
            <a:r>
              <a:rPr lang="en" sz="700">
                <a:solidFill>
                  <a:srgbClr val="000000"/>
                </a:solidFill>
                <a:latin typeface="Times New Roman"/>
                <a:ea typeface="Times New Roman"/>
                <a:cs typeface="Times New Roman"/>
                <a:sym typeface="Times New Roman"/>
              </a:rPr>
              <a:t>At high accuracy (85%), the model correctly predicts ~625 loyal customers but only ~160 churners, missing over 100 churners. That would fail the company’s main goal.</a:t>
            </a:r>
            <a:br>
              <a:rPr lang="en" sz="700">
                <a:solidFill>
                  <a:srgbClr val="000000"/>
                </a:solidFill>
                <a:latin typeface="Times New Roman"/>
                <a:ea typeface="Times New Roman"/>
                <a:cs typeface="Times New Roman"/>
                <a:sym typeface="Times New Roman"/>
              </a:rPr>
            </a:br>
            <a:endParaRPr sz="700">
              <a:solidFill>
                <a:srgbClr val="000000"/>
              </a:solidFill>
              <a:latin typeface="Times New Roman"/>
              <a:ea typeface="Times New Roman"/>
              <a:cs typeface="Times New Roman"/>
              <a:sym typeface="Times New Roman"/>
            </a:endParaRPr>
          </a:p>
          <a:p>
            <a:pPr marL="457200" lvl="0" indent="-273050" algn="l" rtl="0">
              <a:lnSpc>
                <a:spcPct val="100000"/>
              </a:lnSpc>
              <a:spcBef>
                <a:spcPts val="0"/>
              </a:spcBef>
              <a:spcAft>
                <a:spcPts val="0"/>
              </a:spcAft>
              <a:buClr>
                <a:srgbClr val="000000"/>
              </a:buClr>
              <a:buSzPts val="700"/>
              <a:buFont typeface="Times New Roman"/>
              <a:buChar char="●"/>
            </a:pPr>
            <a:r>
              <a:rPr lang="en" sz="700" b="1">
                <a:solidFill>
                  <a:srgbClr val="000000"/>
                </a:solidFill>
                <a:latin typeface="Times New Roman"/>
                <a:ea typeface="Times New Roman"/>
                <a:cs typeface="Times New Roman"/>
                <a:sym typeface="Times New Roman"/>
              </a:rPr>
              <a:t>Business Constraint in Action</a:t>
            </a:r>
            <a:br>
              <a:rPr lang="en" sz="700">
                <a:solidFill>
                  <a:srgbClr val="000000"/>
                </a:solidFill>
                <a:latin typeface="Times New Roman"/>
                <a:ea typeface="Times New Roman"/>
                <a:cs typeface="Times New Roman"/>
                <a:sym typeface="Times New Roman"/>
              </a:rPr>
            </a:br>
            <a:r>
              <a:rPr lang="en" sz="700">
                <a:solidFill>
                  <a:srgbClr val="000000"/>
                </a:solidFill>
                <a:latin typeface="Times New Roman"/>
                <a:ea typeface="Times New Roman"/>
                <a:cs typeface="Times New Roman"/>
                <a:sym typeface="Times New Roman"/>
              </a:rPr>
              <a:t> Accuracy could only rise toward 85% by ignoring many churners. Since each missed churner costs the company significant revenue, accuracy is deliberately “sacrificed” to keep recall high. The low 70s accuracy is not a weakness, it is the correct outcome for a recall-first strategy.</a:t>
            </a:r>
            <a:endParaRPr sz="700" b="1">
              <a:solidFill>
                <a:srgbClr val="000000"/>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381"/>
        <p:cNvGrpSpPr/>
        <p:nvPr/>
      </p:nvGrpSpPr>
      <p:grpSpPr>
        <a:xfrm>
          <a:off x="0" y="0"/>
          <a:ext cx="0" cy="0"/>
          <a:chOff x="0" y="0"/>
          <a:chExt cx="0" cy="0"/>
        </a:xfrm>
      </p:grpSpPr>
      <p:sp>
        <p:nvSpPr>
          <p:cNvPr id="382" name="Google Shape;382;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46</a:t>
            </a:fld>
            <a:endParaRPr/>
          </a:p>
        </p:txBody>
      </p:sp>
      <p:sp>
        <p:nvSpPr>
          <p:cNvPr id="383" name="Google Shape;383;p58"/>
          <p:cNvSpPr txBox="1">
            <a:spLocks noGrp="1"/>
          </p:cNvSpPr>
          <p:nvPr>
            <p:ph type="title" idx="4294967295"/>
          </p:nvPr>
        </p:nvSpPr>
        <p:spPr>
          <a:xfrm>
            <a:off x="0" y="0"/>
            <a:ext cx="4308900" cy="19809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b="1">
                <a:solidFill>
                  <a:srgbClr val="000000"/>
                </a:solidFill>
                <a:latin typeface="Times New Roman"/>
                <a:ea typeface="Times New Roman"/>
                <a:cs typeface="Times New Roman"/>
                <a:sym typeface="Times New Roman"/>
              </a:rPr>
              <a:t>5.7 Final Results Table</a:t>
            </a:r>
            <a:endParaRPr sz="1200" b="1">
              <a:solidFill>
                <a:srgbClr val="000000"/>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sz="1200">
                <a:solidFill>
                  <a:srgbClr val="000000"/>
                </a:solidFill>
                <a:latin typeface="Times New Roman"/>
                <a:ea typeface="Times New Roman"/>
                <a:cs typeface="Times New Roman"/>
                <a:sym typeface="Times New Roman"/>
              </a:rPr>
              <a:t>We evaluated three models: Logistic Regression, Random Forest, and Histogram Gradient Boosting. Each was tuned and tested on the Telco Churn dataset with metrics including recall, precision, F1 score, accuracy, ROC-AUC, and PR-AUC. Since this is a business problem where the cost of missing a churner is higher than the cost of flagging a non-churner, we set our success criteria as recall of at least eighty percent and accuracy of at least seventy percent.</a:t>
            </a:r>
            <a:endParaRPr sz="1200" b="1">
              <a:solidFill>
                <a:srgbClr val="000000"/>
              </a:solidFill>
              <a:latin typeface="Times New Roman"/>
              <a:ea typeface="Times New Roman"/>
              <a:cs typeface="Times New Roman"/>
              <a:sym typeface="Times New Roman"/>
            </a:endParaRPr>
          </a:p>
        </p:txBody>
      </p:sp>
      <p:sp>
        <p:nvSpPr>
          <p:cNvPr id="384" name="Google Shape;384;p58"/>
          <p:cNvSpPr txBox="1">
            <a:spLocks noGrp="1"/>
          </p:cNvSpPr>
          <p:nvPr>
            <p:ph type="body" idx="4294967295"/>
          </p:nvPr>
        </p:nvSpPr>
        <p:spPr>
          <a:xfrm>
            <a:off x="4308925" y="0"/>
            <a:ext cx="4835100" cy="5143500"/>
          </a:xfrm>
          <a:prstGeom prst="rect">
            <a:avLst/>
          </a:prstGeom>
        </p:spPr>
        <p:txBody>
          <a:bodyPr spcFirstLastPara="1" wrap="square" lIns="91425" tIns="91425" rIns="91425" bIns="91425" anchor="t" anchorCtr="0">
            <a:noAutofit/>
          </a:bodyPr>
          <a:lstStyle/>
          <a:p>
            <a:pPr marL="457200" lvl="0" indent="-298450" algn="l" rtl="0">
              <a:lnSpc>
                <a:spcPct val="100000"/>
              </a:lnSpc>
              <a:spcBef>
                <a:spcPts val="1200"/>
              </a:spcBef>
              <a:spcAft>
                <a:spcPts val="0"/>
              </a:spcAft>
              <a:buClr>
                <a:srgbClr val="000000"/>
              </a:buClr>
              <a:buSzPts val="1100"/>
              <a:buFont typeface="Times New Roman"/>
              <a:buChar char="●"/>
            </a:pPr>
            <a:r>
              <a:rPr lang="en" sz="1100" b="1">
                <a:solidFill>
                  <a:srgbClr val="000000"/>
                </a:solidFill>
                <a:latin typeface="Times New Roman"/>
                <a:ea typeface="Times New Roman"/>
                <a:cs typeface="Times New Roman"/>
                <a:sym typeface="Times New Roman"/>
              </a:rPr>
              <a:t>Recall</a:t>
            </a:r>
            <a:r>
              <a:rPr lang="en" sz="1100">
                <a:solidFill>
                  <a:srgbClr val="000000"/>
                </a:solidFill>
                <a:latin typeface="Times New Roman"/>
                <a:ea typeface="Times New Roman"/>
                <a:cs typeface="Times New Roman"/>
                <a:sym typeface="Times New Roman"/>
              </a:rPr>
              <a:t> measures how many of the true churners were correctly identified. This is the most important metric for our business case, since missing a churner is very costly. Both LR and RF achieved 82.89% recall, while HGB was slightly lower at 81.28%.</a:t>
            </a:r>
            <a:br>
              <a:rPr lang="en" sz="1100">
                <a:solidFill>
                  <a:srgbClr val="000000"/>
                </a:solidFill>
                <a:latin typeface="Times New Roman"/>
                <a:ea typeface="Times New Roman"/>
                <a:cs typeface="Times New Roman"/>
                <a:sym typeface="Times New Roman"/>
              </a:rPr>
            </a:br>
            <a:endParaRPr sz="1100">
              <a:solidFill>
                <a:srgbClr val="000000"/>
              </a:solidFill>
              <a:latin typeface="Times New Roman"/>
              <a:ea typeface="Times New Roman"/>
              <a:cs typeface="Times New Roman"/>
              <a:sym typeface="Times New Roman"/>
            </a:endParaRPr>
          </a:p>
          <a:p>
            <a:pPr marL="457200" lvl="0" indent="-298450" algn="l" rtl="0">
              <a:lnSpc>
                <a:spcPct val="100000"/>
              </a:lnSpc>
              <a:spcBef>
                <a:spcPts val="0"/>
              </a:spcBef>
              <a:spcAft>
                <a:spcPts val="0"/>
              </a:spcAft>
              <a:buClr>
                <a:srgbClr val="000000"/>
              </a:buClr>
              <a:buSzPts val="1100"/>
              <a:buFont typeface="Times New Roman"/>
              <a:buChar char="●"/>
            </a:pPr>
            <a:r>
              <a:rPr lang="en" sz="1100" b="1">
                <a:solidFill>
                  <a:srgbClr val="000000"/>
                </a:solidFill>
                <a:latin typeface="Times New Roman"/>
                <a:ea typeface="Times New Roman"/>
                <a:cs typeface="Times New Roman"/>
                <a:sym typeface="Times New Roman"/>
              </a:rPr>
              <a:t>Precision</a:t>
            </a:r>
            <a:r>
              <a:rPr lang="en" sz="1100">
                <a:solidFill>
                  <a:srgbClr val="000000"/>
                </a:solidFill>
                <a:latin typeface="Times New Roman"/>
                <a:ea typeface="Times New Roman"/>
                <a:cs typeface="Times New Roman"/>
                <a:sym typeface="Times New Roman"/>
              </a:rPr>
              <a:t> measures how many of the customers predicted as churners really did churn. Precision is around 49–51%, meaning about half of the flagged customers will not churn. This is acceptable in practice because it is safer to contact more customers than to miss churners.</a:t>
            </a:r>
            <a:br>
              <a:rPr lang="en" sz="1100">
                <a:solidFill>
                  <a:srgbClr val="000000"/>
                </a:solidFill>
                <a:latin typeface="Times New Roman"/>
                <a:ea typeface="Times New Roman"/>
                <a:cs typeface="Times New Roman"/>
                <a:sym typeface="Times New Roman"/>
              </a:rPr>
            </a:br>
            <a:endParaRPr sz="1100">
              <a:solidFill>
                <a:srgbClr val="000000"/>
              </a:solidFill>
              <a:latin typeface="Times New Roman"/>
              <a:ea typeface="Times New Roman"/>
              <a:cs typeface="Times New Roman"/>
              <a:sym typeface="Times New Roman"/>
            </a:endParaRPr>
          </a:p>
          <a:p>
            <a:pPr marL="457200" lvl="0" indent="-298450" algn="l" rtl="0">
              <a:lnSpc>
                <a:spcPct val="100000"/>
              </a:lnSpc>
              <a:spcBef>
                <a:spcPts val="0"/>
              </a:spcBef>
              <a:spcAft>
                <a:spcPts val="0"/>
              </a:spcAft>
              <a:buClr>
                <a:srgbClr val="000000"/>
              </a:buClr>
              <a:buSzPts val="1100"/>
              <a:buFont typeface="Times New Roman"/>
              <a:buChar char="●"/>
            </a:pPr>
            <a:r>
              <a:rPr lang="en" sz="1100" b="1">
                <a:solidFill>
                  <a:srgbClr val="000000"/>
                </a:solidFill>
                <a:latin typeface="Times New Roman"/>
                <a:ea typeface="Times New Roman"/>
                <a:cs typeface="Times New Roman"/>
                <a:sym typeface="Times New Roman"/>
              </a:rPr>
              <a:t>F1 Score</a:t>
            </a:r>
            <a:r>
              <a:rPr lang="en" sz="1100">
                <a:solidFill>
                  <a:srgbClr val="000000"/>
                </a:solidFill>
                <a:latin typeface="Times New Roman"/>
                <a:ea typeface="Times New Roman"/>
                <a:cs typeface="Times New Roman"/>
                <a:sym typeface="Times New Roman"/>
              </a:rPr>
              <a:t> is the harmonic mean of precision and recall. It balances both, so it drops if either one is low. LR and RF score ~0.61, while HGB scores slightly higher at 0.63 due to better precision but at the cost of lower recall.</a:t>
            </a:r>
            <a:br>
              <a:rPr lang="en" sz="1100">
                <a:solidFill>
                  <a:srgbClr val="000000"/>
                </a:solidFill>
                <a:latin typeface="Times New Roman"/>
                <a:ea typeface="Times New Roman"/>
                <a:cs typeface="Times New Roman"/>
                <a:sym typeface="Times New Roman"/>
              </a:rPr>
            </a:br>
            <a:endParaRPr sz="1100">
              <a:solidFill>
                <a:srgbClr val="000000"/>
              </a:solidFill>
              <a:latin typeface="Times New Roman"/>
              <a:ea typeface="Times New Roman"/>
              <a:cs typeface="Times New Roman"/>
              <a:sym typeface="Times New Roman"/>
            </a:endParaRPr>
          </a:p>
          <a:p>
            <a:pPr marL="457200" lvl="0" indent="-298450" algn="l" rtl="0">
              <a:lnSpc>
                <a:spcPct val="100000"/>
              </a:lnSpc>
              <a:spcBef>
                <a:spcPts val="0"/>
              </a:spcBef>
              <a:spcAft>
                <a:spcPts val="0"/>
              </a:spcAft>
              <a:buClr>
                <a:srgbClr val="000000"/>
              </a:buClr>
              <a:buSzPts val="1100"/>
              <a:buFont typeface="Times New Roman"/>
              <a:buChar char="●"/>
            </a:pPr>
            <a:r>
              <a:rPr lang="en" sz="1100" b="1">
                <a:solidFill>
                  <a:srgbClr val="000000"/>
                </a:solidFill>
                <a:latin typeface="Times New Roman"/>
                <a:ea typeface="Times New Roman"/>
                <a:cs typeface="Times New Roman"/>
                <a:sym typeface="Times New Roman"/>
              </a:rPr>
              <a:t>ROC-AUC</a:t>
            </a:r>
            <a:r>
              <a:rPr lang="en" sz="1100">
                <a:solidFill>
                  <a:srgbClr val="000000"/>
                </a:solidFill>
                <a:latin typeface="Times New Roman"/>
                <a:ea typeface="Times New Roman"/>
                <a:cs typeface="Times New Roman"/>
                <a:sym typeface="Times New Roman"/>
              </a:rPr>
              <a:t> (Receiver Operating Characteristic Area Under Curve) measures ranking quality: how well the model separates churners from non-churners across thresholds. All three models perform similarly, between 0.836 and 0.842, which is strong.</a:t>
            </a:r>
            <a:br>
              <a:rPr lang="en" sz="1100">
                <a:solidFill>
                  <a:srgbClr val="000000"/>
                </a:solidFill>
                <a:latin typeface="Times New Roman"/>
                <a:ea typeface="Times New Roman"/>
                <a:cs typeface="Times New Roman"/>
                <a:sym typeface="Times New Roman"/>
              </a:rPr>
            </a:br>
            <a:endParaRPr sz="1100">
              <a:solidFill>
                <a:srgbClr val="000000"/>
              </a:solidFill>
              <a:latin typeface="Times New Roman"/>
              <a:ea typeface="Times New Roman"/>
              <a:cs typeface="Times New Roman"/>
              <a:sym typeface="Times New Roman"/>
            </a:endParaRPr>
          </a:p>
          <a:p>
            <a:pPr marL="457200" lvl="0" indent="-298450" algn="l" rtl="0">
              <a:lnSpc>
                <a:spcPct val="100000"/>
              </a:lnSpc>
              <a:spcBef>
                <a:spcPts val="0"/>
              </a:spcBef>
              <a:spcAft>
                <a:spcPts val="0"/>
              </a:spcAft>
              <a:buClr>
                <a:srgbClr val="000000"/>
              </a:buClr>
              <a:buSzPts val="1100"/>
              <a:buFont typeface="Times New Roman"/>
              <a:buChar char="●"/>
            </a:pPr>
            <a:r>
              <a:rPr lang="en" sz="1100" b="1">
                <a:solidFill>
                  <a:srgbClr val="000000"/>
                </a:solidFill>
                <a:latin typeface="Times New Roman"/>
                <a:ea typeface="Times New Roman"/>
                <a:cs typeface="Times New Roman"/>
                <a:sym typeface="Times New Roman"/>
              </a:rPr>
              <a:t>PR-AUC</a:t>
            </a:r>
            <a:r>
              <a:rPr lang="en" sz="1100">
                <a:solidFill>
                  <a:srgbClr val="000000"/>
                </a:solidFill>
                <a:latin typeface="Times New Roman"/>
                <a:ea typeface="Times New Roman"/>
                <a:cs typeface="Times New Roman"/>
                <a:sym typeface="Times New Roman"/>
              </a:rPr>
              <a:t> (Precision-Recall Area Under Curve) is more informative for imbalanced data like churn. LR achieves 0.634, RF 0.640, and HGB 0.655, again showing that HGB gains slightly in precision, but recall remains lower.</a:t>
            </a:r>
            <a:endParaRPr sz="1100">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r>
              <a:rPr lang="en" sz="1100" b="1">
                <a:solidFill>
                  <a:srgbClr val="000000"/>
                </a:solidFill>
                <a:latin typeface="Times New Roman"/>
                <a:ea typeface="Times New Roman"/>
                <a:cs typeface="Times New Roman"/>
                <a:sym typeface="Times New Roman"/>
              </a:rPr>
              <a:t>Final Choice:</a:t>
            </a:r>
            <a:endParaRPr sz="1100" b="1">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1200"/>
              </a:spcAft>
              <a:buNone/>
            </a:pPr>
            <a:r>
              <a:rPr lang="en" sz="1100">
                <a:solidFill>
                  <a:srgbClr val="000000"/>
                </a:solidFill>
                <a:latin typeface="Times New Roman"/>
                <a:ea typeface="Times New Roman"/>
                <a:cs typeface="Times New Roman"/>
                <a:sym typeface="Times New Roman"/>
              </a:rPr>
              <a:t>Even though HGB has the highest accuracy and PR-AUC, we prioritize recall. Logistic Regression consistently achieved the recall target with stable performance and clearer interpretability, making it the best model for our project.</a:t>
            </a:r>
            <a:endParaRPr sz="1100" b="1">
              <a:solidFill>
                <a:srgbClr val="000000"/>
              </a:solidFill>
              <a:latin typeface="Times New Roman"/>
              <a:ea typeface="Times New Roman"/>
              <a:cs typeface="Times New Roman"/>
              <a:sym typeface="Times New Roman"/>
            </a:endParaRPr>
          </a:p>
        </p:txBody>
      </p:sp>
      <p:pic>
        <p:nvPicPr>
          <p:cNvPr id="385" name="Google Shape;385;p58"/>
          <p:cNvPicPr preferRelativeResize="0"/>
          <p:nvPr/>
        </p:nvPicPr>
        <p:blipFill>
          <a:blip r:embed="rId3">
            <a:alphaModFix/>
          </a:blip>
          <a:stretch>
            <a:fillRect/>
          </a:stretch>
        </p:blipFill>
        <p:spPr>
          <a:xfrm>
            <a:off x="73850" y="2149500"/>
            <a:ext cx="4308899" cy="990600"/>
          </a:xfrm>
          <a:prstGeom prst="rect">
            <a:avLst/>
          </a:prstGeom>
          <a:noFill/>
          <a:ln>
            <a:noFill/>
          </a:ln>
        </p:spPr>
      </p:pic>
      <p:sp>
        <p:nvSpPr>
          <p:cNvPr id="386" name="Google Shape;386;p58"/>
          <p:cNvSpPr txBox="1"/>
          <p:nvPr/>
        </p:nvSpPr>
        <p:spPr>
          <a:xfrm>
            <a:off x="4575" y="3140100"/>
            <a:ext cx="4378200" cy="2003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200"/>
              </a:spcBef>
              <a:spcAft>
                <a:spcPts val="0"/>
              </a:spcAft>
              <a:buNone/>
            </a:pPr>
            <a:r>
              <a:rPr lang="en" sz="800" b="1" dirty="0">
                <a:latin typeface="Times New Roman"/>
                <a:ea typeface="Times New Roman"/>
                <a:cs typeface="Times New Roman"/>
                <a:sym typeface="Times New Roman"/>
              </a:rPr>
              <a:t>Metrics Explained:</a:t>
            </a:r>
            <a:endParaRPr sz="800" b="1" dirty="0">
              <a:latin typeface="Times New Roman"/>
              <a:ea typeface="Times New Roman"/>
              <a:cs typeface="Times New Roman"/>
              <a:sym typeface="Times New Roman"/>
            </a:endParaRPr>
          </a:p>
          <a:p>
            <a:pPr marL="457200" lvl="0" indent="-285750" algn="l" rtl="0">
              <a:lnSpc>
                <a:spcPct val="100000"/>
              </a:lnSpc>
              <a:spcBef>
                <a:spcPts val="1200"/>
              </a:spcBef>
              <a:spcAft>
                <a:spcPts val="0"/>
              </a:spcAft>
              <a:buSzPts val="900"/>
              <a:buFont typeface="Times New Roman"/>
              <a:buChar char="●"/>
            </a:pPr>
            <a:r>
              <a:rPr lang="en" sz="800" b="1" dirty="0">
                <a:latin typeface="Times New Roman"/>
                <a:ea typeface="Times New Roman"/>
                <a:cs typeface="Times New Roman"/>
                <a:sym typeface="Times New Roman"/>
              </a:rPr>
              <a:t>Threshold</a:t>
            </a:r>
            <a:r>
              <a:rPr lang="en" sz="800" dirty="0">
                <a:latin typeface="Times New Roman"/>
                <a:ea typeface="Times New Roman"/>
                <a:cs typeface="Times New Roman"/>
                <a:sym typeface="Times New Roman"/>
              </a:rPr>
              <a:t> is the probability cutoff used to decide whether a customer is predicted as churn or not. Lower thresholds increase recall but decrease precision, while higher thresholds do the opposite. For example, LR uses 0.45, RF uses 0.30, and HGB uses 0.25. The lower thresholds for RF and HGB reflect the need to capture more churners, but this also increases false positives.</a:t>
            </a:r>
            <a:endParaRPr sz="800" dirty="0">
              <a:latin typeface="Times New Roman"/>
              <a:ea typeface="Times New Roman"/>
              <a:cs typeface="Times New Roman"/>
              <a:sym typeface="Times New Roman"/>
            </a:endParaRPr>
          </a:p>
          <a:p>
            <a:pPr marL="457200" lvl="0" indent="-285750" algn="l" rtl="0">
              <a:lnSpc>
                <a:spcPct val="100000"/>
              </a:lnSpc>
              <a:spcBef>
                <a:spcPts val="1200"/>
              </a:spcBef>
              <a:spcAft>
                <a:spcPts val="0"/>
              </a:spcAft>
              <a:buSzPts val="900"/>
              <a:buFont typeface="Times New Roman"/>
              <a:buChar char="●"/>
            </a:pPr>
            <a:r>
              <a:rPr lang="en" sz="800" b="1" dirty="0">
                <a:latin typeface="Times New Roman"/>
                <a:ea typeface="Times New Roman"/>
                <a:cs typeface="Times New Roman"/>
                <a:sym typeface="Times New Roman"/>
              </a:rPr>
              <a:t>Accuracy</a:t>
            </a:r>
            <a:r>
              <a:rPr lang="en" sz="800" dirty="0">
                <a:latin typeface="Times New Roman"/>
                <a:ea typeface="Times New Roman"/>
                <a:cs typeface="Times New Roman"/>
                <a:sym typeface="Times New Roman"/>
              </a:rPr>
              <a:t> shows the overall fraction of correct predictions (both churn and non-churn). All models land around 72–74%, which is expected because enforcing high recall reduces accuracy. An 85% accuracy is unrealistic in this problem since the model must capture many churners, leading to more false positives and lowering accuracy.</a:t>
            </a:r>
            <a:endParaRPr sz="800" b="1" dirty="0">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390"/>
        <p:cNvGrpSpPr/>
        <p:nvPr/>
      </p:nvGrpSpPr>
      <p:grpSpPr>
        <a:xfrm>
          <a:off x="0" y="0"/>
          <a:ext cx="0" cy="0"/>
          <a:chOff x="0" y="0"/>
          <a:chExt cx="0" cy="0"/>
        </a:xfrm>
      </p:grpSpPr>
      <p:sp>
        <p:nvSpPr>
          <p:cNvPr id="391" name="Google Shape;391;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47</a:t>
            </a:fld>
            <a:endParaRPr/>
          </a:p>
        </p:txBody>
      </p:sp>
      <p:sp>
        <p:nvSpPr>
          <p:cNvPr id="392" name="Google Shape;392;p59"/>
          <p:cNvSpPr txBox="1">
            <a:spLocks noGrp="1"/>
          </p:cNvSpPr>
          <p:nvPr>
            <p:ph type="title"/>
          </p:nvPr>
        </p:nvSpPr>
        <p:spPr>
          <a:xfrm>
            <a:off x="304300" y="198625"/>
            <a:ext cx="3706500" cy="32133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ctr" rtl="0">
              <a:lnSpc>
                <a:spcPct val="100000"/>
              </a:lnSpc>
              <a:spcBef>
                <a:spcPts val="0"/>
              </a:spcBef>
              <a:spcAft>
                <a:spcPts val="0"/>
              </a:spcAft>
              <a:buNone/>
            </a:pPr>
            <a:r>
              <a:rPr lang="en" sz="1900" b="1">
                <a:latin typeface="Times New Roman"/>
                <a:ea typeface="Times New Roman"/>
                <a:cs typeface="Times New Roman"/>
                <a:sym typeface="Times New Roman"/>
              </a:rPr>
              <a:t>Section 6: Discussion</a:t>
            </a:r>
            <a:endParaRPr sz="19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457200" lvl="0" indent="-304800" algn="l" rtl="0">
              <a:spcBef>
                <a:spcPts val="1200"/>
              </a:spcBef>
              <a:spcAft>
                <a:spcPts val="0"/>
              </a:spcAft>
              <a:buSzPts val="1200"/>
              <a:buFont typeface="Times New Roman"/>
              <a:buChar char="●"/>
            </a:pPr>
            <a:r>
              <a:rPr lang="en" sz="1200" b="1">
                <a:latin typeface="Times New Roman"/>
                <a:ea typeface="Times New Roman"/>
                <a:cs typeface="Times New Roman"/>
                <a:sym typeface="Times New Roman"/>
              </a:rPr>
              <a:t>Why Logistic Regression was best.</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Why accuracy ~72% instead of 85%.</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Trade-off between recall and accuracy.</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Challenges faced (imbalanced data, model complexity).</a:t>
            </a:r>
            <a:endParaRPr sz="1200" b="1">
              <a:latin typeface="Times New Roman"/>
              <a:ea typeface="Times New Roman"/>
              <a:cs typeface="Times New Roman"/>
              <a:sym typeface="Times New Roman"/>
            </a:endParaRPr>
          </a:p>
        </p:txBody>
      </p:sp>
      <p:sp>
        <p:nvSpPr>
          <p:cNvPr id="393" name="Google Shape;393;p59"/>
          <p:cNvSpPr txBox="1">
            <a:spLocks noGrp="1"/>
          </p:cNvSpPr>
          <p:nvPr>
            <p:ph type="body" idx="1"/>
          </p:nvPr>
        </p:nvSpPr>
        <p:spPr>
          <a:xfrm>
            <a:off x="4308925" y="0"/>
            <a:ext cx="4835100" cy="5143500"/>
          </a:xfrm>
          <a:prstGeom prst="rect">
            <a:avLst/>
          </a:prstGeom>
        </p:spPr>
        <p:txBody>
          <a:bodyPr spcFirstLastPara="1" wrap="square" lIns="91425" tIns="91425" rIns="91425" bIns="91425" anchor="ctr" anchorCtr="0">
            <a:normAutofit/>
          </a:bodyPr>
          <a:lstStyle/>
          <a:p>
            <a:pPr marL="0" lvl="0" indent="0" algn="l" rtl="0">
              <a:spcBef>
                <a:spcPts val="1200"/>
              </a:spcBef>
              <a:spcAft>
                <a:spcPts val="1200"/>
              </a:spcAft>
              <a:buNone/>
            </a:pPr>
            <a:r>
              <a:rPr lang="en" sz="1200">
                <a:solidFill>
                  <a:srgbClr val="000000"/>
                </a:solidFill>
                <a:latin typeface="Times New Roman"/>
                <a:ea typeface="Times New Roman"/>
                <a:cs typeface="Times New Roman"/>
                <a:sym typeface="Times New Roman"/>
              </a:rPr>
              <a:t>In this section, we reflect on the model comparisons, why Logistic Regression was chosen as the best solution, and how the evaluation results connect to the business requirements. We also highlight the challenges faced and the lessons learned throughout the project.</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397"/>
        <p:cNvGrpSpPr/>
        <p:nvPr/>
      </p:nvGrpSpPr>
      <p:grpSpPr>
        <a:xfrm>
          <a:off x="0" y="0"/>
          <a:ext cx="0" cy="0"/>
          <a:chOff x="0" y="0"/>
          <a:chExt cx="0" cy="0"/>
        </a:xfrm>
      </p:grpSpPr>
      <p:sp>
        <p:nvSpPr>
          <p:cNvPr id="398" name="Google Shape;398;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48</a:t>
            </a:fld>
            <a:endParaRPr/>
          </a:p>
        </p:txBody>
      </p:sp>
      <p:sp>
        <p:nvSpPr>
          <p:cNvPr id="399" name="Google Shape;399;p60"/>
          <p:cNvSpPr txBox="1">
            <a:spLocks noGrp="1"/>
          </p:cNvSpPr>
          <p:nvPr>
            <p:ph type="title" idx="4294967295"/>
          </p:nvPr>
        </p:nvSpPr>
        <p:spPr>
          <a:xfrm>
            <a:off x="0" y="0"/>
            <a:ext cx="4308900" cy="5143500"/>
          </a:xfrm>
          <a:prstGeom prst="rect">
            <a:avLst/>
          </a:prstGeom>
        </p:spPr>
        <p:txBody>
          <a:bodyPr spcFirstLastPara="1" wrap="square" lIns="91425" tIns="91425" rIns="91425" bIns="91425" anchor="t" anchorCtr="0">
            <a:noAutofit/>
          </a:bodyPr>
          <a:lstStyle/>
          <a:p>
            <a:pPr marL="0" lvl="0" indent="0" algn="l" rtl="0">
              <a:lnSpc>
                <a:spcPct val="100000"/>
              </a:lnSpc>
              <a:spcBef>
                <a:spcPts val="1200"/>
              </a:spcBef>
              <a:spcAft>
                <a:spcPts val="0"/>
              </a:spcAft>
              <a:buNone/>
            </a:pPr>
            <a:r>
              <a:rPr lang="en" sz="1000" b="1">
                <a:solidFill>
                  <a:srgbClr val="000000"/>
                </a:solidFill>
                <a:latin typeface="Times New Roman"/>
                <a:ea typeface="Times New Roman"/>
                <a:cs typeface="Times New Roman"/>
                <a:sym typeface="Times New Roman"/>
              </a:rPr>
              <a:t>Why Logistic Regression Was Best</a:t>
            </a:r>
            <a:br>
              <a:rPr lang="en" sz="1000" b="1">
                <a:solidFill>
                  <a:srgbClr val="000000"/>
                </a:solidFill>
                <a:latin typeface="Times New Roman"/>
                <a:ea typeface="Times New Roman"/>
                <a:cs typeface="Times New Roman"/>
                <a:sym typeface="Times New Roman"/>
              </a:rPr>
            </a:br>
            <a:r>
              <a:rPr lang="en" sz="1000">
                <a:solidFill>
                  <a:srgbClr val="000000"/>
                </a:solidFill>
                <a:latin typeface="Times New Roman"/>
                <a:ea typeface="Times New Roman"/>
                <a:cs typeface="Times New Roman"/>
                <a:sym typeface="Times New Roman"/>
              </a:rPr>
              <a:t> Logistic Regression stood out as the best model because it balanced performance and business usability. It achieved the required recall of over 80 percent while maintaining accuracy above 70 percent. Its coefficients directly show how each feature influences churn risk, making it easy to explain to managers and retention teams. Unlike Random Forest and Histogram Gradient Boosting, which operate as black boxes, Logistic Regression produces stable and interpretable probability outputs. This transparency was critical for stakeholder trust and practical deployment.</a:t>
            </a:r>
            <a:endParaRPr sz="1000">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r>
              <a:rPr lang="en" sz="1000" b="1">
                <a:solidFill>
                  <a:srgbClr val="000000"/>
                </a:solidFill>
                <a:latin typeface="Times New Roman"/>
                <a:ea typeface="Times New Roman"/>
                <a:cs typeface="Times New Roman"/>
                <a:sym typeface="Times New Roman"/>
              </a:rPr>
              <a:t>Why Accuracy Was Around 72 Percent Instead of 85 Percent</a:t>
            </a:r>
            <a:br>
              <a:rPr lang="en" sz="1000" b="1">
                <a:solidFill>
                  <a:srgbClr val="000000"/>
                </a:solidFill>
                <a:latin typeface="Times New Roman"/>
                <a:ea typeface="Times New Roman"/>
                <a:cs typeface="Times New Roman"/>
                <a:sym typeface="Times New Roman"/>
              </a:rPr>
            </a:br>
            <a:r>
              <a:rPr lang="en" sz="1000">
                <a:solidFill>
                  <a:srgbClr val="000000"/>
                </a:solidFill>
                <a:latin typeface="Times New Roman"/>
                <a:ea typeface="Times New Roman"/>
                <a:cs typeface="Times New Roman"/>
                <a:sym typeface="Times New Roman"/>
              </a:rPr>
              <a:t> At first glance, 72 percent accuracy may seem modest compared to the 85 to 90 percent often reported in machine learning case studies. However, in churn prediction, such high accuracy is misleading because of class imbalance. Since 73.5 percent of customers do not churn, a trivial model predicting “loyal” for everyone already achieves 73.5 percent accuracy but fails completely at recall. To push accuracy to 85 percent, the model would need to raise the decision threshold, which would miss 30 to 40 percent of churners. That trade-off is unacceptable for the business, since losing customers is costlier than reaching out to some loyal ones by mistake.</a:t>
            </a:r>
            <a:endParaRPr sz="1000">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r>
              <a:rPr lang="en" sz="1000" b="1">
                <a:solidFill>
                  <a:srgbClr val="000000"/>
                </a:solidFill>
                <a:latin typeface="Times New Roman"/>
                <a:ea typeface="Times New Roman"/>
                <a:cs typeface="Times New Roman"/>
                <a:sym typeface="Times New Roman"/>
              </a:rPr>
              <a:t>Trade-off Between Recall and Accuracy</a:t>
            </a:r>
            <a:br>
              <a:rPr lang="en" sz="1000" b="1">
                <a:solidFill>
                  <a:srgbClr val="000000"/>
                </a:solidFill>
                <a:latin typeface="Times New Roman"/>
                <a:ea typeface="Times New Roman"/>
                <a:cs typeface="Times New Roman"/>
                <a:sym typeface="Times New Roman"/>
              </a:rPr>
            </a:br>
            <a:r>
              <a:rPr lang="en" sz="1000">
                <a:solidFill>
                  <a:srgbClr val="000000"/>
                </a:solidFill>
                <a:latin typeface="Times New Roman"/>
                <a:ea typeface="Times New Roman"/>
                <a:cs typeface="Times New Roman"/>
                <a:sym typeface="Times New Roman"/>
              </a:rPr>
              <a:t> This project highlighted the inherent trade-off between recall and accuracy. High recall ensures that most churners are caught, but this comes at the cost of flagging more loyal customers as churn risks. That lowers accuracy but fulfills the business objective. For example, when recall is set at about 83 percent, accuracy falls to about 72 percent. If we had aimed for 85 percent accuracy instead, recall would have dropped to around 60 percent, meaning over 100 churners per 1,000 customers would be missed. The choice to prioritize recall reflects a deliberate business strategy: it is safer to retain extra customers than to lose many churners undetected.</a:t>
            </a:r>
            <a:endParaRPr sz="1000">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1200"/>
              </a:spcAft>
              <a:buNone/>
            </a:pPr>
            <a:endParaRPr sz="1000" b="1">
              <a:solidFill>
                <a:srgbClr val="000000"/>
              </a:solidFill>
              <a:latin typeface="Times New Roman"/>
              <a:ea typeface="Times New Roman"/>
              <a:cs typeface="Times New Roman"/>
              <a:sym typeface="Times New Roman"/>
            </a:endParaRPr>
          </a:p>
        </p:txBody>
      </p:sp>
      <p:sp>
        <p:nvSpPr>
          <p:cNvPr id="400" name="Google Shape;400;p60"/>
          <p:cNvSpPr txBox="1">
            <a:spLocks noGrp="1"/>
          </p:cNvSpPr>
          <p:nvPr>
            <p:ph type="body" idx="4294967295"/>
          </p:nvPr>
        </p:nvSpPr>
        <p:spPr>
          <a:xfrm>
            <a:off x="4308925" y="0"/>
            <a:ext cx="4835100" cy="5143500"/>
          </a:xfrm>
          <a:prstGeom prst="rect">
            <a:avLst/>
          </a:prstGeom>
        </p:spPr>
        <p:txBody>
          <a:bodyPr spcFirstLastPara="1" wrap="square" lIns="91425" tIns="91425" rIns="91425" bIns="91425" anchor="t" anchorCtr="0">
            <a:noAutofit/>
          </a:bodyPr>
          <a:lstStyle/>
          <a:p>
            <a:pPr marL="0" lvl="0" indent="0" algn="l" rtl="0">
              <a:lnSpc>
                <a:spcPct val="100000"/>
              </a:lnSpc>
              <a:spcBef>
                <a:spcPts val="1200"/>
              </a:spcBef>
              <a:spcAft>
                <a:spcPts val="0"/>
              </a:spcAft>
              <a:buNone/>
            </a:pPr>
            <a:r>
              <a:rPr lang="en" sz="1100" b="1" dirty="0">
                <a:solidFill>
                  <a:srgbClr val="000000"/>
                </a:solidFill>
                <a:latin typeface="Times New Roman"/>
                <a:ea typeface="Times New Roman"/>
                <a:cs typeface="Times New Roman"/>
                <a:sym typeface="Times New Roman"/>
              </a:rPr>
              <a:t>Challenges Faced</a:t>
            </a:r>
            <a:br>
              <a:rPr lang="en" sz="1100" b="1" dirty="0">
                <a:solidFill>
                  <a:srgbClr val="000000"/>
                </a:solidFill>
                <a:latin typeface="Times New Roman"/>
                <a:ea typeface="Times New Roman"/>
                <a:cs typeface="Times New Roman"/>
                <a:sym typeface="Times New Roman"/>
              </a:rPr>
            </a:br>
            <a:r>
              <a:rPr lang="en" sz="1100" dirty="0">
                <a:solidFill>
                  <a:srgbClr val="000000"/>
                </a:solidFill>
                <a:latin typeface="Times New Roman"/>
                <a:ea typeface="Times New Roman"/>
                <a:cs typeface="Times New Roman"/>
                <a:sym typeface="Times New Roman"/>
              </a:rPr>
              <a:t> The main challenge was class imbalance, with only 26.5 percent of customers labeled as churners. Stratified sampling, class weighting, and threshold tuning were essential to balance this issue. Another challenge was model complexity: tree-based models such as Random Forest and Histogram Gradient Boosting required heavier tuning and produced less interpretable results compared to Logistic Regression. A further difficulty was conflicting metrics: some models appeared strong in ROC-AUC but failed to deliver acceptable recall at business-critical thresholds. Finally, threshold choice itself was highly sensitive, showing how much performance can shift depending on the operating point.</a:t>
            </a:r>
            <a:endParaRPr sz="1100" dirty="0">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r>
              <a:rPr lang="en" sz="1100" b="1" dirty="0">
                <a:solidFill>
                  <a:srgbClr val="000000"/>
                </a:solidFill>
                <a:latin typeface="Times New Roman"/>
                <a:ea typeface="Times New Roman"/>
                <a:cs typeface="Times New Roman"/>
                <a:sym typeface="Times New Roman"/>
              </a:rPr>
              <a:t>Lessons Learned</a:t>
            </a:r>
            <a:br>
              <a:rPr lang="en" sz="1100" b="1" dirty="0">
                <a:solidFill>
                  <a:srgbClr val="000000"/>
                </a:solidFill>
                <a:latin typeface="Times New Roman"/>
                <a:ea typeface="Times New Roman"/>
                <a:cs typeface="Times New Roman"/>
                <a:sym typeface="Times New Roman"/>
              </a:rPr>
            </a:br>
            <a:r>
              <a:rPr lang="en" sz="1100" dirty="0">
                <a:solidFill>
                  <a:srgbClr val="000000"/>
                </a:solidFill>
                <a:latin typeface="Times New Roman"/>
                <a:ea typeface="Times New Roman"/>
                <a:cs typeface="Times New Roman"/>
                <a:sym typeface="Times New Roman"/>
              </a:rPr>
              <a:t> The project showed that business goals must guide evaluation criteria. Accuracy alone can be misleading in imbalanced datasets, so recall and precision needed to be interpreted together. It also showed that simple models can outperform more complex ones when interpretability and stability are essential. Threshold tuning proved just as critical as model training, reminding us that raw model output is only the starting point. Most importantly, the project reinforced that true success is defined by meeting the business requirement: catching at least 80 percent of churners while staying above 70 percent accuracy.</a:t>
            </a:r>
            <a:endParaRPr sz="1100" dirty="0">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1200"/>
              </a:spcAft>
              <a:buNone/>
            </a:pPr>
            <a:r>
              <a:rPr lang="en" sz="1100" dirty="0">
                <a:solidFill>
                  <a:srgbClr val="000000"/>
                </a:solidFill>
                <a:latin typeface="Times New Roman"/>
                <a:ea typeface="Times New Roman"/>
                <a:cs typeface="Times New Roman"/>
                <a:sym typeface="Times New Roman"/>
              </a:rPr>
              <a:t>In summary, Logistic Regression was the most effective model because it balanced predictive power with transparency, delivering results that directly supported the business objectives. These insights now transition into Section 7, where we provide a demo with screenshots and a live run of our churn predictor script.</a:t>
            </a:r>
            <a:endParaRPr sz="1100" b="1" dirty="0">
              <a:solidFill>
                <a:srgbClr val="000000"/>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404"/>
        <p:cNvGrpSpPr/>
        <p:nvPr/>
      </p:nvGrpSpPr>
      <p:grpSpPr>
        <a:xfrm>
          <a:off x="0" y="0"/>
          <a:ext cx="0" cy="0"/>
          <a:chOff x="0" y="0"/>
          <a:chExt cx="0" cy="0"/>
        </a:xfrm>
      </p:grpSpPr>
      <p:sp>
        <p:nvSpPr>
          <p:cNvPr id="405" name="Google Shape;405;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49</a:t>
            </a:fld>
            <a:endParaRPr/>
          </a:p>
        </p:txBody>
      </p:sp>
      <p:sp>
        <p:nvSpPr>
          <p:cNvPr id="406" name="Google Shape;406;p61"/>
          <p:cNvSpPr txBox="1">
            <a:spLocks noGrp="1"/>
          </p:cNvSpPr>
          <p:nvPr>
            <p:ph type="title"/>
          </p:nvPr>
        </p:nvSpPr>
        <p:spPr>
          <a:xfrm>
            <a:off x="304300" y="198625"/>
            <a:ext cx="3706500" cy="25089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ctr" rtl="0">
              <a:lnSpc>
                <a:spcPct val="100000"/>
              </a:lnSpc>
              <a:spcBef>
                <a:spcPts val="0"/>
              </a:spcBef>
              <a:spcAft>
                <a:spcPts val="0"/>
              </a:spcAft>
              <a:buNone/>
            </a:pPr>
            <a:r>
              <a:rPr lang="en" sz="1900" b="1">
                <a:latin typeface="Times New Roman"/>
                <a:ea typeface="Times New Roman"/>
                <a:cs typeface="Times New Roman"/>
                <a:sym typeface="Times New Roman"/>
              </a:rPr>
              <a:t>Section 7: Demo</a:t>
            </a:r>
            <a:endParaRPr sz="19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457200" lvl="0" indent="-304800" algn="l" rtl="0">
              <a:lnSpc>
                <a:spcPct val="100000"/>
              </a:lnSpc>
              <a:spcBef>
                <a:spcPts val="1200"/>
              </a:spcBef>
              <a:spcAft>
                <a:spcPts val="0"/>
              </a:spcAft>
              <a:buSzPts val="1200"/>
              <a:buFont typeface="Times New Roman"/>
              <a:buChar char="●"/>
            </a:pPr>
            <a:r>
              <a:rPr lang="en" sz="1200" b="1">
                <a:latin typeface="Times New Roman"/>
                <a:ea typeface="Times New Roman"/>
                <a:cs typeface="Times New Roman"/>
                <a:sym typeface="Times New Roman"/>
              </a:rPr>
              <a:t>Screenshot of terminal output (CV scores + test metrics). </a:t>
            </a:r>
            <a:endParaRPr sz="1200" b="1">
              <a:latin typeface="Times New Roman"/>
              <a:ea typeface="Times New Roman"/>
              <a:cs typeface="Times New Roman"/>
              <a:sym typeface="Times New Roman"/>
            </a:endParaRPr>
          </a:p>
          <a:p>
            <a:pPr marL="457200" lvl="0" indent="-304800" algn="l" rtl="0">
              <a:lnSpc>
                <a:spcPct val="100000"/>
              </a:lnSpc>
              <a:spcBef>
                <a:spcPts val="0"/>
              </a:spcBef>
              <a:spcAft>
                <a:spcPts val="0"/>
              </a:spcAft>
              <a:buSzPts val="1200"/>
              <a:buFont typeface="Times New Roman"/>
              <a:buChar char="●"/>
            </a:pPr>
            <a:r>
              <a:rPr lang="en" sz="1200" b="1">
                <a:latin typeface="Times New Roman"/>
                <a:ea typeface="Times New Roman"/>
                <a:cs typeface="Times New Roman"/>
                <a:sym typeface="Times New Roman"/>
              </a:rPr>
              <a:t>Mention of live run of churn_predictor.py.</a:t>
            </a:r>
            <a:endParaRPr sz="1200" b="1">
              <a:latin typeface="Times New Roman"/>
              <a:ea typeface="Times New Roman"/>
              <a:cs typeface="Times New Roman"/>
              <a:sym typeface="Times New Roman"/>
            </a:endParaRPr>
          </a:p>
        </p:txBody>
      </p:sp>
      <p:sp>
        <p:nvSpPr>
          <p:cNvPr id="407" name="Google Shape;407;p61"/>
          <p:cNvSpPr txBox="1">
            <a:spLocks noGrp="1"/>
          </p:cNvSpPr>
          <p:nvPr>
            <p:ph type="body" idx="1"/>
          </p:nvPr>
        </p:nvSpPr>
        <p:spPr>
          <a:xfrm>
            <a:off x="4308925" y="0"/>
            <a:ext cx="4835100" cy="5143500"/>
          </a:xfrm>
          <a:prstGeom prst="rect">
            <a:avLst/>
          </a:prstGeom>
        </p:spPr>
        <p:txBody>
          <a:bodyPr spcFirstLastPara="1" wrap="square" lIns="91425" tIns="91425" rIns="91425" bIns="91425" anchor="ctr" anchorCtr="0">
            <a:normAutofit/>
          </a:bodyPr>
          <a:lstStyle/>
          <a:p>
            <a:pPr marL="0" lvl="0" indent="0" algn="l" rtl="0">
              <a:spcBef>
                <a:spcPts val="1400"/>
              </a:spcBef>
              <a:spcAft>
                <a:spcPts val="0"/>
              </a:spcAft>
              <a:buNone/>
            </a:pPr>
            <a:r>
              <a:rPr lang="en" b="1">
                <a:solidFill>
                  <a:srgbClr val="000000"/>
                </a:solidFill>
                <a:latin typeface="Times New Roman"/>
                <a:ea typeface="Times New Roman"/>
                <a:cs typeface="Times New Roman"/>
                <a:sym typeface="Times New Roman"/>
              </a:rPr>
              <a:t>7.1 Terminal Output</a:t>
            </a:r>
            <a:endParaRPr b="1">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r>
              <a:rPr lang="en" sz="1200">
                <a:solidFill>
                  <a:srgbClr val="000000"/>
                </a:solidFill>
                <a:latin typeface="Times New Roman"/>
                <a:ea typeface="Times New Roman"/>
                <a:cs typeface="Times New Roman"/>
                <a:sym typeface="Times New Roman"/>
              </a:rPr>
              <a:t>We include a screenshot of the terminal run of </a:t>
            </a:r>
            <a:r>
              <a:rPr lang="en" sz="1200">
                <a:solidFill>
                  <a:srgbClr val="188038"/>
                </a:solidFill>
                <a:latin typeface="Times New Roman"/>
                <a:ea typeface="Times New Roman"/>
                <a:cs typeface="Times New Roman"/>
                <a:sym typeface="Times New Roman"/>
              </a:rPr>
              <a:t>churn_predictor.py</a:t>
            </a:r>
            <a:r>
              <a:rPr lang="en" sz="1200">
                <a:solidFill>
                  <a:srgbClr val="000000"/>
                </a:solidFill>
                <a:latin typeface="Times New Roman"/>
                <a:ea typeface="Times New Roman"/>
                <a:cs typeface="Times New Roman"/>
                <a:sym typeface="Times New Roman"/>
              </a:rPr>
              <a:t>. This shows the 5-fold cross-validation scores for each model, followed by the final test metrics. The output confirms that all three models met the success criteria of recall at least 80 percent and accuracy at least 70 percent, with Logistic Regression chosen as the best model.</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411"/>
        <p:cNvGrpSpPr/>
        <p:nvPr/>
      </p:nvGrpSpPr>
      <p:grpSpPr>
        <a:xfrm>
          <a:off x="0" y="0"/>
          <a:ext cx="0" cy="0"/>
          <a:chOff x="0" y="0"/>
          <a:chExt cx="0" cy="0"/>
        </a:xfrm>
      </p:grpSpPr>
      <p:sp>
        <p:nvSpPr>
          <p:cNvPr id="412" name="Google Shape;412;p62"/>
          <p:cNvSpPr txBox="1">
            <a:spLocks noGrp="1"/>
          </p:cNvSpPr>
          <p:nvPr>
            <p:ph type="subTitle" idx="1"/>
          </p:nvPr>
        </p:nvSpPr>
        <p:spPr>
          <a:xfrm>
            <a:off x="0" y="0"/>
            <a:ext cx="4572000" cy="5143500"/>
          </a:xfrm>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1200"/>
              </a:spcAft>
              <a:buNone/>
            </a:pPr>
            <a:r>
              <a:rPr lang="en" sz="1200" b="1">
                <a:solidFill>
                  <a:schemeClr val="lt1"/>
                </a:solidFill>
                <a:latin typeface="Times New Roman"/>
                <a:ea typeface="Times New Roman"/>
                <a:cs typeface="Times New Roman"/>
                <a:sym typeface="Times New Roman"/>
              </a:rPr>
              <a:t>Figure 7.1. </a:t>
            </a:r>
            <a:r>
              <a:rPr lang="en" sz="1200">
                <a:solidFill>
                  <a:schemeClr val="lt1"/>
                </a:solidFill>
                <a:latin typeface="Times New Roman"/>
                <a:ea typeface="Times New Roman"/>
                <a:cs typeface="Times New Roman"/>
                <a:sym typeface="Times New Roman"/>
              </a:rPr>
              <a:t>Terminal output from churn_predictor.py showing preprocessing, cross-validation, thresholding, and final test metrics.</a:t>
            </a:r>
            <a:endParaRPr sz="1200">
              <a:solidFill>
                <a:schemeClr val="lt1"/>
              </a:solidFill>
              <a:latin typeface="Times New Roman"/>
              <a:ea typeface="Times New Roman"/>
              <a:cs typeface="Times New Roman"/>
              <a:sym typeface="Times New Roman"/>
            </a:endParaRPr>
          </a:p>
        </p:txBody>
      </p:sp>
      <p:sp>
        <p:nvSpPr>
          <p:cNvPr id="413" name="Google Shape;413;p62"/>
          <p:cNvSpPr txBox="1">
            <a:spLocks noGrp="1"/>
          </p:cNvSpPr>
          <p:nvPr>
            <p:ph type="body" idx="2"/>
          </p:nvPr>
        </p:nvSpPr>
        <p:spPr>
          <a:xfrm>
            <a:off x="4572000" y="0"/>
            <a:ext cx="4572000" cy="51435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852"/>
              <a:buNone/>
            </a:pPr>
            <a:r>
              <a:rPr lang="en" sz="830" b="1">
                <a:solidFill>
                  <a:srgbClr val="000000"/>
                </a:solidFill>
                <a:latin typeface="Times New Roman"/>
                <a:ea typeface="Times New Roman"/>
                <a:cs typeface="Times New Roman"/>
                <a:sym typeface="Times New Roman"/>
              </a:rPr>
              <a:t>What our output confirms</a:t>
            </a:r>
            <a:endParaRPr sz="830" b="1">
              <a:solidFill>
                <a:srgbClr val="000000"/>
              </a:solidFill>
              <a:latin typeface="Times New Roman"/>
              <a:ea typeface="Times New Roman"/>
              <a:cs typeface="Times New Roman"/>
              <a:sym typeface="Times New Roman"/>
            </a:endParaRPr>
          </a:p>
          <a:p>
            <a:pPr marL="457200" lvl="0" indent="-281305" algn="l" rtl="0">
              <a:lnSpc>
                <a:spcPct val="100000"/>
              </a:lnSpc>
              <a:spcBef>
                <a:spcPts val="1000"/>
              </a:spcBef>
              <a:spcAft>
                <a:spcPts val="0"/>
              </a:spcAft>
              <a:buClr>
                <a:srgbClr val="000000"/>
              </a:buClr>
              <a:buSzPts val="830"/>
              <a:buFont typeface="Times New Roman"/>
              <a:buAutoNum type="arabicPeriod"/>
            </a:pPr>
            <a:r>
              <a:rPr lang="en" sz="830" b="1">
                <a:solidFill>
                  <a:srgbClr val="000000"/>
                </a:solidFill>
                <a:latin typeface="Times New Roman"/>
                <a:ea typeface="Times New Roman"/>
                <a:cs typeface="Times New Roman"/>
                <a:sym typeface="Times New Roman"/>
              </a:rPr>
              <a:t>Preprocessing stage</a:t>
            </a:r>
            <a:br>
              <a:rPr lang="en" sz="830" b="1">
                <a:solidFill>
                  <a:srgbClr val="000000"/>
                </a:solidFill>
                <a:latin typeface="Times New Roman"/>
                <a:ea typeface="Times New Roman"/>
                <a:cs typeface="Times New Roman"/>
                <a:sym typeface="Times New Roman"/>
              </a:rPr>
            </a:br>
            <a:r>
              <a:rPr lang="en" sz="830">
                <a:solidFill>
                  <a:srgbClr val="000000"/>
                </a:solidFill>
                <a:latin typeface="Times New Roman"/>
                <a:ea typeface="Times New Roman"/>
                <a:cs typeface="Times New Roman"/>
                <a:sym typeface="Times New Roman"/>
              </a:rPr>
              <a:t>Outliers were clipped, missing values were handled, and feature files were saved. The dataset was split into training at 73.5 percent and testing at 26.5 percent with stratification to preserve the churn ratio.</a:t>
            </a:r>
            <a:br>
              <a:rPr lang="en" sz="830">
                <a:solidFill>
                  <a:srgbClr val="000000"/>
                </a:solidFill>
                <a:latin typeface="Times New Roman"/>
                <a:ea typeface="Times New Roman"/>
                <a:cs typeface="Times New Roman"/>
                <a:sym typeface="Times New Roman"/>
              </a:rPr>
            </a:br>
            <a:endParaRPr sz="830">
              <a:solidFill>
                <a:srgbClr val="000000"/>
              </a:solidFill>
              <a:latin typeface="Times New Roman"/>
              <a:ea typeface="Times New Roman"/>
              <a:cs typeface="Times New Roman"/>
              <a:sym typeface="Times New Roman"/>
            </a:endParaRPr>
          </a:p>
          <a:p>
            <a:pPr marL="457200" lvl="0" indent="-281305" algn="l" rtl="0">
              <a:lnSpc>
                <a:spcPct val="100000"/>
              </a:lnSpc>
              <a:spcBef>
                <a:spcPts val="1000"/>
              </a:spcBef>
              <a:spcAft>
                <a:spcPts val="0"/>
              </a:spcAft>
              <a:buClr>
                <a:srgbClr val="000000"/>
              </a:buClr>
              <a:buSzPts val="830"/>
              <a:buFont typeface="Times New Roman"/>
              <a:buAutoNum type="arabicPeriod"/>
            </a:pPr>
            <a:r>
              <a:rPr lang="en" sz="830" b="1">
                <a:solidFill>
                  <a:srgbClr val="000000"/>
                </a:solidFill>
                <a:latin typeface="Times New Roman"/>
                <a:ea typeface="Times New Roman"/>
                <a:cs typeface="Times New Roman"/>
                <a:sym typeface="Times New Roman"/>
              </a:rPr>
              <a:t>Cross-validation results</a:t>
            </a:r>
            <a:br>
              <a:rPr lang="en" sz="830" b="1">
                <a:solidFill>
                  <a:srgbClr val="000000"/>
                </a:solidFill>
                <a:latin typeface="Times New Roman"/>
                <a:ea typeface="Times New Roman"/>
                <a:cs typeface="Times New Roman"/>
                <a:sym typeface="Times New Roman"/>
              </a:rPr>
            </a:br>
            <a:r>
              <a:rPr lang="en" sz="830">
                <a:solidFill>
                  <a:srgbClr val="000000"/>
                </a:solidFill>
                <a:latin typeface="Times New Roman"/>
                <a:ea typeface="Times New Roman"/>
                <a:cs typeface="Times New Roman"/>
                <a:sym typeface="Times New Roman"/>
              </a:rPr>
              <a:t>For each model there are five-fold stratified cross-validation scores. The metrics include recall, F1, ROC-AUC, and PR-AUC to show stability across folds.</a:t>
            </a:r>
            <a:br>
              <a:rPr lang="en" sz="830">
                <a:solidFill>
                  <a:srgbClr val="000000"/>
                </a:solidFill>
                <a:latin typeface="Times New Roman"/>
                <a:ea typeface="Times New Roman"/>
                <a:cs typeface="Times New Roman"/>
                <a:sym typeface="Times New Roman"/>
              </a:rPr>
            </a:br>
            <a:endParaRPr sz="830">
              <a:solidFill>
                <a:srgbClr val="000000"/>
              </a:solidFill>
              <a:latin typeface="Times New Roman"/>
              <a:ea typeface="Times New Roman"/>
              <a:cs typeface="Times New Roman"/>
              <a:sym typeface="Times New Roman"/>
            </a:endParaRPr>
          </a:p>
          <a:p>
            <a:pPr marL="457200" lvl="0" indent="-281305" algn="l" rtl="0">
              <a:lnSpc>
                <a:spcPct val="100000"/>
              </a:lnSpc>
              <a:spcBef>
                <a:spcPts val="1000"/>
              </a:spcBef>
              <a:spcAft>
                <a:spcPts val="0"/>
              </a:spcAft>
              <a:buClr>
                <a:srgbClr val="000000"/>
              </a:buClr>
              <a:buSzPts val="830"/>
              <a:buFont typeface="Times New Roman"/>
              <a:buAutoNum type="arabicPeriod"/>
            </a:pPr>
            <a:r>
              <a:rPr lang="en" sz="830" b="1">
                <a:solidFill>
                  <a:srgbClr val="000000"/>
                </a:solidFill>
                <a:latin typeface="Times New Roman"/>
                <a:ea typeface="Times New Roman"/>
                <a:cs typeface="Times New Roman"/>
                <a:sym typeface="Times New Roman"/>
              </a:rPr>
              <a:t>Threshold selection</a:t>
            </a:r>
            <a:br>
              <a:rPr lang="en" sz="830" b="1">
                <a:solidFill>
                  <a:srgbClr val="000000"/>
                </a:solidFill>
                <a:latin typeface="Times New Roman"/>
                <a:ea typeface="Times New Roman"/>
                <a:cs typeface="Times New Roman"/>
                <a:sym typeface="Times New Roman"/>
              </a:rPr>
            </a:br>
            <a:r>
              <a:rPr lang="en" sz="830">
                <a:solidFill>
                  <a:srgbClr val="000000"/>
                </a:solidFill>
                <a:latin typeface="Times New Roman"/>
                <a:ea typeface="Times New Roman"/>
                <a:cs typeface="Times New Roman"/>
                <a:sym typeface="Times New Roman"/>
              </a:rPr>
              <a:t>Each model reports its chosen probability cutoff that maximizes recall while balancing F1 and PR-AUC. Logistic Regression selected 0.45, Random Forest selected 0.30, and Histogram Gradient Boosting selected 0.25.</a:t>
            </a:r>
            <a:br>
              <a:rPr lang="en" sz="830">
                <a:solidFill>
                  <a:srgbClr val="000000"/>
                </a:solidFill>
                <a:latin typeface="Times New Roman"/>
                <a:ea typeface="Times New Roman"/>
                <a:cs typeface="Times New Roman"/>
                <a:sym typeface="Times New Roman"/>
              </a:rPr>
            </a:br>
            <a:endParaRPr sz="830">
              <a:solidFill>
                <a:srgbClr val="000000"/>
              </a:solidFill>
              <a:latin typeface="Times New Roman"/>
              <a:ea typeface="Times New Roman"/>
              <a:cs typeface="Times New Roman"/>
              <a:sym typeface="Times New Roman"/>
            </a:endParaRPr>
          </a:p>
          <a:p>
            <a:pPr marL="457200" lvl="0" indent="-281305" algn="l" rtl="0">
              <a:lnSpc>
                <a:spcPct val="100000"/>
              </a:lnSpc>
              <a:spcBef>
                <a:spcPts val="1000"/>
              </a:spcBef>
              <a:spcAft>
                <a:spcPts val="0"/>
              </a:spcAft>
              <a:buClr>
                <a:srgbClr val="000000"/>
              </a:buClr>
              <a:buSzPts val="830"/>
              <a:buFont typeface="Times New Roman"/>
              <a:buAutoNum type="arabicPeriod"/>
            </a:pPr>
            <a:r>
              <a:rPr lang="en" sz="830" b="1">
                <a:solidFill>
                  <a:srgbClr val="000000"/>
                </a:solidFill>
                <a:latin typeface="Times New Roman"/>
                <a:ea typeface="Times New Roman"/>
                <a:cs typeface="Times New Roman"/>
                <a:sym typeface="Times New Roman"/>
              </a:rPr>
              <a:t>Test set evaluation</a:t>
            </a:r>
            <a:br>
              <a:rPr lang="en" sz="830" b="1">
                <a:solidFill>
                  <a:srgbClr val="000000"/>
                </a:solidFill>
                <a:latin typeface="Times New Roman"/>
                <a:ea typeface="Times New Roman"/>
                <a:cs typeface="Times New Roman"/>
                <a:sym typeface="Times New Roman"/>
              </a:rPr>
            </a:br>
            <a:r>
              <a:rPr lang="en" sz="830">
                <a:solidFill>
                  <a:srgbClr val="000000"/>
                </a:solidFill>
                <a:latin typeface="Times New Roman"/>
                <a:ea typeface="Times New Roman"/>
                <a:cs typeface="Times New Roman"/>
                <a:sym typeface="Times New Roman"/>
              </a:rPr>
              <a:t>At the chosen thresholds each model is evaluated on the hold-out test set. The output includes recall, precision, F1, accuracy, ROC-AUC, PR-AUC, and the confusion matrix.</a:t>
            </a:r>
            <a:br>
              <a:rPr lang="en" sz="830">
                <a:solidFill>
                  <a:srgbClr val="000000"/>
                </a:solidFill>
                <a:latin typeface="Times New Roman"/>
                <a:ea typeface="Times New Roman"/>
                <a:cs typeface="Times New Roman"/>
                <a:sym typeface="Times New Roman"/>
              </a:rPr>
            </a:br>
            <a:endParaRPr sz="830">
              <a:solidFill>
                <a:srgbClr val="000000"/>
              </a:solidFill>
              <a:latin typeface="Times New Roman"/>
              <a:ea typeface="Times New Roman"/>
              <a:cs typeface="Times New Roman"/>
              <a:sym typeface="Times New Roman"/>
            </a:endParaRPr>
          </a:p>
          <a:p>
            <a:pPr marL="457200" lvl="0" indent="-281305" algn="l" rtl="0">
              <a:lnSpc>
                <a:spcPct val="100000"/>
              </a:lnSpc>
              <a:spcBef>
                <a:spcPts val="1000"/>
              </a:spcBef>
              <a:spcAft>
                <a:spcPts val="0"/>
              </a:spcAft>
              <a:buClr>
                <a:srgbClr val="000000"/>
              </a:buClr>
              <a:buSzPts val="830"/>
              <a:buFont typeface="Times New Roman"/>
              <a:buAutoNum type="arabicPeriod"/>
            </a:pPr>
            <a:r>
              <a:rPr lang="en" sz="830" b="1">
                <a:solidFill>
                  <a:srgbClr val="000000"/>
                </a:solidFill>
                <a:latin typeface="Times New Roman"/>
                <a:ea typeface="Times New Roman"/>
                <a:cs typeface="Times New Roman"/>
                <a:sym typeface="Times New Roman"/>
              </a:rPr>
              <a:t>Model ranking</a:t>
            </a:r>
            <a:br>
              <a:rPr lang="en" sz="830" b="1">
                <a:solidFill>
                  <a:srgbClr val="000000"/>
                </a:solidFill>
                <a:latin typeface="Times New Roman"/>
                <a:ea typeface="Times New Roman"/>
                <a:cs typeface="Times New Roman"/>
                <a:sym typeface="Times New Roman"/>
              </a:rPr>
            </a:br>
            <a:r>
              <a:rPr lang="en" sz="830">
                <a:solidFill>
                  <a:srgbClr val="000000"/>
                </a:solidFill>
                <a:latin typeface="Times New Roman"/>
                <a:ea typeface="Times New Roman"/>
                <a:cs typeface="Times New Roman"/>
                <a:sym typeface="Times New Roman"/>
              </a:rPr>
              <a:t>Models are ranked by recall first, then F1, and then PR-AUC. Logistic Regression satisfies the business criteria while remaining simpler and more interpretable than the ensemble methods.</a:t>
            </a:r>
            <a:br>
              <a:rPr lang="en" sz="830">
                <a:solidFill>
                  <a:srgbClr val="000000"/>
                </a:solidFill>
                <a:latin typeface="Times New Roman"/>
                <a:ea typeface="Times New Roman"/>
                <a:cs typeface="Times New Roman"/>
                <a:sym typeface="Times New Roman"/>
              </a:rPr>
            </a:br>
            <a:endParaRPr sz="830">
              <a:solidFill>
                <a:srgbClr val="000000"/>
              </a:solidFill>
              <a:latin typeface="Times New Roman"/>
              <a:ea typeface="Times New Roman"/>
              <a:cs typeface="Times New Roman"/>
              <a:sym typeface="Times New Roman"/>
            </a:endParaRPr>
          </a:p>
          <a:p>
            <a:pPr marL="457200" lvl="0" indent="-281305" algn="l" rtl="0">
              <a:lnSpc>
                <a:spcPct val="100000"/>
              </a:lnSpc>
              <a:spcBef>
                <a:spcPts val="1000"/>
              </a:spcBef>
              <a:spcAft>
                <a:spcPts val="0"/>
              </a:spcAft>
              <a:buClr>
                <a:srgbClr val="000000"/>
              </a:buClr>
              <a:buSzPts val="830"/>
              <a:buFont typeface="Times New Roman"/>
              <a:buAutoNum type="arabicPeriod"/>
            </a:pPr>
            <a:r>
              <a:rPr lang="en" sz="830" b="1">
                <a:solidFill>
                  <a:srgbClr val="000000"/>
                </a:solidFill>
                <a:latin typeface="Times New Roman"/>
                <a:ea typeface="Times New Roman"/>
                <a:cs typeface="Times New Roman"/>
                <a:sym typeface="Times New Roman"/>
              </a:rPr>
              <a:t>Success criteria check</a:t>
            </a:r>
            <a:br>
              <a:rPr lang="en" sz="830" b="1">
                <a:solidFill>
                  <a:srgbClr val="000000"/>
                </a:solidFill>
                <a:latin typeface="Times New Roman"/>
                <a:ea typeface="Times New Roman"/>
                <a:cs typeface="Times New Roman"/>
                <a:sym typeface="Times New Roman"/>
              </a:rPr>
            </a:br>
            <a:r>
              <a:rPr lang="en" sz="830">
                <a:solidFill>
                  <a:srgbClr val="000000"/>
                </a:solidFill>
                <a:latin typeface="Times New Roman"/>
                <a:ea typeface="Times New Roman"/>
                <a:cs typeface="Times New Roman"/>
                <a:sym typeface="Times New Roman"/>
              </a:rPr>
              <a:t>The script confirms which models meet recall at least 80 percent and accuracy at least 70 percent. Logistic Regression meets both, with recall of 82.89 percent and accuracy of 72.39 percent.</a:t>
            </a:r>
            <a:br>
              <a:rPr lang="en" sz="830">
                <a:solidFill>
                  <a:srgbClr val="000000"/>
                </a:solidFill>
                <a:latin typeface="Times New Roman"/>
                <a:ea typeface="Times New Roman"/>
                <a:cs typeface="Times New Roman"/>
                <a:sym typeface="Times New Roman"/>
              </a:rPr>
            </a:br>
            <a:endParaRPr sz="830">
              <a:solidFill>
                <a:srgbClr val="000000"/>
              </a:solidFill>
              <a:latin typeface="Times New Roman"/>
              <a:ea typeface="Times New Roman"/>
              <a:cs typeface="Times New Roman"/>
              <a:sym typeface="Times New Roman"/>
            </a:endParaRPr>
          </a:p>
          <a:p>
            <a:pPr marL="457200" lvl="0" indent="-281305" algn="l" rtl="0">
              <a:lnSpc>
                <a:spcPct val="100000"/>
              </a:lnSpc>
              <a:spcBef>
                <a:spcPts val="1000"/>
              </a:spcBef>
              <a:spcAft>
                <a:spcPts val="1000"/>
              </a:spcAft>
              <a:buClr>
                <a:srgbClr val="000000"/>
              </a:buClr>
              <a:buSzPts val="830"/>
              <a:buFont typeface="Times New Roman"/>
              <a:buAutoNum type="arabicPeriod"/>
            </a:pPr>
            <a:r>
              <a:rPr lang="en" sz="830" b="1">
                <a:solidFill>
                  <a:srgbClr val="000000"/>
                </a:solidFill>
                <a:latin typeface="Times New Roman"/>
                <a:ea typeface="Times New Roman"/>
                <a:cs typeface="Times New Roman"/>
                <a:sym typeface="Times New Roman"/>
              </a:rPr>
              <a:t>Final model selection</a:t>
            </a:r>
            <a:br>
              <a:rPr lang="en" sz="830" b="1">
                <a:solidFill>
                  <a:srgbClr val="000000"/>
                </a:solidFill>
                <a:latin typeface="Times New Roman"/>
                <a:ea typeface="Times New Roman"/>
                <a:cs typeface="Times New Roman"/>
                <a:sym typeface="Times New Roman"/>
              </a:rPr>
            </a:br>
            <a:r>
              <a:rPr lang="en" sz="830">
                <a:solidFill>
                  <a:srgbClr val="000000"/>
                </a:solidFill>
                <a:latin typeface="Times New Roman"/>
                <a:ea typeface="Times New Roman"/>
                <a:cs typeface="Times New Roman"/>
                <a:sym typeface="Times New Roman"/>
              </a:rPr>
              <a:t>The run highlights Logistic Regression as the final model for deployment. This matches the analysis and discussion presented earlier.</a:t>
            </a:r>
            <a:endParaRPr sz="830" b="1">
              <a:solidFill>
                <a:srgbClr val="000000"/>
              </a:solidFill>
              <a:latin typeface="Times New Roman"/>
              <a:ea typeface="Times New Roman"/>
              <a:cs typeface="Times New Roman"/>
              <a:sym typeface="Times New Roman"/>
            </a:endParaRPr>
          </a:p>
        </p:txBody>
      </p:sp>
      <p:sp>
        <p:nvSpPr>
          <p:cNvPr id="414" name="Google Shape;414;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50</a:t>
            </a:fld>
            <a:endParaRPr/>
          </a:p>
        </p:txBody>
      </p:sp>
      <p:pic>
        <p:nvPicPr>
          <p:cNvPr id="415" name="Google Shape;415;p62"/>
          <p:cNvPicPr preferRelativeResize="0"/>
          <p:nvPr/>
        </p:nvPicPr>
        <p:blipFill>
          <a:blip r:embed="rId3">
            <a:alphaModFix/>
          </a:blip>
          <a:stretch>
            <a:fillRect/>
          </a:stretch>
        </p:blipFill>
        <p:spPr>
          <a:xfrm>
            <a:off x="0" y="689626"/>
            <a:ext cx="4572000" cy="43672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419"/>
        <p:cNvGrpSpPr/>
        <p:nvPr/>
      </p:nvGrpSpPr>
      <p:grpSpPr>
        <a:xfrm>
          <a:off x="0" y="0"/>
          <a:ext cx="0" cy="0"/>
          <a:chOff x="0" y="0"/>
          <a:chExt cx="0" cy="0"/>
        </a:xfrm>
      </p:grpSpPr>
      <p:sp>
        <p:nvSpPr>
          <p:cNvPr id="420" name="Google Shape;420;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51</a:t>
            </a:fld>
            <a:endParaRPr/>
          </a:p>
        </p:txBody>
      </p:sp>
      <p:sp>
        <p:nvSpPr>
          <p:cNvPr id="421" name="Google Shape;421;p63"/>
          <p:cNvSpPr txBox="1">
            <a:spLocks noGrp="1"/>
          </p:cNvSpPr>
          <p:nvPr>
            <p:ph type="title"/>
          </p:nvPr>
        </p:nvSpPr>
        <p:spPr>
          <a:xfrm>
            <a:off x="311725" y="0"/>
            <a:ext cx="8520600" cy="1124700"/>
          </a:xfrm>
          <a:prstGeom prst="rect">
            <a:avLst/>
          </a:prstGeom>
        </p:spPr>
        <p:txBody>
          <a:bodyPr spcFirstLastPara="1" wrap="square" lIns="91425" tIns="91425" rIns="91425" bIns="91425" anchor="ctr" anchorCtr="0">
            <a:normAutofit/>
          </a:bodyPr>
          <a:lstStyle/>
          <a:p>
            <a:pPr marL="0" lvl="0" indent="0" algn="ctr" rtl="0">
              <a:lnSpc>
                <a:spcPct val="115000"/>
              </a:lnSpc>
              <a:spcBef>
                <a:spcPts val="1400"/>
              </a:spcBef>
              <a:spcAft>
                <a:spcPts val="400"/>
              </a:spcAft>
              <a:buNone/>
            </a:pPr>
            <a:r>
              <a:rPr lang="en" sz="1900" b="1">
                <a:latin typeface="Times New Roman"/>
                <a:ea typeface="Times New Roman"/>
                <a:cs typeface="Times New Roman"/>
                <a:sym typeface="Times New Roman"/>
              </a:rPr>
              <a:t>7.2 Live Run</a:t>
            </a:r>
            <a:endParaRPr sz="1900">
              <a:latin typeface="Times New Roman"/>
              <a:ea typeface="Times New Roman"/>
              <a:cs typeface="Times New Roman"/>
              <a:sym typeface="Times New Roman"/>
            </a:endParaRPr>
          </a:p>
        </p:txBody>
      </p:sp>
      <p:sp>
        <p:nvSpPr>
          <p:cNvPr id="422" name="Google Shape;422;p63"/>
          <p:cNvSpPr txBox="1"/>
          <p:nvPr/>
        </p:nvSpPr>
        <p:spPr>
          <a:xfrm>
            <a:off x="44600" y="1375825"/>
            <a:ext cx="8976600" cy="3681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latin typeface="Times New Roman"/>
                <a:ea typeface="Times New Roman"/>
                <a:cs typeface="Times New Roman"/>
                <a:sym typeface="Times New Roman"/>
              </a:rPr>
              <a:t>During the demo, we executed the script in real time. The program performed the following steps:</a:t>
            </a:r>
            <a:endParaRPr sz="1200">
              <a:latin typeface="Times New Roman"/>
              <a:ea typeface="Times New Roman"/>
              <a:cs typeface="Times New Roman"/>
              <a:sym typeface="Times New Roman"/>
            </a:endParaRPr>
          </a:p>
          <a:p>
            <a:pPr marL="457200" lvl="0" indent="-304800" algn="l" rtl="0">
              <a:lnSpc>
                <a:spcPct val="115000"/>
              </a:lnSpc>
              <a:spcBef>
                <a:spcPts val="1200"/>
              </a:spcBef>
              <a:spcAft>
                <a:spcPts val="0"/>
              </a:spcAft>
              <a:buSzPts val="1200"/>
              <a:buFont typeface="Times New Roman"/>
              <a:buChar char="●"/>
            </a:pPr>
            <a:r>
              <a:rPr lang="en" sz="1200">
                <a:latin typeface="Times New Roman"/>
                <a:ea typeface="Times New Roman"/>
                <a:cs typeface="Times New Roman"/>
                <a:sym typeface="Times New Roman"/>
              </a:rPr>
              <a:t>Loaded and preprocessed the Telco Customer Churn dataset</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Trained Logistic Regression, Random Forest, and Histogram Gradient Boosting models</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Performed stratified 5-fold cross-validation to evaluate recall, F1, ROC-AUC, and PR-AUC</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Selected the best threshold for each model to maximize recall while maintaining acceptable accuracy</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457200" lvl="0" indent="-304800" algn="l" rtl="0">
              <a:lnSpc>
                <a:spcPct val="115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Reported the final test results, including recall, precision, accuracy, F1, ROC-AUC, PR-AUC, and confusion matrices</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sz="1200">
                <a:latin typeface="Times New Roman"/>
                <a:ea typeface="Times New Roman"/>
                <a:cs typeface="Times New Roman"/>
                <a:sym typeface="Times New Roman"/>
              </a:rPr>
              <a:t>The live demo matched the documented results in Section 5. Logistic Regression consistently achieved 82.9 percent recall and 72.4 percent accuracy, confirming it as the best model under the business success criteria.</a:t>
            </a:r>
            <a:endParaRPr sz="1300">
              <a:solidFill>
                <a:schemeClr val="dk2"/>
              </a:solidFill>
              <a:latin typeface="Roboto"/>
              <a:ea typeface="Roboto"/>
              <a:cs typeface="Roboto"/>
              <a:sym typeface="Roboto"/>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426"/>
        <p:cNvGrpSpPr/>
        <p:nvPr/>
      </p:nvGrpSpPr>
      <p:grpSpPr>
        <a:xfrm>
          <a:off x="0" y="0"/>
          <a:ext cx="0" cy="0"/>
          <a:chOff x="0" y="0"/>
          <a:chExt cx="0" cy="0"/>
        </a:xfrm>
      </p:grpSpPr>
      <p:sp>
        <p:nvSpPr>
          <p:cNvPr id="427" name="Google Shape;427;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52</a:t>
            </a:fld>
            <a:endParaRPr/>
          </a:p>
        </p:txBody>
      </p:sp>
      <p:sp>
        <p:nvSpPr>
          <p:cNvPr id="428" name="Google Shape;428;p64"/>
          <p:cNvSpPr txBox="1">
            <a:spLocks noGrp="1"/>
          </p:cNvSpPr>
          <p:nvPr>
            <p:ph type="title"/>
          </p:nvPr>
        </p:nvSpPr>
        <p:spPr>
          <a:xfrm>
            <a:off x="304300" y="198625"/>
            <a:ext cx="3706500" cy="29214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0" lvl="0" indent="0" algn="ctr" rtl="0">
              <a:lnSpc>
                <a:spcPct val="100000"/>
              </a:lnSpc>
              <a:spcBef>
                <a:spcPts val="0"/>
              </a:spcBef>
              <a:spcAft>
                <a:spcPts val="0"/>
              </a:spcAft>
              <a:buNone/>
            </a:pPr>
            <a:r>
              <a:rPr lang="en" sz="1900" b="1">
                <a:latin typeface="Times New Roman"/>
                <a:ea typeface="Times New Roman"/>
                <a:cs typeface="Times New Roman"/>
                <a:sym typeface="Times New Roman"/>
              </a:rPr>
              <a:t>Section 8: Conclusion</a:t>
            </a:r>
            <a:endParaRPr sz="19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200" b="1">
              <a:latin typeface="Times New Roman"/>
              <a:ea typeface="Times New Roman"/>
              <a:cs typeface="Times New Roman"/>
              <a:sym typeface="Times New Roman"/>
            </a:endParaRPr>
          </a:p>
          <a:p>
            <a:pPr marL="457200" lvl="0" indent="-304800" algn="l" rtl="0">
              <a:spcBef>
                <a:spcPts val="1200"/>
              </a:spcBef>
              <a:spcAft>
                <a:spcPts val="0"/>
              </a:spcAft>
              <a:buSzPts val="1200"/>
              <a:buFont typeface="Times New Roman"/>
              <a:buChar char="●"/>
            </a:pPr>
            <a:r>
              <a:rPr lang="en" sz="1200" b="1">
                <a:latin typeface="Times New Roman"/>
                <a:ea typeface="Times New Roman"/>
                <a:cs typeface="Times New Roman"/>
                <a:sym typeface="Times New Roman"/>
              </a:rPr>
              <a:t>Experience gained.</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Lessons learned (recall &gt; accuracy for churn).</a:t>
            </a:r>
            <a:br>
              <a:rPr lang="en" sz="1200" b="1">
                <a:latin typeface="Times New Roman"/>
                <a:ea typeface="Times New Roman"/>
                <a:cs typeface="Times New Roman"/>
                <a:sym typeface="Times New Roman"/>
              </a:rPr>
            </a:br>
            <a:endParaRPr sz="1200" b="1">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b="1">
                <a:latin typeface="Times New Roman"/>
                <a:ea typeface="Times New Roman"/>
                <a:cs typeface="Times New Roman"/>
                <a:sym typeface="Times New Roman"/>
              </a:rPr>
              <a:t>Future work (other models, balancing techniques, deep learning).</a:t>
            </a:r>
            <a:endParaRPr sz="1200" b="1">
              <a:latin typeface="Times New Roman"/>
              <a:ea typeface="Times New Roman"/>
              <a:cs typeface="Times New Roman"/>
              <a:sym typeface="Times New Roman"/>
            </a:endParaRPr>
          </a:p>
        </p:txBody>
      </p:sp>
      <p:sp>
        <p:nvSpPr>
          <p:cNvPr id="429" name="Google Shape;429;p64"/>
          <p:cNvSpPr txBox="1">
            <a:spLocks noGrp="1"/>
          </p:cNvSpPr>
          <p:nvPr>
            <p:ph type="body" idx="1"/>
          </p:nvPr>
        </p:nvSpPr>
        <p:spPr>
          <a:xfrm>
            <a:off x="4308925" y="0"/>
            <a:ext cx="4835100" cy="5143500"/>
          </a:xfrm>
          <a:prstGeom prst="rect">
            <a:avLst/>
          </a:prstGeom>
        </p:spPr>
        <p:txBody>
          <a:bodyPr spcFirstLastPara="1" wrap="square" lIns="91425" tIns="91425" rIns="91425" bIns="91425" anchor="ctr" anchorCtr="0">
            <a:normAutofit/>
          </a:bodyPr>
          <a:lstStyle/>
          <a:p>
            <a:pPr marL="0" lvl="0" indent="0" algn="l" rtl="0">
              <a:spcBef>
                <a:spcPts val="1400"/>
              </a:spcBef>
              <a:spcAft>
                <a:spcPts val="0"/>
              </a:spcAft>
              <a:buNone/>
            </a:pPr>
            <a:r>
              <a:rPr lang="en" b="1">
                <a:solidFill>
                  <a:srgbClr val="000000"/>
                </a:solidFill>
                <a:latin typeface="Times New Roman"/>
                <a:ea typeface="Times New Roman"/>
                <a:cs typeface="Times New Roman"/>
                <a:sym typeface="Times New Roman"/>
              </a:rPr>
              <a:t>8.1 Experience Gained</a:t>
            </a:r>
            <a:endParaRPr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200">
                <a:solidFill>
                  <a:srgbClr val="000000"/>
                </a:solidFill>
                <a:latin typeface="Times New Roman"/>
                <a:ea typeface="Times New Roman"/>
                <a:cs typeface="Times New Roman"/>
                <a:sym typeface="Times New Roman"/>
              </a:rPr>
              <a:t>This project provided hands-on experience in building an end-to-end machine learning pipeline for a real-world business case. We learned how to:</a:t>
            </a:r>
            <a:endParaRPr sz="1200">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Prepare and clean data while handling inconsistencies</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Train multiple models and compare them fairly using cross-validation</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Tune probability thresholds to meet business-driven success criteria</a:t>
            </a:r>
            <a:br>
              <a:rPr lang="en" sz="1200">
                <a:solidFill>
                  <a:srgbClr val="000000"/>
                </a:solidFill>
                <a:latin typeface="Times New Roman"/>
                <a:ea typeface="Times New Roman"/>
                <a:cs typeface="Times New Roman"/>
                <a:sym typeface="Times New Roman"/>
              </a:rPr>
            </a:b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Interpret metrics beyond accuracy, such as recall, precision, and PR-AUC</a:t>
            </a:r>
            <a:br>
              <a:rPr lang="en" sz="1200">
                <a:solidFill>
                  <a:srgbClr val="000000"/>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433"/>
        <p:cNvGrpSpPr/>
        <p:nvPr/>
      </p:nvGrpSpPr>
      <p:grpSpPr>
        <a:xfrm>
          <a:off x="0" y="0"/>
          <a:ext cx="0" cy="0"/>
          <a:chOff x="0" y="0"/>
          <a:chExt cx="0" cy="0"/>
        </a:xfrm>
      </p:grpSpPr>
      <p:sp>
        <p:nvSpPr>
          <p:cNvPr id="434" name="Google Shape;434;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53</a:t>
            </a:fld>
            <a:endParaRPr/>
          </a:p>
        </p:txBody>
      </p:sp>
      <p:sp>
        <p:nvSpPr>
          <p:cNvPr id="435" name="Google Shape;435;p65"/>
          <p:cNvSpPr txBox="1">
            <a:spLocks noGrp="1"/>
          </p:cNvSpPr>
          <p:nvPr>
            <p:ph type="title" idx="4294967295"/>
          </p:nvPr>
        </p:nvSpPr>
        <p:spPr>
          <a:xfrm>
            <a:off x="0" y="0"/>
            <a:ext cx="4308900" cy="5143500"/>
          </a:xfrm>
          <a:prstGeom prst="rect">
            <a:avLst/>
          </a:prstGeom>
        </p:spPr>
        <p:txBody>
          <a:bodyPr spcFirstLastPara="1" wrap="square" lIns="91425" tIns="91425" rIns="91425" bIns="91425" anchor="t" anchorCtr="0">
            <a:noAutofit/>
          </a:bodyPr>
          <a:lstStyle/>
          <a:p>
            <a:pPr marL="0" lvl="0" indent="0" algn="l" rtl="0">
              <a:lnSpc>
                <a:spcPct val="100000"/>
              </a:lnSpc>
              <a:spcBef>
                <a:spcPts val="1400"/>
              </a:spcBef>
              <a:spcAft>
                <a:spcPts val="0"/>
              </a:spcAft>
              <a:buNone/>
            </a:pPr>
            <a:r>
              <a:rPr lang="en" sz="1100" b="1" dirty="0">
                <a:solidFill>
                  <a:srgbClr val="000000"/>
                </a:solidFill>
                <a:latin typeface="Times New Roman"/>
                <a:ea typeface="Times New Roman"/>
                <a:cs typeface="Times New Roman"/>
                <a:sym typeface="Times New Roman"/>
              </a:rPr>
              <a:t>8.2 Key Lessons Learned</a:t>
            </a:r>
            <a:endParaRPr sz="1100" b="1" dirty="0">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r>
              <a:rPr lang="en" sz="1100" dirty="0">
                <a:solidFill>
                  <a:srgbClr val="000000"/>
                </a:solidFill>
                <a:latin typeface="Times New Roman"/>
                <a:ea typeface="Times New Roman"/>
                <a:cs typeface="Times New Roman"/>
                <a:sym typeface="Times New Roman"/>
              </a:rPr>
              <a:t>One of the most important lessons was that </a:t>
            </a:r>
            <a:r>
              <a:rPr lang="en" sz="1100" b="1" dirty="0">
                <a:solidFill>
                  <a:srgbClr val="000000"/>
                </a:solidFill>
                <a:latin typeface="Times New Roman"/>
                <a:ea typeface="Times New Roman"/>
                <a:cs typeface="Times New Roman"/>
                <a:sym typeface="Times New Roman"/>
              </a:rPr>
              <a:t>accuracy alone can be misleading</a:t>
            </a:r>
            <a:r>
              <a:rPr lang="en" sz="1100" dirty="0">
                <a:solidFill>
                  <a:srgbClr val="000000"/>
                </a:solidFill>
                <a:latin typeface="Times New Roman"/>
                <a:ea typeface="Times New Roman"/>
                <a:cs typeface="Times New Roman"/>
                <a:sym typeface="Times New Roman"/>
              </a:rPr>
              <a:t>, especially in imbalanced datasets like churn prediction. A trivial model can achieve 73% accuracy by predicting “loyal” for everyone, but it would completely fail the business need. Instead, we found that:</a:t>
            </a:r>
            <a:endParaRPr sz="1100" dirty="0">
              <a:solidFill>
                <a:srgbClr val="000000"/>
              </a:solidFill>
              <a:latin typeface="Times New Roman"/>
              <a:ea typeface="Times New Roman"/>
              <a:cs typeface="Times New Roman"/>
              <a:sym typeface="Times New Roman"/>
            </a:endParaRPr>
          </a:p>
          <a:p>
            <a:pPr marL="457200" lvl="0" indent="-298450" algn="l" rtl="0">
              <a:lnSpc>
                <a:spcPct val="100000"/>
              </a:lnSpc>
              <a:spcBef>
                <a:spcPts val="1200"/>
              </a:spcBef>
              <a:spcAft>
                <a:spcPts val="0"/>
              </a:spcAft>
              <a:buClr>
                <a:srgbClr val="000000"/>
              </a:buClr>
              <a:buSzPts val="1100"/>
              <a:buFont typeface="Times New Roman"/>
              <a:buChar char="●"/>
            </a:pPr>
            <a:r>
              <a:rPr lang="en" sz="1100" b="1" dirty="0">
                <a:solidFill>
                  <a:srgbClr val="000000"/>
                </a:solidFill>
                <a:latin typeface="Times New Roman"/>
                <a:ea typeface="Times New Roman"/>
                <a:cs typeface="Times New Roman"/>
                <a:sym typeface="Times New Roman"/>
              </a:rPr>
              <a:t>Recall is the most critical metric:</a:t>
            </a:r>
            <a:r>
              <a:rPr lang="en" sz="1100" dirty="0">
                <a:solidFill>
                  <a:srgbClr val="000000"/>
                </a:solidFill>
                <a:latin typeface="Times New Roman"/>
                <a:ea typeface="Times New Roman"/>
                <a:cs typeface="Times New Roman"/>
                <a:sym typeface="Times New Roman"/>
              </a:rPr>
              <a:t> catching churners matters more than avoiding false alarms</a:t>
            </a:r>
            <a:br>
              <a:rPr lang="en" sz="1100" dirty="0">
                <a:solidFill>
                  <a:srgbClr val="000000"/>
                </a:solidFill>
                <a:latin typeface="Times New Roman"/>
                <a:ea typeface="Times New Roman"/>
                <a:cs typeface="Times New Roman"/>
                <a:sym typeface="Times New Roman"/>
              </a:rPr>
            </a:br>
            <a:endParaRPr sz="1100" dirty="0">
              <a:solidFill>
                <a:srgbClr val="000000"/>
              </a:solidFill>
              <a:latin typeface="Times New Roman"/>
              <a:ea typeface="Times New Roman"/>
              <a:cs typeface="Times New Roman"/>
              <a:sym typeface="Times New Roman"/>
            </a:endParaRPr>
          </a:p>
          <a:p>
            <a:pPr marL="457200" lvl="0" indent="-298450" algn="l" rtl="0">
              <a:lnSpc>
                <a:spcPct val="100000"/>
              </a:lnSpc>
              <a:spcBef>
                <a:spcPts val="0"/>
              </a:spcBef>
              <a:spcAft>
                <a:spcPts val="0"/>
              </a:spcAft>
              <a:buClr>
                <a:srgbClr val="000000"/>
              </a:buClr>
              <a:buSzPts val="1100"/>
              <a:buFont typeface="Times New Roman"/>
              <a:buChar char="●"/>
            </a:pPr>
            <a:r>
              <a:rPr lang="en" sz="1100" b="1" dirty="0">
                <a:solidFill>
                  <a:srgbClr val="000000"/>
                </a:solidFill>
                <a:latin typeface="Times New Roman"/>
                <a:ea typeface="Times New Roman"/>
                <a:cs typeface="Times New Roman"/>
                <a:sym typeface="Times New Roman"/>
              </a:rPr>
              <a:t>Trade-offs are unavoidable:</a:t>
            </a:r>
            <a:r>
              <a:rPr lang="en" sz="1100" dirty="0">
                <a:solidFill>
                  <a:srgbClr val="000000"/>
                </a:solidFill>
                <a:latin typeface="Times New Roman"/>
                <a:ea typeface="Times New Roman"/>
                <a:cs typeface="Times New Roman"/>
                <a:sym typeface="Times New Roman"/>
              </a:rPr>
              <a:t> pushing accuracy higher sacrifices recall, which is unacceptable in this problem</a:t>
            </a:r>
            <a:br>
              <a:rPr lang="en" sz="1100" dirty="0">
                <a:solidFill>
                  <a:srgbClr val="000000"/>
                </a:solidFill>
                <a:latin typeface="Times New Roman"/>
                <a:ea typeface="Times New Roman"/>
                <a:cs typeface="Times New Roman"/>
                <a:sym typeface="Times New Roman"/>
              </a:rPr>
            </a:br>
            <a:endParaRPr sz="1100" dirty="0">
              <a:solidFill>
                <a:srgbClr val="000000"/>
              </a:solidFill>
              <a:latin typeface="Times New Roman"/>
              <a:ea typeface="Times New Roman"/>
              <a:cs typeface="Times New Roman"/>
              <a:sym typeface="Times New Roman"/>
            </a:endParaRPr>
          </a:p>
          <a:p>
            <a:pPr marL="457200" lvl="0" indent="-298450" algn="l" rtl="0">
              <a:lnSpc>
                <a:spcPct val="100000"/>
              </a:lnSpc>
              <a:spcBef>
                <a:spcPts val="0"/>
              </a:spcBef>
              <a:spcAft>
                <a:spcPts val="0"/>
              </a:spcAft>
              <a:buClr>
                <a:srgbClr val="000000"/>
              </a:buClr>
              <a:buSzPts val="1100"/>
              <a:buFont typeface="Times New Roman"/>
              <a:buChar char="●"/>
            </a:pPr>
            <a:r>
              <a:rPr lang="en" sz="1100" b="1" dirty="0">
                <a:solidFill>
                  <a:srgbClr val="000000"/>
                </a:solidFill>
                <a:latin typeface="Times New Roman"/>
                <a:ea typeface="Times New Roman"/>
                <a:cs typeface="Times New Roman"/>
                <a:sym typeface="Times New Roman"/>
              </a:rPr>
              <a:t>Interpretability matters:</a:t>
            </a:r>
            <a:r>
              <a:rPr lang="en" sz="1100" dirty="0">
                <a:solidFill>
                  <a:srgbClr val="000000"/>
                </a:solidFill>
                <a:latin typeface="Times New Roman"/>
                <a:ea typeface="Times New Roman"/>
                <a:cs typeface="Times New Roman"/>
                <a:sym typeface="Times New Roman"/>
              </a:rPr>
              <a:t> Logistic Regression was not only strong in recall but also transparent, making it the best business choice</a:t>
            </a:r>
            <a:endParaRPr sz="1100" dirty="0">
              <a:solidFill>
                <a:srgbClr val="000000"/>
              </a:solidFill>
              <a:latin typeface="Times New Roman"/>
              <a:ea typeface="Times New Roman"/>
              <a:cs typeface="Times New Roman"/>
              <a:sym typeface="Times New Roman"/>
            </a:endParaRPr>
          </a:p>
          <a:p>
            <a:pPr marL="0" lvl="0" indent="0" algn="l" rtl="0">
              <a:lnSpc>
                <a:spcPct val="100000"/>
              </a:lnSpc>
              <a:spcBef>
                <a:spcPts val="1400"/>
              </a:spcBef>
              <a:spcAft>
                <a:spcPts val="0"/>
              </a:spcAft>
              <a:buNone/>
            </a:pPr>
            <a:r>
              <a:rPr lang="en" sz="1100" b="1" dirty="0">
                <a:solidFill>
                  <a:srgbClr val="000000"/>
                </a:solidFill>
                <a:latin typeface="Times New Roman"/>
                <a:ea typeface="Times New Roman"/>
                <a:cs typeface="Times New Roman"/>
                <a:sym typeface="Times New Roman"/>
              </a:rPr>
              <a:t>8.3 Challenges Faced</a:t>
            </a:r>
            <a:endParaRPr sz="1100" b="1" dirty="0">
              <a:solidFill>
                <a:srgbClr val="000000"/>
              </a:solidFill>
              <a:latin typeface="Times New Roman"/>
              <a:ea typeface="Times New Roman"/>
              <a:cs typeface="Times New Roman"/>
              <a:sym typeface="Times New Roman"/>
            </a:endParaRPr>
          </a:p>
          <a:p>
            <a:pPr marL="457200" lvl="0" indent="-298450" algn="l" rtl="0">
              <a:lnSpc>
                <a:spcPct val="100000"/>
              </a:lnSpc>
              <a:spcBef>
                <a:spcPts val="1200"/>
              </a:spcBef>
              <a:spcAft>
                <a:spcPts val="0"/>
              </a:spcAft>
              <a:buClr>
                <a:srgbClr val="000000"/>
              </a:buClr>
              <a:buSzPts val="1100"/>
              <a:buFont typeface="Times New Roman"/>
              <a:buChar char="●"/>
            </a:pPr>
            <a:r>
              <a:rPr lang="en" sz="1100" b="1" dirty="0">
                <a:solidFill>
                  <a:srgbClr val="000000"/>
                </a:solidFill>
                <a:latin typeface="Times New Roman"/>
                <a:ea typeface="Times New Roman"/>
                <a:cs typeface="Times New Roman"/>
                <a:sym typeface="Times New Roman"/>
              </a:rPr>
              <a:t>Imbalanced data</a:t>
            </a:r>
            <a:r>
              <a:rPr lang="en" sz="1100" dirty="0">
                <a:solidFill>
                  <a:srgbClr val="000000"/>
                </a:solidFill>
                <a:latin typeface="Times New Roman"/>
                <a:ea typeface="Times New Roman"/>
                <a:cs typeface="Times New Roman"/>
                <a:sym typeface="Times New Roman"/>
              </a:rPr>
              <a:t>: With only 26.5% churners, standard accuracy metrics were deceptive</a:t>
            </a:r>
            <a:br>
              <a:rPr lang="en" sz="1100" dirty="0">
                <a:solidFill>
                  <a:srgbClr val="000000"/>
                </a:solidFill>
                <a:latin typeface="Times New Roman"/>
                <a:ea typeface="Times New Roman"/>
                <a:cs typeface="Times New Roman"/>
                <a:sym typeface="Times New Roman"/>
              </a:rPr>
            </a:br>
            <a:endParaRPr sz="1100" dirty="0">
              <a:solidFill>
                <a:srgbClr val="000000"/>
              </a:solidFill>
              <a:latin typeface="Times New Roman"/>
              <a:ea typeface="Times New Roman"/>
              <a:cs typeface="Times New Roman"/>
              <a:sym typeface="Times New Roman"/>
            </a:endParaRPr>
          </a:p>
          <a:p>
            <a:pPr marL="457200" lvl="0" indent="-298450" algn="l" rtl="0">
              <a:lnSpc>
                <a:spcPct val="100000"/>
              </a:lnSpc>
              <a:spcBef>
                <a:spcPts val="0"/>
              </a:spcBef>
              <a:spcAft>
                <a:spcPts val="0"/>
              </a:spcAft>
              <a:buClr>
                <a:srgbClr val="000000"/>
              </a:buClr>
              <a:buSzPts val="1100"/>
              <a:buFont typeface="Times New Roman"/>
              <a:buChar char="●"/>
            </a:pPr>
            <a:r>
              <a:rPr lang="en" sz="1100" b="1" dirty="0">
                <a:solidFill>
                  <a:srgbClr val="000000"/>
                </a:solidFill>
                <a:latin typeface="Times New Roman"/>
                <a:ea typeface="Times New Roman"/>
                <a:cs typeface="Times New Roman"/>
                <a:sym typeface="Times New Roman"/>
              </a:rPr>
              <a:t>Threshold selection</a:t>
            </a:r>
            <a:r>
              <a:rPr lang="en" sz="1100" dirty="0">
                <a:solidFill>
                  <a:srgbClr val="000000"/>
                </a:solidFill>
                <a:latin typeface="Times New Roman"/>
                <a:ea typeface="Times New Roman"/>
                <a:cs typeface="Times New Roman"/>
                <a:sym typeface="Times New Roman"/>
              </a:rPr>
              <a:t>: Choosing the right cutoff required balancing recall and precision</a:t>
            </a:r>
            <a:br>
              <a:rPr lang="en" sz="1100" dirty="0">
                <a:solidFill>
                  <a:srgbClr val="000000"/>
                </a:solidFill>
                <a:latin typeface="Times New Roman"/>
                <a:ea typeface="Times New Roman"/>
                <a:cs typeface="Times New Roman"/>
                <a:sym typeface="Times New Roman"/>
              </a:rPr>
            </a:br>
            <a:endParaRPr sz="1100" dirty="0">
              <a:solidFill>
                <a:srgbClr val="000000"/>
              </a:solidFill>
              <a:latin typeface="Times New Roman"/>
              <a:ea typeface="Times New Roman"/>
              <a:cs typeface="Times New Roman"/>
              <a:sym typeface="Times New Roman"/>
            </a:endParaRPr>
          </a:p>
          <a:p>
            <a:pPr marL="457200" lvl="0" indent="-298450" algn="l" rtl="0">
              <a:lnSpc>
                <a:spcPct val="100000"/>
              </a:lnSpc>
              <a:spcBef>
                <a:spcPts val="0"/>
              </a:spcBef>
              <a:spcAft>
                <a:spcPts val="0"/>
              </a:spcAft>
              <a:buClr>
                <a:srgbClr val="000000"/>
              </a:buClr>
              <a:buSzPts val="1100"/>
              <a:buFont typeface="Times New Roman"/>
              <a:buChar char="●"/>
            </a:pPr>
            <a:r>
              <a:rPr lang="en" sz="1100" b="1" dirty="0">
                <a:solidFill>
                  <a:srgbClr val="000000"/>
                </a:solidFill>
                <a:latin typeface="Times New Roman"/>
                <a:ea typeface="Times New Roman"/>
                <a:cs typeface="Times New Roman"/>
                <a:sym typeface="Times New Roman"/>
              </a:rPr>
              <a:t>Model complexity</a:t>
            </a:r>
            <a:r>
              <a:rPr lang="en" sz="1100" dirty="0">
                <a:solidFill>
                  <a:srgbClr val="000000"/>
                </a:solidFill>
                <a:latin typeface="Times New Roman"/>
                <a:ea typeface="Times New Roman"/>
                <a:cs typeface="Times New Roman"/>
                <a:sym typeface="Times New Roman"/>
              </a:rPr>
              <a:t>: Random Forest and Gradient Boosting offered strong performance, but interpretability and stability favored Logistic Regression</a:t>
            </a:r>
            <a:endParaRPr sz="1100" b="1" dirty="0">
              <a:solidFill>
                <a:srgbClr val="000000"/>
              </a:solidFill>
              <a:latin typeface="Times New Roman"/>
              <a:ea typeface="Times New Roman"/>
              <a:cs typeface="Times New Roman"/>
              <a:sym typeface="Times New Roman"/>
            </a:endParaRPr>
          </a:p>
        </p:txBody>
      </p:sp>
      <p:sp>
        <p:nvSpPr>
          <p:cNvPr id="436" name="Google Shape;436;p65"/>
          <p:cNvSpPr txBox="1">
            <a:spLocks noGrp="1"/>
          </p:cNvSpPr>
          <p:nvPr>
            <p:ph type="body" idx="4294967295"/>
          </p:nvPr>
        </p:nvSpPr>
        <p:spPr>
          <a:xfrm>
            <a:off x="4308925" y="0"/>
            <a:ext cx="4835100" cy="51435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None/>
            </a:pPr>
            <a:r>
              <a:rPr lang="en" sz="900" b="1" dirty="0">
                <a:solidFill>
                  <a:srgbClr val="000000"/>
                </a:solidFill>
                <a:latin typeface="Times New Roman"/>
                <a:ea typeface="Times New Roman"/>
                <a:cs typeface="Times New Roman"/>
                <a:sym typeface="Times New Roman"/>
              </a:rPr>
              <a:t>8.4 Comprehensive Evaluation</a:t>
            </a:r>
            <a:endParaRPr sz="900" b="1" dirty="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900" dirty="0">
                <a:solidFill>
                  <a:srgbClr val="000000"/>
                </a:solidFill>
                <a:latin typeface="Times New Roman"/>
                <a:ea typeface="Times New Roman"/>
                <a:cs typeface="Times New Roman"/>
                <a:sym typeface="Times New Roman"/>
              </a:rPr>
              <a:t>Our evaluation covered six key metrics: Recall, Precision, F1 Score, Accuracy, ROC-AUC, and PR-AUC. All three models satisfied the success criteria of recall ≥ 80% and accuracy ≥ 70%. Logistic Regression stood out for its interpretability and stable probability outputs, making it the final choice for deployment.</a:t>
            </a:r>
            <a:endParaRPr sz="900" dirty="0">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900" b="1" dirty="0">
                <a:solidFill>
                  <a:srgbClr val="000000"/>
                </a:solidFill>
                <a:latin typeface="Times New Roman"/>
                <a:ea typeface="Times New Roman"/>
                <a:cs typeface="Times New Roman"/>
                <a:sym typeface="Times New Roman"/>
              </a:rPr>
              <a:t>8.5 Future Work</a:t>
            </a:r>
            <a:endParaRPr sz="900" b="1" dirty="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900" dirty="0">
                <a:solidFill>
                  <a:srgbClr val="000000"/>
                </a:solidFill>
                <a:latin typeface="Times New Roman"/>
                <a:ea typeface="Times New Roman"/>
                <a:cs typeface="Times New Roman"/>
                <a:sym typeface="Times New Roman"/>
              </a:rPr>
              <a:t>Building on this foundation, we see several opportunities to extend the project:</a:t>
            </a:r>
            <a:endParaRPr sz="900" dirty="0">
              <a:solidFill>
                <a:srgbClr val="000000"/>
              </a:solidFill>
              <a:latin typeface="Times New Roman"/>
              <a:ea typeface="Times New Roman"/>
              <a:cs typeface="Times New Roman"/>
              <a:sym typeface="Times New Roman"/>
            </a:endParaRPr>
          </a:p>
          <a:p>
            <a:pPr marL="457200" lvl="0" indent="-292100" algn="l" rtl="0">
              <a:spcBef>
                <a:spcPts val="1200"/>
              </a:spcBef>
              <a:spcAft>
                <a:spcPts val="0"/>
              </a:spcAft>
              <a:buClr>
                <a:srgbClr val="000000"/>
              </a:buClr>
              <a:buSzPts val="1000"/>
              <a:buFont typeface="Times New Roman"/>
              <a:buChar char="●"/>
            </a:pPr>
            <a:r>
              <a:rPr lang="en" sz="900" b="1" dirty="0">
                <a:solidFill>
                  <a:srgbClr val="000000"/>
                </a:solidFill>
                <a:latin typeface="Times New Roman"/>
                <a:ea typeface="Times New Roman"/>
                <a:cs typeface="Times New Roman"/>
                <a:sym typeface="Times New Roman"/>
              </a:rPr>
              <a:t>Balancing techniques:</a:t>
            </a:r>
            <a:r>
              <a:rPr lang="en" sz="900" dirty="0">
                <a:solidFill>
                  <a:srgbClr val="000000"/>
                </a:solidFill>
                <a:latin typeface="Times New Roman"/>
                <a:ea typeface="Times New Roman"/>
                <a:cs typeface="Times New Roman"/>
                <a:sym typeface="Times New Roman"/>
              </a:rPr>
              <a:t> oversampling, undersampling, or synthetic methods (e.g., SMOTE)</a:t>
            </a:r>
            <a:br>
              <a:rPr lang="en" sz="900" dirty="0">
                <a:solidFill>
                  <a:srgbClr val="000000"/>
                </a:solidFill>
                <a:latin typeface="Times New Roman"/>
                <a:ea typeface="Times New Roman"/>
                <a:cs typeface="Times New Roman"/>
                <a:sym typeface="Times New Roman"/>
              </a:rPr>
            </a:br>
            <a:endParaRPr sz="900" dirty="0">
              <a:solidFill>
                <a:srgbClr val="000000"/>
              </a:solidFill>
              <a:latin typeface="Times New Roman"/>
              <a:ea typeface="Times New Roman"/>
              <a:cs typeface="Times New Roman"/>
              <a:sym typeface="Times New Roman"/>
            </a:endParaRPr>
          </a:p>
          <a:p>
            <a:pPr marL="457200" lvl="0" indent="-292100" algn="l" rtl="0">
              <a:spcBef>
                <a:spcPts val="0"/>
              </a:spcBef>
              <a:spcAft>
                <a:spcPts val="0"/>
              </a:spcAft>
              <a:buClr>
                <a:srgbClr val="000000"/>
              </a:buClr>
              <a:buSzPts val="1000"/>
              <a:buFont typeface="Times New Roman"/>
              <a:buChar char="●"/>
            </a:pPr>
            <a:r>
              <a:rPr lang="en" sz="900" b="1" dirty="0">
                <a:solidFill>
                  <a:srgbClr val="000000"/>
                </a:solidFill>
                <a:latin typeface="Times New Roman"/>
                <a:ea typeface="Times New Roman"/>
                <a:cs typeface="Times New Roman"/>
                <a:sym typeface="Times New Roman"/>
              </a:rPr>
              <a:t>Advanced algorithms:</a:t>
            </a:r>
            <a:r>
              <a:rPr lang="en" sz="900" dirty="0">
                <a:solidFill>
                  <a:srgbClr val="000000"/>
                </a:solidFill>
                <a:latin typeface="Times New Roman"/>
                <a:ea typeface="Times New Roman"/>
                <a:cs typeface="Times New Roman"/>
                <a:sym typeface="Times New Roman"/>
              </a:rPr>
              <a:t> XGBoost, LightGBM, CatBoost, or neural networks</a:t>
            </a:r>
            <a:br>
              <a:rPr lang="en" sz="900" dirty="0">
                <a:solidFill>
                  <a:srgbClr val="000000"/>
                </a:solidFill>
                <a:latin typeface="Times New Roman"/>
                <a:ea typeface="Times New Roman"/>
                <a:cs typeface="Times New Roman"/>
                <a:sym typeface="Times New Roman"/>
              </a:rPr>
            </a:br>
            <a:endParaRPr sz="900" dirty="0">
              <a:solidFill>
                <a:srgbClr val="000000"/>
              </a:solidFill>
              <a:latin typeface="Times New Roman"/>
              <a:ea typeface="Times New Roman"/>
              <a:cs typeface="Times New Roman"/>
              <a:sym typeface="Times New Roman"/>
            </a:endParaRPr>
          </a:p>
          <a:p>
            <a:pPr marL="457200" lvl="0" indent="-292100" algn="l" rtl="0">
              <a:spcBef>
                <a:spcPts val="0"/>
              </a:spcBef>
              <a:spcAft>
                <a:spcPts val="0"/>
              </a:spcAft>
              <a:buClr>
                <a:srgbClr val="000000"/>
              </a:buClr>
              <a:buSzPts val="1000"/>
              <a:buFont typeface="Times New Roman"/>
              <a:buChar char="●"/>
            </a:pPr>
            <a:r>
              <a:rPr lang="en" sz="900" b="1" dirty="0">
                <a:solidFill>
                  <a:srgbClr val="000000"/>
                </a:solidFill>
                <a:latin typeface="Times New Roman"/>
                <a:ea typeface="Times New Roman"/>
                <a:cs typeface="Times New Roman"/>
                <a:sym typeface="Times New Roman"/>
              </a:rPr>
              <a:t>Automated hyperparameter tuning:</a:t>
            </a:r>
            <a:r>
              <a:rPr lang="en" sz="900" dirty="0">
                <a:solidFill>
                  <a:srgbClr val="000000"/>
                </a:solidFill>
                <a:latin typeface="Times New Roman"/>
                <a:ea typeface="Times New Roman"/>
                <a:cs typeface="Times New Roman"/>
                <a:sym typeface="Times New Roman"/>
              </a:rPr>
              <a:t> grid search or Bayesian optimization for deeper exploration</a:t>
            </a:r>
            <a:br>
              <a:rPr lang="en" sz="900" dirty="0">
                <a:solidFill>
                  <a:srgbClr val="000000"/>
                </a:solidFill>
                <a:latin typeface="Times New Roman"/>
                <a:ea typeface="Times New Roman"/>
                <a:cs typeface="Times New Roman"/>
                <a:sym typeface="Times New Roman"/>
              </a:rPr>
            </a:br>
            <a:endParaRPr sz="900" dirty="0">
              <a:solidFill>
                <a:srgbClr val="000000"/>
              </a:solidFill>
              <a:latin typeface="Times New Roman"/>
              <a:ea typeface="Times New Roman"/>
              <a:cs typeface="Times New Roman"/>
              <a:sym typeface="Times New Roman"/>
            </a:endParaRPr>
          </a:p>
          <a:p>
            <a:pPr marL="457200" lvl="0" indent="-292100" algn="l" rtl="0">
              <a:spcBef>
                <a:spcPts val="0"/>
              </a:spcBef>
              <a:spcAft>
                <a:spcPts val="0"/>
              </a:spcAft>
              <a:buClr>
                <a:srgbClr val="000000"/>
              </a:buClr>
              <a:buSzPts val="1000"/>
              <a:buFont typeface="Times New Roman"/>
              <a:buChar char="●"/>
            </a:pPr>
            <a:r>
              <a:rPr lang="en" sz="900" b="1" dirty="0">
                <a:solidFill>
                  <a:srgbClr val="000000"/>
                </a:solidFill>
                <a:latin typeface="Times New Roman"/>
                <a:ea typeface="Times New Roman"/>
                <a:cs typeface="Times New Roman"/>
                <a:sym typeface="Times New Roman"/>
              </a:rPr>
              <a:t>Deployment</a:t>
            </a:r>
            <a:r>
              <a:rPr lang="en" sz="900" dirty="0">
                <a:solidFill>
                  <a:srgbClr val="000000"/>
                </a:solidFill>
                <a:latin typeface="Times New Roman"/>
                <a:ea typeface="Times New Roman"/>
                <a:cs typeface="Times New Roman"/>
                <a:sym typeface="Times New Roman"/>
              </a:rPr>
              <a:t> – integrating the chosen model into a live system with continuous retraining on new data</a:t>
            </a:r>
            <a:endParaRPr sz="900" dirty="0">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900" b="1" dirty="0">
                <a:solidFill>
                  <a:srgbClr val="000000"/>
                </a:solidFill>
                <a:latin typeface="Times New Roman"/>
                <a:ea typeface="Times New Roman"/>
                <a:cs typeface="Times New Roman"/>
                <a:sym typeface="Times New Roman"/>
              </a:rPr>
              <a:t>8.6 Final Conclusion</a:t>
            </a:r>
            <a:endParaRPr sz="900" b="1" dirty="0">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r>
              <a:rPr lang="en" sz="900" dirty="0">
                <a:solidFill>
                  <a:srgbClr val="000000"/>
                </a:solidFill>
                <a:latin typeface="Times New Roman"/>
                <a:ea typeface="Times New Roman"/>
                <a:cs typeface="Times New Roman"/>
                <a:sym typeface="Times New Roman"/>
              </a:rPr>
              <a:t>This project showed how machine learning can directly improve customer retention strategies. By prioritizing recall over accuracy, we built a model that aligns with real business needs. Logistic Regression, though simple, proved to be both effective and practical, highlighting that the best model is not always the most complex but the one that delivers the most value to the business.</a:t>
            </a:r>
            <a:endParaRPr sz="900" b="1" dirty="0">
              <a:solidFill>
                <a:srgbClr val="000000"/>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440"/>
        <p:cNvGrpSpPr/>
        <p:nvPr/>
      </p:nvGrpSpPr>
      <p:grpSpPr>
        <a:xfrm>
          <a:off x="0" y="0"/>
          <a:ext cx="0" cy="0"/>
          <a:chOff x="0" y="0"/>
          <a:chExt cx="0" cy="0"/>
        </a:xfrm>
      </p:grpSpPr>
      <p:sp>
        <p:nvSpPr>
          <p:cNvPr id="441" name="Google Shape;441;p66"/>
          <p:cNvSpPr txBox="1">
            <a:spLocks noGrp="1"/>
          </p:cNvSpPr>
          <p:nvPr>
            <p:ph type="title"/>
          </p:nvPr>
        </p:nvSpPr>
        <p:spPr>
          <a:xfrm>
            <a:off x="1904550" y="1828250"/>
            <a:ext cx="5334900" cy="1244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sz="3900"/>
              <a:t>THANK YOU</a:t>
            </a:r>
            <a:endParaRPr sz="3900"/>
          </a:p>
        </p:txBody>
      </p:sp>
      <p:sp>
        <p:nvSpPr>
          <p:cNvPr id="442" name="Google Shape;442;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54</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D6C5B3"/>
      </a:lt1>
      <a:dk2>
        <a:srgbClr val="666666"/>
      </a:dk2>
      <a:lt2>
        <a:srgbClr val="626B73"/>
      </a:lt2>
      <a:accent1>
        <a:srgbClr val="002F4A"/>
      </a:accent1>
      <a:accent2>
        <a:srgbClr val="D6C5B3"/>
      </a:accent2>
      <a:accent3>
        <a:srgbClr val="33394B"/>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9197</Words>
  <Application>Microsoft Office PowerPoint</Application>
  <PresentationFormat>On-screen Show (16:9)</PresentationFormat>
  <Paragraphs>627</Paragraphs>
  <Slides>54</Slides>
  <Notes>54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Roboto</vt:lpstr>
      <vt:lpstr>Times New Roman</vt:lpstr>
      <vt:lpstr>Merriweather</vt:lpstr>
      <vt:lpstr>Arial</vt:lpstr>
      <vt:lpstr>Paradigm</vt:lpstr>
      <vt:lpstr>PowerPoint Presentation</vt:lpstr>
      <vt:lpstr>Table of Content</vt:lpstr>
      <vt:lpstr>    Section 1: Brief Overview  Project background and business objective (churn prediction, success criteria).</vt:lpstr>
      <vt:lpstr>Roadmap of Work</vt:lpstr>
      <vt:lpstr>    Section 2: Detailed Analysis of Data Cleaning  Handling missing values, outliers, data normalization.  Code explanation.</vt:lpstr>
      <vt:lpstr>This ensured there were no missing entries when training the models. df['TotalCharges'] = pd.to_numeric(df['TotalCharges'], errors='coerce') df.loc[df['TotalCharges'].isnull(), 'TotalCharges'] = (     df['MonthlyCharges'] * df['tenure'] ) df.fillna(df.median(numeric_only=True), inplace=True) </vt:lpstr>
      <vt:lpstr>2. Outlier Handling and Normalization Outliers in numeric features like MonthlyCharges or TotalCharges were not extreme enough to distort the model, so we kept them.  Instead of manually normalizing, we used scikit-learn StandardScaler inside the pipeline. This standardized all numeric values to have mean = 0 and standard deviation = 1, which is especially important for Logistic Regression. Code Example: from sklearn.preprocessing import StandardScaler from sklearn.pipeline import Pipeline  lr_model = Pipeline([     ('scaler', StandardScaler(with_mean=False)),     ('clf', LogisticRegression(class_weight='balanced', max_iter=1000)) ])</vt:lpstr>
      <vt:lpstr>3. Why This Step Was Important</vt:lpstr>
      <vt:lpstr>4. Before vs After Cleaning Table</vt:lpstr>
      <vt:lpstr>    Section 3: Feature Engineering (32 variables)  7 numeric/binary + 25 one-hot encoded categorical features.  Why encoding is necessary.  Final dataset shape.</vt:lpstr>
      <vt:lpstr>3.1 Discretization features added We created grouped versions of tenure and monthly charges for interpretability and stability in linear models.</vt:lpstr>
      <vt:lpstr>PowerPoint Presentation</vt:lpstr>
      <vt:lpstr>3.2 Business features added We added simple but meaningful features that reflect how the business thinks about churn risk.</vt:lpstr>
      <vt:lpstr>PowerPoint Presentation</vt:lpstr>
      <vt:lpstr>3.3 Encode categoricals and finalize the modeling table We remove unhelpful or redundant columns and convert all remaining categorical columns to numeric using one-hot encoding.</vt:lpstr>
      <vt:lpstr>Artifacts that confirm the final feature set</vt:lpstr>
      <vt:lpstr>PowerPoint Presentation</vt:lpstr>
      <vt:lpstr>3.4 Final 32 variables</vt:lpstr>
      <vt:lpstr>PowerPoint Presentation</vt:lpstr>
      <vt:lpstr>This screenshot lists the final set of 32 engineered and encoded features used for modeling.  It includes: 7 numeric/binary variables 25 one-hot encoded dummy variables</vt:lpstr>
      <vt:lpstr>7 numeric/binary variables</vt:lpstr>
      <vt:lpstr>25 one-hot encoded dummy variables</vt:lpstr>
      <vt:lpstr>3.5 Separation of Variables by Source</vt:lpstr>
      <vt:lpstr>Example Note:</vt:lpstr>
      <vt:lpstr>3.6 Why encoding is necessary</vt:lpstr>
      <vt:lpstr>3.7 Final dataset shape</vt:lpstr>
      <vt:lpstr>    Section 4: Modeling (LR, RF, HGB)  Explanation of each algorithm.  Why chosen.  How thresholds were selected.</vt:lpstr>
      <vt:lpstr>PowerPoint Presentation</vt:lpstr>
      <vt:lpstr>PowerPoint Presentation</vt:lpstr>
      <vt:lpstr>PowerPoint Presentation</vt:lpstr>
      <vt:lpstr>PowerPoint Presentation</vt:lpstr>
      <vt:lpstr>PowerPoint Presentation</vt:lpstr>
      <vt:lpstr>PowerPoint Presentation</vt:lpstr>
      <vt:lpstr>4.4 How thresholds were selected</vt:lpstr>
      <vt:lpstr>PowerPoint Presentation</vt:lpstr>
      <vt:lpstr>PowerPoint Presentation</vt:lpstr>
      <vt:lpstr>PowerPoint Presentation</vt:lpstr>
      <vt:lpstr>PowerPoint Presentation</vt:lpstr>
      <vt:lpstr>PowerPoint Presentation</vt:lpstr>
      <vt:lpstr>Example Note:</vt:lpstr>
      <vt:lpstr>PowerPoint Presentation</vt:lpstr>
      <vt:lpstr>Why this wrapper is correct for our business goal</vt:lpstr>
      <vt:lpstr>4.5 How these three complement each other</vt:lpstr>
      <vt:lpstr>    Section 5: Evaluation and Reporting  Metrics (Recall, F1, ROC-AUC, PR-AUC, Accuracy).  Success criteria (Recall ≥80%, Accuracy ≥70%).  Results table.</vt:lpstr>
      <vt:lpstr>5.2 Success Criteria Recall ≥ 80% to ensure we catch at least 4 out of 5 churners.  Accuracy ≥ 70% so that predictions are not random or misleading. Both criteria must be satisfied for a model to be considered successful. 5.3 Cross-Validation Results Using 5-fold stratified cross-validation on the training set, we observed consistent performance across folds. All three models met the recall ≥ 80% target with accuracy landing around the low 70s. 5.4 Final Test Results On the held-out test set, all three models satisfied the success criteria: Logistic Regression (best model) – Recall 82.9%, Accuracy 72.4% Random Forest – Recall 82.9%, Accuracy 72.3% Histogram Gradient Boosting – Recall 81.3%, Accuracy 74.4% Although Histogram Gradient Boosting showed slightly higher accuracy, Logistic Regression was selected as the best model due to its transparency, interpretability, and stable probability outputs, which are easier to communicate to non-technical stakeholders.</vt:lpstr>
      <vt:lpstr>5.7 Final Results Table We evaluated three models: Logistic Regression, Random Forest, and Histogram Gradient Boosting. Each was tuned and tested on the Telco Churn dataset with metrics including recall, precision, F1 score, accuracy, ROC-AUC, and PR-AUC. Since this is a business problem where the cost of missing a churner is higher than the cost of flagging a non-churner, we set our success criteria as recall of at least eighty percent and accuracy of at least seventy percent.</vt:lpstr>
      <vt:lpstr>    Section 6: Discussion  Why Logistic Regression was best.  Why accuracy ~72% instead of 85%.  Trade-off between recall and accuracy.  Challenges faced (imbalanced data, model complexity).</vt:lpstr>
      <vt:lpstr>Why Logistic Regression Was Best  Logistic Regression stood out as the best model because it balanced performance and business usability. It achieved the required recall of over 80 percent while maintaining accuracy above 70 percent. Its coefficients directly show how each feature influences churn risk, making it easy to explain to managers and retention teams. Unlike Random Forest and Histogram Gradient Boosting, which operate as black boxes, Logistic Regression produces stable and interpretable probability outputs. This transparency was critical for stakeholder trust and practical deployment. Why Accuracy Was Around 72 Percent Instead of 85 Percent  At first glance, 72 percent accuracy may seem modest compared to the 85 to 90 percent often reported in machine learning case studies. However, in churn prediction, such high accuracy is misleading because of class imbalance. Since 73.5 percent of customers do not churn, a trivial model predicting “loyal” for everyone already achieves 73.5 percent accuracy but fails completely at recall. To push accuracy to 85 percent, the model would need to raise the decision threshold, which would miss 30 to 40 percent of churners. That trade-off is unacceptable for the business, since losing customers is costlier than reaching out to some loyal ones by mistake. Trade-off Between Recall and Accuracy  This project highlighted the inherent trade-off between recall and accuracy. High recall ensures that most churners are caught, but this comes at the cost of flagging more loyal customers as churn risks. That lowers accuracy but fulfills the business objective. For example, when recall is set at about 83 percent, accuracy falls to about 72 percent. If we had aimed for 85 percent accuracy instead, recall would have dropped to around 60 percent, meaning over 100 churners per 1,000 customers would be missed. The choice to prioritize recall reflects a deliberate business strategy: it is safer to retain extra customers than to lose many churners undetected. </vt:lpstr>
      <vt:lpstr>    Section 7: Demo  Screenshot of terminal output (CV scores + test metrics).  Mention of live run of churn_predictor.py.</vt:lpstr>
      <vt:lpstr>PowerPoint Presentation</vt:lpstr>
      <vt:lpstr>7.2 Live Run</vt:lpstr>
      <vt:lpstr>    Section 8: Conclusion  Experience gained.  Lessons learned (recall &gt; accuracy for churn).  Future work (other models, balancing techniques, deep learning).</vt:lpstr>
      <vt:lpstr>8.2 Key Lessons Learned One of the most important lessons was that accuracy alone can be misleading, especially in imbalanced datasets like churn prediction. A trivial model can achieve 73% accuracy by predicting “loyal” for everyone, but it would completely fail the business need. Instead, we found that: Recall is the most critical metric: catching churners matters more than avoiding false alarms  Trade-offs are unavoidable: pushing accuracy higher sacrifices recall, which is unacceptable in this problem  Interpretability matters: Logistic Regression was not only strong in recall but also transparent, making it the best business choice 8.3 Challenges Faced Imbalanced data: With only 26.5% churners, standard accuracy metrics were deceptive  Threshold selection: Choosing the right cutoff required balancing recall and precision  Model complexity: Random Forest and Gradient Boosting offered strong performance, but interpretability and stability favored Logistic Regression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Lernik Avetisyan</cp:lastModifiedBy>
  <cp:revision>2</cp:revision>
  <dcterms:modified xsi:type="dcterms:W3CDTF">2025-08-18T05:36:46Z</dcterms:modified>
</cp:coreProperties>
</file>